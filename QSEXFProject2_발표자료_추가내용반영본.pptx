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8da1699d14e02" /><Relationship Type="http://schemas.openxmlformats.org/officeDocument/2006/relationships/extended-properties" Target="/docProps/app.xml" Id="Rf530d445d3ad4dd2" /><Relationship Type="http://schemas.openxmlformats.org/officeDocument/2006/relationships/officeDocument" Target="/ppt/presentation.xml" Id="R5423f9639ab6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03e254c53747dd"/>
  </p:sldMasterIdLst>
  <p:notesMasterIdLst>
    <p:notesMasterId xmlns:r="http://schemas.openxmlformats.org/officeDocument/2006/relationships" r:id="R34e9713bcee34896"/>
  </p:notesMasterIdLst>
  <p:sldIdLst>
    <p:sldId xmlns:r="http://schemas.openxmlformats.org/officeDocument/2006/relationships" id="256" r:id="R298df78059294e63"/>
    <p:sldId xmlns:r="http://schemas.openxmlformats.org/officeDocument/2006/relationships" id="257" r:id="R71cdb7d347974957"/>
    <p:sldId xmlns:r="http://schemas.openxmlformats.org/officeDocument/2006/relationships" id="258" r:id="R7ddb0a22b2f94fb1"/>
    <p:sldId xmlns:r="http://schemas.openxmlformats.org/officeDocument/2006/relationships" id="259" r:id="Re0761f9cea2c433c"/>
    <p:sldId xmlns:r="http://schemas.openxmlformats.org/officeDocument/2006/relationships" id="260" r:id="Rcfc2c42d9cac41c1"/>
    <p:sldId xmlns:r="http://schemas.openxmlformats.org/officeDocument/2006/relationships" id="261" r:id="Re88731553c994bf0"/>
    <p:sldId xmlns:r="http://schemas.openxmlformats.org/officeDocument/2006/relationships" id="262" r:id="Rcc49b98ce0444756"/>
    <p:sldId xmlns:r="http://schemas.openxmlformats.org/officeDocument/2006/relationships" id="263" r:id="Rfed33164e7ed4577"/>
    <p:sldId xmlns:r="http://schemas.openxmlformats.org/officeDocument/2006/relationships" id="264" r:id="R6b1631e655874cd2"/>
    <p:sldId xmlns:r="http://schemas.openxmlformats.org/officeDocument/2006/relationships" id="265" r:id="Rcd6b59797d1641d3"/>
    <p:sldId xmlns:r="http://schemas.openxmlformats.org/officeDocument/2006/relationships" id="266" r:id="R3afe2e6cda734ede"/>
    <p:sldId xmlns:r="http://schemas.openxmlformats.org/officeDocument/2006/relationships" id="267" r:id="R8764c33e175a49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15142f16594a14" /><Relationship Type="http://schemas.openxmlformats.org/officeDocument/2006/relationships/slideMaster" Target="/ppt/slideMasters/slideMaster1.xml" Id="Rca03e254c53747dd" /><Relationship Type="http://schemas.openxmlformats.org/officeDocument/2006/relationships/notesMaster" Target="/ppt/notesMasters/notesMaster1.xml" Id="R34e9713bcee34896" /><Relationship Type="http://schemas.openxmlformats.org/officeDocument/2006/relationships/presProps" Target="/ppt/presProps.xml" Id="R128da94ebb344fda" /><Relationship Type="http://schemas.openxmlformats.org/officeDocument/2006/relationships/tableStyles" Target="/ppt/tableStyles.xml" Id="R80d501c25e0b441a" /><Relationship Type="http://schemas.openxmlformats.org/officeDocument/2006/relationships/slide" Target="/ppt/slides/slide1.xml" Id="R298df78059294e63" /><Relationship Type="http://schemas.openxmlformats.org/officeDocument/2006/relationships/slide" Target="/ppt/slides/slide2.xml" Id="R71cdb7d347974957" /><Relationship Type="http://schemas.openxmlformats.org/officeDocument/2006/relationships/slide" Target="/ppt/slides/slide3.xml" Id="R7ddb0a22b2f94fb1" /><Relationship Type="http://schemas.openxmlformats.org/officeDocument/2006/relationships/slide" Target="/ppt/slides/slide4.xml" Id="Re0761f9cea2c433c" /><Relationship Type="http://schemas.openxmlformats.org/officeDocument/2006/relationships/slide" Target="/ppt/slides/slide5.xml" Id="Rcfc2c42d9cac41c1" /><Relationship Type="http://schemas.openxmlformats.org/officeDocument/2006/relationships/slide" Target="/ppt/slides/slide6.xml" Id="Re88731553c994bf0" /><Relationship Type="http://schemas.openxmlformats.org/officeDocument/2006/relationships/slide" Target="/ppt/slides/slide7.xml" Id="Rcc49b98ce0444756" /><Relationship Type="http://schemas.openxmlformats.org/officeDocument/2006/relationships/slide" Target="/ppt/slides/slide8.xml" Id="Rfed33164e7ed4577" /><Relationship Type="http://schemas.openxmlformats.org/officeDocument/2006/relationships/slide" Target="/ppt/slides/slide9.xml" Id="R6b1631e655874cd2" /><Relationship Type="http://schemas.openxmlformats.org/officeDocument/2006/relationships/slide" Target="/ppt/slides/slide10.xml" Id="Rcd6b59797d1641d3" /><Relationship Type="http://schemas.openxmlformats.org/officeDocument/2006/relationships/slide" Target="/ppt/slides/slide11.xml" Id="R3afe2e6cda734ede" /><Relationship Type="http://schemas.openxmlformats.org/officeDocument/2006/relationships/slide" Target="/ppt/slides/slide12.xml" Id="R8764c33e175a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fe72b7b91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20c3894964cc4" /><Relationship Type="http://schemas.openxmlformats.org/officeDocument/2006/relationships/notesMaster" Target="/ppt/notesMasters/notesMaster1.xml" Id="R5b8a8fc42c2f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9dc50b716f4415" /><Relationship Type="http://schemas.openxmlformats.org/officeDocument/2006/relationships/notesMaster" Target="/ppt/notesMasters/notesMaster1.xml" Id="R37e7345c381446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a7b1a274dc4213" /><Relationship Type="http://schemas.openxmlformats.org/officeDocument/2006/relationships/notesMaster" Target="/ppt/notesMasters/notesMaster1.xml" Id="R834236c8be0947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1dc6cc3094d03" /><Relationship Type="http://schemas.openxmlformats.org/officeDocument/2006/relationships/notesMaster" Target="/ppt/notesMasters/notesMaster1.xml" Id="R37b853b96b954e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5a4aa0c8e74fa9" /><Relationship Type="http://schemas.openxmlformats.org/officeDocument/2006/relationships/notesMaster" Target="/ppt/notesMasters/notesMaster1.xml" Id="R01ca644e23384d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f4395fbf47493f" /><Relationship Type="http://schemas.openxmlformats.org/officeDocument/2006/relationships/notesMaster" Target="/ppt/notesMasters/notesMaster1.xml" Id="R953d2a0838bf4f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310fc6d3a04741" /><Relationship Type="http://schemas.openxmlformats.org/officeDocument/2006/relationships/notesMaster" Target="/ppt/notesMasters/notesMaster1.xml" Id="R8afadb0addee47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ca162dda8e48ec" /><Relationship Type="http://schemas.openxmlformats.org/officeDocument/2006/relationships/notesMaster" Target="/ppt/notesMasters/notesMaster1.xml" Id="Raa4f5ae159b14b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bd99769de74cca" /><Relationship Type="http://schemas.openxmlformats.org/officeDocument/2006/relationships/notesMaster" Target="/ppt/notesMasters/notesMaster1.xml" Id="R4caa57d660f24c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2c282fa4e243fd" /><Relationship Type="http://schemas.openxmlformats.org/officeDocument/2006/relationships/notesMaster" Target="/ppt/notesMasters/notesMaster1.xml" Id="R462388980d0a47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830c6cb0f446ba" /><Relationship Type="http://schemas.openxmlformats.org/officeDocument/2006/relationships/notesMaster" Target="/ppt/notesMasters/notesMaster1.xml" Id="R31523185097d4c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97ec1cb501428a" /><Relationship Type="http://schemas.openxmlformats.org/officeDocument/2006/relationships/notesMaster" Target="/ppt/notesMasters/notesMaster1.xml" Id="R51dff5a1bedd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01 프로젝트 수행계획서, 04 프로젝트 일지, 05 프로젝트 회의록(2026.09.07~09.11). 사진: 팀 회의 사진.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01 프로젝트 수행계획서의 문제 정의 및 차별점 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01 프로젝트 수행계획서, 05 프로젝트 회의록 2026.09.11. 초기 설계와 5일차 변경사항을 함께 표시.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04 프로젝트 일지(1일차~5일차), 각 날짜별 05 프로젝트 회의록. 사진: 4일차 회의 사진.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04 프로젝트 일지 1~5일차, 05 프로젝트 회의록 2026.09.08~09.11. YOLO26s 표기는 5일차 회의록의 후속 비교 계획을 따름.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추가 설명. TensorFlow와 PyTorch의 일반적 우열이 아니라 본 프로젝트의 CUDA 환경과 팀 판단을 설명함.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추가 설명. conf 0.25에서 0.35로 변경했으며 객체 인식률 향상을 확인함.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05 프로젝트 회의록 2026.09.11. 수치는 문서에 명시된 범위만 사용했으며 세부 지표는 확인되지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05 프로젝트 회의록 2026.09.11. 후속 실험은 계획이며 성능 개선이 확인된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05 프로젝트 회의록 2026.09.11. 입력 전환이 품목 구분 성능을 자동으로 높이는 것은 아니며 별도 검증 예정.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05 프로젝트 회의록 2026.09.11, 01 프로젝트 수행계획서의 목표 지표. 후속 실험의 효과는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전체 첨부 문서 종합. 사진: 프로젝트 착수 회의 사진.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0de16951e43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74b196fa06438f" /><Relationship Type="http://schemas.openxmlformats.org/officeDocument/2006/relationships/slideLayout" Target="/ppt/slideLayouts/slideLayout1.xml" Id="Ra6770bc78f074e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70bc78f074e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9948aacc34b3c" /><Relationship Type="http://schemas.openxmlformats.org/officeDocument/2006/relationships/notesSlide" Target="/ppt/notesSlides/notesSlide1.xml" Id="R29e694f1e01b41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92c37406f4beb" /><Relationship Type="http://schemas.openxmlformats.org/officeDocument/2006/relationships/notesSlide" Target="/ppt/notesSlides/notesSlide2.xml" Id="R6b7ca679fcaf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f0a985ef64e6f" /><Relationship Type="http://schemas.openxmlformats.org/officeDocument/2006/relationships/notesSlide" Target="/ppt/notesSlides/notesSlide3.xml" Id="R22d535408a59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386d3e950416d" /><Relationship Type="http://schemas.openxmlformats.org/officeDocument/2006/relationships/notesSlide" Target="/ppt/notesSlides/notesSlide4.xml" Id="Rdfcdbde2eff94a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61eb079344ce6" /><Relationship Type="http://schemas.openxmlformats.org/officeDocument/2006/relationships/notesSlide" Target="/ppt/notesSlides/notesSlide5.xml" Id="R628a3a5f619b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b0d4dfe384210" /><Relationship Type="http://schemas.openxmlformats.org/officeDocument/2006/relationships/notesSlide" Target="/ppt/notesSlides/notesSlide6.xml" Id="R64a582c781db42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cf737e77649cd" /><Relationship Type="http://schemas.openxmlformats.org/officeDocument/2006/relationships/notesSlide" Target="/ppt/notesSlides/notesSlide7.xml" Id="R3cfd99e8b07645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f0e1bd2514747" /><Relationship Type="http://schemas.openxmlformats.org/officeDocument/2006/relationships/notesSlide" Target="/ppt/notesSlides/notesSlide8.xml" Id="Rd5760c27c920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b1eab05e64ae9" /><Relationship Type="http://schemas.openxmlformats.org/officeDocument/2006/relationships/notesSlide" Target="/ppt/notesSlides/notesSlide9.xml" Id="R70d303ae33ef46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22b1faa344f8b" /><Relationship Type="http://schemas.openxmlformats.org/officeDocument/2006/relationships/notesSlide" Target="/ppt/notesSlides/notesSlide10.xml" Id="Rc7857fb775a143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8b19917424bdf" /><Relationship Type="http://schemas.openxmlformats.org/officeDocument/2006/relationships/notesSlide" Target="/ppt/notesSlides/notesSlide11.xml" Id="R5d14115d0b7642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f034661e0432a" /><Relationship Type="http://schemas.openxmlformats.org/officeDocument/2006/relationships/notesSlide" Target="/ppt/notesSlides/notesSlide12.xml" Id="R8a6b1e2c574f4c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A3BB0-C71B-48A9-8C3B-ADA66B2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51F76-AB97-42F5-B9D7-EEF9782A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0625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90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D492D-9C2F-466F-B614-F9A7A87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B2E22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B2E2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AB494-36B7-45FA-953F-E3167BD2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탐지 클래스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6CBC2-91FE-4C30-934E-D1BF3A3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8793A-8080-4B46-B25B-D4DB5387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EF5CE-9DB6-4CDD-8DA2-9F552594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이미지 기반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쓰레기 분리배출 안내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28CDE-3619-4A30-86F5-3D74161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rPr>
              <a:t>객체 탐지 모델과 온디바이스 앱 개발 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53147-FC86-467E-9EC1-87A9772D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 물시느끝  |  2026. 09</a:t>
            </a:r>
          </a:p>
        </p:txBody>
      </p:sp>
    </p:spTree>
    <p:extLst>
      <p:ext uri="{BB962C8B-B14F-4D97-AF65-F5344CB8AC3E}">
        <p14:creationId xmlns:p14="http://schemas.microsoft.com/office/powerpoint/2010/main" val="2055803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3658A-139D-445D-A751-3C24B730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프로젝트가 해결하려는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6A8B5-83FF-4C08-AC0A-544AA2C6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33D12-FFB7-46D6-8532-CFDCC29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5F9A0-9662-47B1-A952-1E2DDF55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분리배출 직전, 품목과 배출 방법을 빠르게 확인하기 어렵다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7DA07-9874-46F9-B444-25E186D4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50EB2-FF76-4B93-9BFA-12D0E62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검색의 번거로움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9D265-E65A-4068-A4C2-E3173B3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품목명을 알아야 검색할 수 있고, 지역별 기준을 다시 확인해야 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A6A02-B97E-439C-81D0-653F96E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01891-5317-4BB5-AB8C-9FADF6BD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6FF02-2E16-4191-AC79-B2262F3D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현장과 다른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2CECE-DFF8-484D-B16A-F47F0E6B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사진 한 장에 한 품목만 분류하면 여러 물체가 섞인 배출 상황을 담기 어렵다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A8349-961B-4A5E-BAAF-9803C06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146D3-05D8-4B90-9D5E-5CC318A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A6B46-A05C-43B2-8D98-9A1DD883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공개 데이터의 한계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B75EE-1F78-4C1E-AB8E-BE6BC8CF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053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해외 촬영 환경 중심의 데이터는 국내 조명과 배경을 충분히 반영하지 못한다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82C67-A377-42AA-B551-563A36C7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C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636F3-6983-4775-9409-A9FD323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446004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954B9-4058-4176-9CCB-EE9C5C44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제안한 서비스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92128-32D5-4A3D-B584-6D2B85CC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4687F-C248-4E88-A90A-E9239220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47E76-E421-45D1-A450-A8B07F6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카메라 입력부터 배출 안내까지 모든 추론을 장치 내부에서 처리한다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24B4D-D3FE-4472-8BF3-0174C048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428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8F7D7-8E34-47E5-B9FA-85C1C1E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1CBBC-82BE-4E23-B283-C51216C0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촬영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28A30-7871-4110-90B5-98106136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스마트폰 또는</a:t>
            </a:r>
          </a:p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젯슨 오린 나노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F5CFE-A008-4350-BC71-22AC9548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1B554-1195-4114-80C5-B3EBB221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38375"/>
            <a:ext cx="2095500" cy="2428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7EEA6-FD59-450C-834D-63A4E12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2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CB74B-C444-4011-ACE5-60E7855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이미지 전처리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19935-9E7B-4270-9EC6-7E8012BC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71875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크기 변환과</a:t>
            </a:r>
          </a:p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F590F-2EB3-493A-BFC1-4C7C1E42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67050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7648B-9E4D-4CCE-8157-654517A4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2095500" cy="2428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1D14D-BA22-4C23-B10E-08A92D9A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2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83FF1-C25C-4D9B-8D91-48A74A99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YOLO 탐지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6B1B6-8200-4F63-8CF2-0682E320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품목, 위치,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신뢰도 산출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35EFA-782D-41AE-85AA-9BC22354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F9068-C01B-4907-AA4E-1507BAD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095500" cy="2428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92273-CEC8-4BF6-8804-95C3D3BE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28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30DAA-6A68-4D66-8615-7F5B165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527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배출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0ED08-1937-43A3-9D3E-5270177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71875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품목별 안내와</a:t>
            </a:r>
          </a:p>
          <a:p xmlns:a="http://schemas.openxmlformats.org/drawingml/2006/main">
            <a:pPr>
              <a:def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출처 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07462-F9E0-4E44-8732-BAB852BC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초기 설계는 실시간 연속 탐지였고, 5일차 테스트 후 촬영 사진 기반 분석으로 입력 흐름을 조정했다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C900A-A5F8-40E7-8401-E65FF45C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1907068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F6224-5F25-404A-8944-FCB0E65C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5일간의 개발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5EA92-9296-44DF-9B17-39C71AFD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04314-1B94-4A9C-B0E3-CBB040F0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50953-F6E3-4482-BE78-0CFC269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C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AEC67-0E7D-4E1F-8F05-8762FC1C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5953F-AD44-4272-B21F-E70580A0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1일차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D4CC5-4B58-4F1C-AC37-3A0ABD09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범위와 기준 확정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267C4-48F1-461D-8FB3-77774B0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6종, YOLOv8n, 앱 2종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5D8E7-2125-41B0-8D54-1A8AC0E7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9F7E7-BD0E-4FD4-99B4-0B35C560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2일차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93B8-CC1E-4F80-B74A-768DCE59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데이터 정제와 모델 상향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BFA8A-17BF-45B8-B1CE-3CBC97F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24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6종에서 5종, YOLO11n 이상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2DA5C-9D0E-472C-8BEC-9511EF0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D22C2-9716-46D0-9948-C7E62BE7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526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3일차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BB5F9-1E76-47D8-A05E-5210A736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33625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클래스 복원과 증강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6897E-D2EF-47C1-AADB-F36B571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배터리 보강, 6종으로 재조정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AFF75-0B58-424D-80AE-8144B90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59F12-7998-4018-A7EE-5467C82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4일차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8AD4C-FD7C-44EB-BD81-E4E81D8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전체 학습 착수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73A5E-366E-4825-9E93-EBB4493A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24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클래스당 10,000장, 설정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07ADA-4F11-496D-B5B1-ABEF091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D313A-4D1C-4F7B-A690-81CBBBA7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rPr>
              <a:t>5일차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AE0D8-998E-4121-B62F-B64A6119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33625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성능 검토와 입력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B6C1E-3D81-4DBD-AC27-E854506C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지표 50% 미만, 촬영 분석 채택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2ADDA-6900-44D5-A394-FF25E6EF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계획을 고정하지 않고 데이터, 장비, 테스트 결과에 맞춰 범위를 조정했다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84AA1-FA16-4721-8265-2AD0246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1120498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DCDED2-8522-4D30-A7EA-83C3A91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데이터와 모델 선택의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BA4FB-C184-4593-8D2F-A56E0F3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699F5-6AEA-492E-ABA6-746882A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D911F-E712-4445-902A-8E470EF3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성능과 실행 장비를 확인하면서 클래스와 모델 구성을 반복 조정했다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C7920-859D-4ABA-B43D-38F6E1C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5B35E-0ECB-4E25-A510-654DC2E2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CFE81-D966-4824-AE74-6D207F6F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43125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2DF22-A6FA-408A-B8C0-89F7B8AC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착수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02C53-6D3B-4D16-AF5F-523F1F72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43125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D4806-FBCD-4100-8067-0AF69C1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907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2일차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1537D-E6C2-4386-9E0E-39A7292F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9357F-3F3D-4291-B961-756A47A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4~5일차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8D5EC-98BF-4682-B141-57F7255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CD3CC-53C7-4878-BD61-C28CF50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 근거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58D97-F95B-4DC2-82AE-6633D31E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8F687-B2D1-4470-A9E0-70DD6745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클래스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895D3-83CE-4BCE-9C54-98234F9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0325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155D2-7366-43A4-A3EE-62D1A82E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95575"/>
            <a:ext cx="1343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6종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D562F-0D19-4CD0-9AC4-FBC6844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00325"/>
            <a:ext cx="166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5807E-8FA2-4DD2-BD8E-77DC081E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1438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5종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B0313-B1AD-4832-A91A-4592EAA5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26340-CA2A-4CB3-BDC3-7174228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9557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6종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47C0B-A581-4990-A564-0FF6E2B2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0325"/>
            <a:ext cx="3905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47AD6-D849-488C-B8CC-7C4413E3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5575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배터리 부족으로 제외 후 데이터 보강으로 복원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8D6E1-940C-4CD9-8757-502D999D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3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57173-CC96-447B-84DE-96DE124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792A45-9FAB-4B71-B192-3706AB6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3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C2179-E4DA-4742-939F-D22F0309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67125"/>
            <a:ext cx="1343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YOLOv8n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8E4FE-66A0-4416-BD8E-60AA447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71875"/>
            <a:ext cx="166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3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B2361-BBDF-4E0D-91EE-76BBB465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67125"/>
            <a:ext cx="1438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YOLO11n 이상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B5D88F-886F-4DE0-94C9-56B8D328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71875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3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96B63D-9793-4BEA-8707-F79B81C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6712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YOLO11n·YOLO26s 비교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BE96F-ED56-4682-946D-83506812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3905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3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CF92A-A110-4DE6-8112-D822B1E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67125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실제 장비가 젯슨 오린 나노임을 확인해 상위 모델 검토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75BA4-E97C-49E2-9460-1BF9AF2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28E425-68F6-4F51-BCCD-35F1A789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8807EA-4597-4E60-AC9E-1C50E63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1571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2141C-070F-4534-8D15-63DCB09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38675"/>
            <a:ext cx="1343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Roboflow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763F5E-DC74-46ED-83F5-BD756D2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43425"/>
            <a:ext cx="166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118F88-26DE-4E38-B4FB-6BA61D96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38675"/>
            <a:ext cx="1438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정제·매핑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9FDC7-3105-403E-8574-BCA61DBC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43425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04EED4-DE48-4007-A114-908DFCF4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3867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클래스당 10,000장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235E10-008D-4DD3-A1AF-337FE1DC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3905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C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3709D2-BBAE-426C-B8B5-F8553250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38675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Roboflow에서 내려받은 데이터에 자체 라벨링 이미지를 더해 학습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B6396D-7B21-424B-85DB-0CDBA6D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648206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CDF5C-8D0F-400D-9D92-9EDF9477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PyTorch를 선택한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DD641-7633-4DF8-8E3F-DDED422A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1E978-7185-401A-BB43-CF481CA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B7DA0-18FC-4C87-8DE3-CDD655C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팀의 CUDA 환경에서 GPU 활용 편의성과 대규모 학습 시간을 고려했다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E2C00-7DA4-4DF5-BD4C-DD8643A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CPU 학습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2BD53-80E6-434C-97E2-F664559F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C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0977-8FD6-4A39-8A69-1CDABEB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한 번에 처리할 수 있는 데이터가 제한적이며, 데이터 규모가 커질수록 학습 시간이 길어진다. 무리한 설정에서는 메모리나 수치 안정성 문제가 생길 수 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9C825-983D-4660-B9D6-735DF147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GPU 학습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A9D4F-3F5F-4069-AA69-BB4CF29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9F448-A9D1-4888-83DD-FD49362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병렬 연산으로 많은 데이터를 동시에 처리한다. 프로젝트 환경에서는 PyTorch가 CUDA 연동과 GPU 활용 설정에 더 적합했다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88468-EE63-4BC1-A8D9-05E71FD8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0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PyTorch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14CF-9104-498D-A77E-B1E1633D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안전성과 학습 속도를 함께 고려한 프로젝트 환경의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FFD17-D0B8-464C-9E31-90189B8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429021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CE7D7-EBC3-48E2-BA6F-A2EEF5CE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신뢰도 임계값 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14C19-BCE2-4152-8C92-B47FB5D7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B1023-A5A4-49CD-BE6C-DEFCE82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74906-12EE-4C36-A466-714B6C81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낮은 객체 인식 품질을 개선하기 위해 conf 값을 0.25에서 0.35로 높였다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041E-7ECD-4210-B904-BB6FD381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6187C-AF96-496D-8937-7BC6C10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0.25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BEF3C-2C99-4684-95D9-A5B4632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조정 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BD48B-9843-4FAA-ABF1-091818B3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208CA-DC7A-4914-83D5-F945FC5B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ED6C4-32C9-4F70-99FC-BFB97AA9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0.35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AB1A6-C796-4A0F-A695-C1FBA8D9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조정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CB64D-0BC3-4DE5-BE4F-9625CA6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436D3-391F-4D55-AD25-631D59F1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객체 인식률 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D1DCB-4020-4CF4-90DB-73EAD6D9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기대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73C7B-AAC8-4979-98C0-8C17163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339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표시되는 탐지 결과의 인식 품질 향상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B7EF8-D640-4A47-A69A-8C62B2D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483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BF8EB-F4B6-436B-B0FF-0B920F3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483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객체 인식률 향상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9ACB7-F957-4167-93C1-537682DE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1849080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6CEC1-E203-4885-89BF-D89670A5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5일차 모델 점검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D7B24-9E23-4DC3-BE00-B3BADD2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9D03E-31BF-4533-822A-0850FFE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383DE-FC36-40E2-B0AA-074D954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대규모 학습으로 불필요한 탐지는 줄었지만 목표 품목 인식은 충분하지 않았다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E5ACD-8620-47D7-A67D-E837E3C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10,000장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9C040-802C-4FF5-85B7-D8DA9AE6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rPr>
              <a:t>클래스당 학습 이미지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CA64E-1A12-4A67-9D5E-9DFDDB0D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100 epoch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3A959-F6C8-4DC7-AF6F-9EB9B69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rPr>
              <a:t>확보 모델의 학습 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3C8EB-7FBF-4EA3-BB49-4146666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rPr>
              <a:t>50% 미만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40B68-E412-4ECA-A945-35E6F613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956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FE7DC"/>
                </a:solidFill>
                <a:latin typeface="Malgun Gothic"/>
                <a:ea typeface="Malgun Gothic"/>
                <a:cs typeface="Malgun Gothic"/>
              </a:rPr>
              <a:t>정확도·정밀도·재현율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2FB39-70CC-46CA-BC0F-0D63A0A4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5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1174E-0237-425D-89FA-C3B9091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812B3-7668-4B91-A54D-2376AC9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386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사람과 비대상 객체에 대한 불필요한 탐지가 감소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2E2CB-3703-42E5-82C3-32B7092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rPr>
              <a:t>잔여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1014C-154B-4AE3-8DB5-D021C179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미탐이 많고 비닐·플라스틱·유리 및 코팅 종이·도색 캔 사이 오분류가 지속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3B78A-2CEE-4F68-8C23-575970D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BC5B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BC5B9"/>
                </a:solidFill>
                <a:latin typeface="Malgun Gothic"/>
                <a:ea typeface="Malgun Gothic"/>
                <a:cs typeface="Malgun Gothic"/>
              </a:rPr>
              <a:t>세부 지표 값과 평가 조건은 후속 점검이 필요하다</a:t>
            </a:r>
          </a:p>
        </p:txBody>
      </p:sp>
    </p:spTree>
    <p:extLst>
      <p:ext uri="{BB962C8B-B14F-4D97-AF65-F5344CB8AC3E}">
        <p14:creationId xmlns:p14="http://schemas.microsoft.com/office/powerpoint/2010/main" val="262705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232DE-F900-49DB-B715-6BA395B0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오류 유형과 원인 가설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61C07-414C-4B3B-AF57-59117CC5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E8C8D-E028-4503-9D67-97D3174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B8192-A0BB-4630-9290-DA6F465C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9A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89A3C"/>
                </a:solidFill>
                <a:latin typeface="Malgun Gothic"/>
                <a:ea typeface="Malgun Gothic"/>
                <a:cs typeface="Malgun Gothic"/>
              </a:rPr>
              <a:t>오탐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4D25A-07B2-433E-96E8-EEC7F4C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A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AADA-2E41-4F0D-9602-4D6035C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538C-18A9-4A38-A1B1-7CFD817C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배경이나 비대상 객체를</a:t>
            </a:r>
          </a:p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쓰레기로 인식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33B41-6077-4CC5-BFE3-B9A7D0F9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후속 실험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69490-7A15-425F-9A89-5511C3B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719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배경 음성 샘플 추가</a:t>
            </a:r>
          </a:p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임계값 조건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47739-FC43-42AD-9067-59E2F3B8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rPr>
              <a:t>미탐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2CDC1-D308-4652-BFC5-E67651E0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47B3C-220F-452B-AC83-AB33A871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96782-1090-4B3C-8D3D-179CB4F6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버려야 할 품목을</a:t>
            </a:r>
          </a:p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탐지하지 못함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F3328-A73C-4E81-855C-E6B2E34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후속 실험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C8129-2F9B-40F7-8CA5-DB4EBD76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원본·입력 해상도 비교</a:t>
            </a:r>
          </a:p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학습 횟수 확대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438F9-04F7-476A-8E4A-0F28779A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품목 혼동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1F3DC-46DB-4478-A710-42A5A6F2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1197B-AB7D-480E-B278-E18CCEF2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D65FD-F1B4-45D1-ADC0-92CB5CB9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유사 재질과 표면 처리로</a:t>
            </a:r>
          </a:p>
          <a:p xmlns:a="http://schemas.openxmlformats.org/drawingml/2006/main">
            <a:pPr>
              <a:def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클래스를 잘못 예측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73F9D-2604-4228-A475-27EDCFF1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후속 실험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FD317-54C5-4946-9A42-A8D71326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색상·형태 다양성 보완</a:t>
            </a:r>
          </a:p>
          <a:p xmlns:a="http://schemas.openxmlformats.org/drawingml/2006/main">
            <a:pPr>
              <a:def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상위 모델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3F7C3-DA73-48D1-A848-EC7794D4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입력 방식 변경과 모델 성능 개선 효과를 분리해 검증한다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AEC31-591E-44C9-9687-A8FAE83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1215931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78051-1DEF-434B-8736-1B60FDD1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앱 입력 방식의 전환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C5AD4-EFBD-4E86-95B6-350C8D1B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AD3E4-4B39-4CC0-BF47-ED2B19AE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FC578-44C4-422D-856B-3FB25CCA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실시간 연속 탐지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CEA2-E3F7-4D03-82B6-EF997533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촬영 사진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382BE-6C90-4AB9-B57D-1EE1969B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000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BF3E5-6BF9-4A9E-9C3E-D6B88EB0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주변 장면을 계속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BDC5B-FF75-4C16-859B-CA55624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배경 오탐이 늘고</a:t>
            </a:r>
          </a:p>
          <a:p xmlns:a="http://schemas.openxmlformats.org/drawingml/2006/main">
            <a:pPr algn="ctr"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분석 대상이 불명확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BDEAC-F6E3-451F-B517-20026202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527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47D72-EBED-4601-990F-F787164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4000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81EF6-E529-4AB7-B505-52236F85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사용자가 버릴 물체를 촬영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D2CAC-6F36-4AE2-A254-5B88C0B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입력 대상을 명확히 하고</a:t>
            </a:r>
          </a:p>
          <a:p xmlns:a="http://schemas.openxmlformats.org/drawingml/2006/main">
            <a:pPr algn="ctr">
              <a:defRPr sz="15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사용 흐름을 단순화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5E93B-E0E1-4951-975A-61DF138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73528-3D20-460B-91F9-E64C79A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앱의 입력 흐름만 변경했다. 6개 클래스와 객체 탐지 모델은 유지한다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BEC40-18DA-4286-BB07-B87A545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555023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15AFF-0DEE-4543-9C34-72E15921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후속 실험과 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51A67-6AD0-4436-9022-B452C28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750A3-5C1F-4EE6-A7D8-185C21C3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7C2CA-A0AB-4C95-A49F-489E855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A5C20-EA09-4D0B-A0DE-8522A935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DFE67-E9CF-4E59-8FCA-B19FE19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모델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59DFB-3064-48D2-B69D-45D8ED5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잔여 YOLO11n과 YOLO26s 결과를 같은 조건에서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A5E5A-527C-4AF9-ACFC-A78FFB64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77C04-16CD-4BF1-BF7E-28206E3F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51CA3-54E2-4D07-81BD-FD3D8F95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데이터 보완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5841E-4BB9-4E8E-80F8-84C0FC35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배경 음성 샘플과 클래스 내 색상·형태 다양성을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1356-28DC-4249-BB66-5819D521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7A5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FC462-61D0-4BFA-B901-46E1E2A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26D7D-C740-4298-B96B-1A0AF34A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24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학습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196E9-4876-4C77-94DF-2362842D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epoch 확대와 Early Stopping으로 적절한 종료 시점을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3CBAD-544C-4A2B-B06D-CA8E4E46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85B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65478-617F-43BC-A00C-66559C50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1BBEC-ED10-486E-8DD8-83CBC864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76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3251D"/>
                </a:solidFill>
                <a:latin typeface="Malgun Gothic"/>
                <a:ea typeface="Malgun Gothic"/>
                <a:cs typeface="Malgun Gothic"/>
              </a:rPr>
              <a:t>배포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CCEC1-9B49-4A01-9982-8DFE75FF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4817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젯슨 오린 나노에서 속도와 인식 결과를 함께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233B-6F72-4FF3-8F4D-5F73EB26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85B4A"/>
                </a:solidFill>
                <a:latin typeface="Malgun Gothic"/>
                <a:ea typeface="Malgun Gothic"/>
                <a:cs typeface="Malgun Gothic"/>
              </a:rPr>
              <a:t>최종 모델 선정과 성능 향상은 아직 확정되지 않았다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4E156-BD88-4AC8-981B-A420EBB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8736D"/>
                </a:solidFill>
                <a:latin typeface="Malgun Gothic"/>
                <a:ea typeface="Malgun Gothic"/>
                <a:cs typeface="Malgun Gothic"/>
              </a:rPr>
              <a:t>물시느끝  |  데이터 분석 3모듈 프로젝트</a:t>
            </a:r>
          </a:p>
        </p:txBody>
      </p:sp>
    </p:spTree>
    <p:extLst>
      <p:ext uri="{BB962C8B-B14F-4D97-AF65-F5344CB8AC3E}">
        <p14:creationId xmlns:p14="http://schemas.microsoft.com/office/powerpoint/2010/main" val="261368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5A800-A6D9-4328-B24F-8CFB9718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EEAC-78AC-41AA-9A3C-1522D97C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7A50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45397-E03C-40E7-9549-E210F786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E2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2E22"/>
                </a:solidFill>
                <a:latin typeface="Malgun Gothic"/>
                <a:ea typeface="Malgun Gothic"/>
                <a:cs typeface="Malgun Gothic"/>
              </a:rPr>
              <a:t>물시느끝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3E621-84C8-47EE-9134-6EB93829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9AD57-0BEB-403C-AF50-D99439B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7DB45"/>
                </a:solidFill>
                <a:latin typeface="Malgun Gothic"/>
                <a:ea typeface="Malgun Gothic"/>
                <a:cs typeface="Malgun Gothic"/>
              </a:rPr>
              <a:t>프로젝트 중간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E4B9-736B-4187-BA45-1CBDF40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42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테스트 결과를 근거로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흐름을 현실화했다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00087-8715-4773-B345-EFD8979A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BC5B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ABC5B9"/>
                </a:solidFill>
                <a:latin typeface="Malgun Gothic"/>
                <a:ea typeface="Malgun Gothic"/>
                <a:cs typeface="Malgun Gothic"/>
              </a:rPr>
              <a:t>현재까지 확보한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91B52-61B6-4F3F-8A53-DE275AAE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Roboflow 기반 6개 품목 학습 데이터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PyTorch와 GPU를 활용한 학습 환경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• conf 0.35에서 인식률 향상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49547-1458-4433-8434-AD0E3CC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5095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7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FE7DC"/>
                </a:solidFill>
                <a:latin typeface="Malgun Gothic"/>
                <a:ea typeface="Malgun Gothic"/>
                <a:cs typeface="Malgun Gothic"/>
              </a:rPr>
              <a:t>비대상 객체가 포함된 이미지로 전이학습했지만 기존 탐지 대상의 미탐도 늘어, 전이학습 이전 모델이 더 나은 결과를 보였다</a:t>
            </a:r>
          </a:p>
        </p:txBody>
      </p:sp>
    </p:spTree>
    <p:extLst>
      <p:ext uri="{BB962C8B-B14F-4D97-AF65-F5344CB8AC3E}">
        <p14:creationId xmlns:p14="http://schemas.microsoft.com/office/powerpoint/2010/main" val="1626982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2026-09-14T04:36:09.5780000Z</dcterms:created>
  <dcterms:modified xsi:type="dcterms:W3CDTF">2026-09-14T04:36:09.5780000Z</dcterms:modified>
</coreProperties>
</file>