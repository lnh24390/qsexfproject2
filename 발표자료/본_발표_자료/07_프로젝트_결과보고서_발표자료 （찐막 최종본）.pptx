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media/image21.jpg" ContentType="image/jpeg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6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52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양식이 요구하는 5개 장 구성이라는 것만 짚고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재활용률 세 숫자(종이 47.7 · 플라스틱 55.8 · 유리 58.6%)로 문제를 연다.
실시간 연속 탐지에서 촬영 후 분석으로 바꾼 이유는 배경 오탐을 줄이기 위해서다.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흐름 칩을 왼쪽에서 오른쪽으로 짚는다.
핵심은 모든 추론이 기기 안에서 일어나 네트워크 없이 동작한다는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역할은 빠르게 넘기고, 아래 공통 기준 카드 3장(지표 · 조건 · 장비)에 시간을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 칩을 따라가다 표의 9/13 ~ 9/14 행(단계별 전이학습 · 공통 조건 재측정)에서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그림을 ①에서 ⑤까지 순서대로 짚는다. 위 크림색 줄(2단계 방식)은 대비용이므로 한 문장만.
오른쪽 표는 v1부터 읽지 말고 초록색 두 줄(YOLO11 · YOLO26)만 짚는다. 11n을 고른 이유는 슬라이드에 없으므로 말로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가로는 이미지를 줄이는 것, 아래로 내려가며 특징을 뽑는 것, 다시 키우는 것 — 세 단계로 읽는다.
"20픽셀짜리 물체는 두세 칸뿐"이라는 말로 25쪽 작은 물체 문제의 복선을 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장과 같은 자리를 짚어 "구조는 같다"를 보인 뒤, 2.59M → 9.95M (3.8배)만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박스 사진과 오른쪽 봉지 사진을 나란히 짚는다.
오른쪽은 구겨진 봉지와 비스듬한 물체라 박스 선과 외곽선 사이 빈 공간이 눈에 보인다. 그 공간을 손으로 가리킨다.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62,236장 · 배경 3,000장 · 10.68GB 세 숫자만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80 / 15 / 5를 먼저 짚고, 이유 카드 ①②③을 차례로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품목 6종 칩만 읽고 바로 아래로 내려간다.
general을 뺀 이유 셋 중 "3,677객체 중 82개, 2.2%"를 짚는다. 학습이 7클래스였다는 이야기는 먼저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 이미지(객체가 없는 사진)와 라벨 누락(객체는 있는데 라벨만 빠진 것)을 구분하는 것이 이 장의 핵심이다.
11만 8천 장에서 3천 장을 고른 기준 세 가지를 차례로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전이학습과 미세 조정의 정의를 한 줄씩 말한다.
표에서는 학습률이 1e-4 → 5e-6 으로 내려가는 흐름과, 층 고정이 2차에만 걸려 있다는 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6곳은 빠르게 넘기고, 아래 실제 오인식 사례(수건 → 비닐 등)에 시간을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크기를 맞추고 라벨 형식만 바꾼 비교다. mAP는 분할이 +5.79%p 앞서지만 앱이 쓰는 F1은 0.73%p 차이뿐이다.
오른쪽 크림색 카드(정답이 분할 폴리곤에서 나왔다)를 반드시 함께 읽어 한계를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규모만 3.8배 키운 비교다. +3.19%p를 연산량 2.90배와 용량 3.7배로 산 셈이라고 정리한다.
end2end=False 로 돌려 YOLO26의 NMS-free 이점이 빠졌다는 한계를 반드시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모델에 학습 단계만 더한 비교다. 1차에서 크게 떨어진 뒤 회복했지만 초기 64.1을 넘지 못했다.
그림의 세로축이 54~67 구간이라 변화가 과장돼 보인다는 점을 덧붙인다.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그래프에서 battery · can · paper가 높고 plastic · glass · general이 낮다는 것만 짚는다.
오른쪽 표는 초록으로 표시한 두 줄(YOLO26s 78.8 · 검출 최종 전이 78.2)만 읽는다. mAP 60%대와 F1 75%대가 다른 이유는 지표 정의 차이라고 한 문장으로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대조 47.82% 기준으로 밝기 −2.84%p, 흐림 −31.29%p 다. 흐림에 특히 약하다는 것이 이 장의 결론이다.
재촬영 안내와 후보 병기로 대응했고 남은 과제라는 점까지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가림 장면은 6/7, 혼합 장면은 0/6이다.
혼합 장면에서 플라스틱 · 종이 · 비닐을 서로 혼동한다는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두 띠를 먼저 읽어 놓친 885개와 틀린 674개를 갈라 보인다.
혼동 지도는 진한 칸 두세 개만 짚고, 오른쪽 카드의 "비닐 → 종이 1,208"과 "아주 작음 36.9%"에 시간을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 · 전처리 · 추론 · NMS는 플러그인이 네이티브에서 처리하고 앱은 배출 안내만 얹는다.
클래스별 신뢰도 기준 0.13 ~ 0.75는 F1이 최대가 되는 지점을 재서 정한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구현이 끝난 것과 남은 것을 나눠 읽는다. 앱은 완성해 실제 기기에서 동작한다는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마커펜 하나가 프레임마다 다섯 번 다르게 판정된 이야기가 이 장의 중심이다.
성능을 재는 자료가 아니라 동작을 보여 주는 화면임을 먼저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.pt 실행 1~2 FPS에서 TensorRT 변환 후 9~17 FPS로 올라간 것이 먼저다.
CPU에서 2.90배였던 YOLO11n과 YOLO26s 차이가 젯슨에서 1.09배로 좁혀진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먼저 찍게 한 뒤 시연 순서 칩을 따라간다.
발표 전 저장소를 공개로 바꾸고 주소와 QR을 교체했는지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젯슨은 액추에이터 자동 분류로, 앱은 거리 재활용품 감지로 넓힐 수 있다.
두 방향 모두 이번에 검증한 범위를 넘어선 계획이라는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이번 범위에서 확인한 것, 오른쪽은 그 범위의 경계다.
오른쪽 세 줄을 화살표 기준으로 하나씩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1위 모델과 오탐이 적은 모델이 서로 다르다. 용도별로 골라야 한다는 것이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결과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기반 재활용품 분리배출 안내 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앱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재활용품의 조명 · 배경 조건과 차이가 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단계의 분류 오류를 줄이려고, 실시간 연속 탐지 대신 촬영 후 분석 방식으로 방향을 바꿨다.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장을 받아 품목과 배출 방법까지 안내하는 것이 목표이며, 추론은 모두 기기 안에서 이뤄진다.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종이 · 플라스틱 · 비닐 · 캔 · 유리 · 배터리 6종이다. 범위를 그렇게 정한 이유는 13쪽에 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000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6928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2544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553712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53712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339328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9328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사람이 과제를 나누되 지표 · 조건 · 장비는 하나로 통일해, 뒤에 나오는 수치를 서로 비교할 수 있게 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앱 구현까지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3종 </a:t>
            </a:r>
            <a:r>
              <a:rPr lang="en-US" sz="1250" b="1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· 결과 정리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221910"/>
              </p:ext>
            </p:extLst>
          </p:nvPr>
        </p:nvGraphicFramePr>
        <p:xfrm>
          <a:off x="566928" y="3520440"/>
          <a:ext cx="11055096" cy="25237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3종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 err="1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3종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동안 데이터 구축 → 1차 학습 → 전이학습 → 공통 조건 재측정 순으로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사진을 한 번만 통과시켜 위치와 품목을 같이 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work/fig/f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6903720" cy="4067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1481328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버전별 특징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680960" y="1792224"/>
            <a:ext cx="82296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680960" y="1956816"/>
            <a:ext cx="3950208" cy="694944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845552" y="202996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 ~ v3   2016 – 2018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845552" y="226771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격자로 나눠 한 번에 예측 → 앵커 박스 → 세 해상도 예측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680960" y="2724912"/>
            <a:ext cx="3950208" cy="694944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845552" y="2798064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v4 ~ v7   2020 – 2022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845552" y="303580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CSP 백본 · 앵커프리 헤드 · 학습 도구 정착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680960" y="3493008"/>
            <a:ext cx="3950208" cy="694944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7845552" y="3566160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v8   2023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845552" y="380390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앵커프리를 기본으로, 검출 · 분할 · 자세를 한 틀에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680960" y="4261104"/>
            <a:ext cx="3950208" cy="694944"/>
          </a:xfrm>
          <a:prstGeom prst="rect">
            <a:avLst/>
          </a:prstGeom>
          <a:solidFill>
            <a:srgbClr val="BFD8CE"/>
          </a:solidFill>
          <a:ln w="12700">
            <a:solidFill>
              <a:srgbClr val="1F5C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7845552" y="4334256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   2024. 09.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845552" y="457200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 · 넥 개선 — 더 적은 파라미터로 같은 정확도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680960" y="5029200"/>
            <a:ext cx="3950208" cy="694944"/>
          </a:xfrm>
          <a:prstGeom prst="rect">
            <a:avLst/>
          </a:prstGeom>
          <a:solidFill>
            <a:srgbClr val="BFD8CE"/>
          </a:solidFill>
          <a:ln w="12700">
            <a:solidFill>
              <a:srgbClr val="1F5C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7845552" y="510235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   2026. 01.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7845552" y="5340096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· DFL 제거 — CPU 추론 최대 43% 단축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66928" y="5907024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 후보를 따로 만들지 않고 한 번의 추론으로 위치와 품목을 함께 내기 때문에 저사양 장비에서 쓸 수 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과제의 기준 모델은 YOLO11n, 비교 대상은 YOLO26s다.  YOLO11n 파라미터 2,591,205개 · 6.5 GFLOPs · 가중치 5.5 MB.  공식 COCO 기준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32분의 1까지 줄이며 특징을 뽑기 때문에, 작은 물체는 남는 칸이 두세 개뿐이라 놓치기 쉽다.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 — 전체 2.59M(백본 1.37M · 넥 0.79M · 헤드 0.43M) · 6.5 GFLOPs.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work/fig/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백본   1.37M → 5.44M  (4.0배)
넥     0.79M → 3.57M  (4.5배)
헤드   0.43M → 0.94M  (2.2배)
전체   2.59M → 9.95M  (3.8배)
연산량  6.5 → 22.8 GFLOPs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YOLO26s는 YOLO11n과 구조가 같고 규모만 3.8배다. 정확도는 오르지만 그만큼 연산량을 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 1.37M → 5.44M · 넥 0.79M → 3.57M · 헤드 0.43M → 0.94M. 두 모델의 성능 차이는 19쪽 비교 ② 와 29쪽 젯슨 시연에서 확인한다.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17904"/>
            <a:ext cx="5385816" cy="37490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6384" y="1581912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" y="183794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050" dirty="0"/>
          </a:p>
        </p:txBody>
      </p:sp>
      <p:pic>
        <p:nvPicPr>
          <p:cNvPr id="13" name="Image 0" descr="/home/claude/work/fig/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121408"/>
            <a:ext cx="4846320" cy="21170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275021"/>
            <a:ext cx="5020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41248" y="4663440"/>
            <a:ext cx="4837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1248" y="4937760"/>
            <a:ext cx="4837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0 ~ 1 값 · 박스 안에 배경이 함께 들어간다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45352" y="1517904"/>
            <a:ext cx="5385816" cy="37490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464808" y="1581912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64808" y="1837944"/>
            <a:ext cx="49469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050" dirty="0"/>
          </a:p>
        </p:txBody>
      </p:sp>
      <p:pic>
        <p:nvPicPr>
          <p:cNvPr id="20" name="Image 1" descr="/home/claude/work/fig/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121408"/>
            <a:ext cx="4846320" cy="2117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28232" y="4275021"/>
            <a:ext cx="5020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0 general)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519672" y="4663440"/>
            <a:ext cx="48371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519672" y="4937760"/>
            <a:ext cx="4837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구겨지거나 비스듬한 물체일수록 박스와 차이가 크다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66928" y="541324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731520" y="541324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클래스 번호 순서가 서로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6928" y="608990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원본 사진에서 두 벌의 라벨을 각각 만들었다. 번호를 맞추지 않고 섞으면 학습은 되지만 성능이 무너진다.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분할 라벨 중 6,678개(7.4%)는 꼭짓점이 4개다. 두 방식을 같은 크기로 맞춰 비교한 결과는 18쪽 비교 ① 에 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94760"/>
          <a:ext cx="11055096" cy="16093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1만 장 기준으로 62,236장을 모았고, 그중 3,000장은 대상 객체가 없는 배경 사진이다.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 · 검증 15 · 평가 5로 나눴다. 비율 자체보다 각 칸에 들어가는 절대 장수가 판단 기준이었다.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 6종에 집중했다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44496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444496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22064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322064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99632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199632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77200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077200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954768" y="1591056"/>
            <a:ext cx="1676400" cy="676656"/>
          </a:xfrm>
          <a:prstGeom prst="roundRect">
            <a:avLst>
              <a:gd name="adj" fmla="val 16216"/>
            </a:avLst>
          </a:prstGeom>
          <a:solidFill>
            <a:srgbClr val="DCE7E2"/>
          </a:solidFill>
          <a:ln w="9525">
            <a:solidFill>
              <a:srgbClr val="BFD8C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954768" y="1591056"/>
            <a:ext cx="167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2560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29443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566928" y="3054096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68096" y="321868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054096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553712" y="321868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054096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8339328" y="321868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모델에서 가장 낮았다. 클래스별 수치는 22쪽에서 본다.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66928" y="44988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66928" y="488289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566928" y="4992624"/>
            <a:ext cx="3505200" cy="1005840"/>
          </a:xfrm>
          <a:prstGeom prst="roundRect">
            <a:avLst>
              <a:gd name="adj" fmla="val 5455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66928" y="5120640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66928" y="5431536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076700" y="53492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346448" y="4992624"/>
            <a:ext cx="3505200" cy="1005840"/>
          </a:xfrm>
          <a:prstGeom prst="roundRect">
            <a:avLst>
              <a:gd name="adj" fmla="val 5455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346448" y="5120640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346448" y="5431536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7856220" y="53492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125968" y="4992624"/>
            <a:ext cx="3505200" cy="1005840"/>
          </a:xfrm>
          <a:prstGeom prst="roundRect">
            <a:avLst>
              <a:gd name="adj" fmla="val 5455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8125968" y="5120640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8125968" y="5431536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66928" y="62727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범위는 6종이다. general(일반쓰레기)은 범주가 넓고 자료가 적으며 성능도 낮아 안내 대상에서 뺐다.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장을 고른 기준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66928" y="4261104"/>
            <a:ext cx="3493008" cy="1444752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68096" y="442569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조건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91456"/>
            <a:ext cx="3090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용기 · 식기 · 음식 · 가방 · 소형 전자기기처럼 7클래스와 헷갈릴 물체가 하나라도 보이면 뺐다.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261104"/>
            <a:ext cx="3493008" cy="1444752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553712" y="442569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조건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91456"/>
            <a:ext cx="3090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· 가구 · 전자기기 같은 실내 요소의 면적 합이 화면의 3% 이상이고, 짧은 변이 480px 이상인 사진만 썼다.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261104"/>
            <a:ext cx="3493008" cy="1444752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339328" y="442569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확인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91456"/>
            <a:ext cx="3090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선별을 마친 뒤 표본 48장을 눈으로 다시 확인해 대상 객체가 섞이지 않았는지 검수했다.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객체가 없는 사진을 빈 라벨로 함께 학습시켰다. 공식 권장 범위 0 ~ 10% 안인 4.8%를 넣었다.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오탐 수치는 17쪽 공통 조건 재측정 표의 「배경 오탐」 열에서 확인한다.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재활용품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가중치에서 출발해 학습률을 낮추고 단계마다 조금씩 움직이는 방식으로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 1 epoch.  3차에만 약한 흐림을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26883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위주로 공개 자료를 모으되 직접 검수한 것만 학습에 넣었고, 기존 라벨도 198개를 정정했다.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폐기물 60개 세부 품목 · 주석 CC BY 4.0 / WaRP — 선별공장 컨베이어 28종.  외국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①  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모델에서 박스와 외곽선만 바꿔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1064240" cy="475488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1520" y="1554480"/>
            <a:ext cx="10735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 (2026. 09. 14.) — 두 데이터셋의 교집합 1,712장 · 3,677객체, 정답은 분할 폴리곤 한 벌로 통일, imgsz 640 · conf 0.001 · NMS IoU 0.7 · FP32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39696"/>
          <a:ext cx="11064240" cy="23042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 (검출)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  (분할)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쪽이 유리한가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 +5.79%p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 (앱 기준)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 +0.73%p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(150장 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 (+18%)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553712"/>
            <a:ext cx="5385816" cy="1152144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47183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말할 수 있는 것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08406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는 분할이 5.79%p 앞서고, 배경 오탐도 분할이 적다. 다만 앱 기준으로 실제 화면에 뜬 검출만 세면 두 모델이 0.73%p 차이로 사실상 같다.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553712"/>
            <a:ext cx="5385816" cy="1152144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46520" y="471830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말할 수 없는 것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08406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측정의 정답은 분할 폴리곤 한 벌이고 검출용 박스는 그 폴리곤의 최소·최대 좌표로 만들었다. 정답 형식이 분할 쪽에서 나왔으므로 분할에 유리할 여지가 남는다.</a:t>
            </a:r>
            <a:endParaRPr lang="en-US" sz="1150" dirty="0"/>
          </a:p>
        </p:txBody>
      </p:sp>
      <p:sp>
        <p:nvSpPr>
          <p:cNvPr id="7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오탐이 적고 mAP 가 높지만, 앱이 실제로 쓰는 F1 에서는 차이가 거의 없고 속도와 학습 시간에서 손해다.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모델의 마스크 mAP50–95 는 0.6951 이다. 박스 기준으로 비교한 것은 검출 모델에 마스크 출력이 없어 같은 잣대가 그것뿐이기 때문이다.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②  모델 규모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조건을 맞추고 규모만 3.8배 키워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54480"/>
            <a:ext cx="11064240" cy="475488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1520" y="1554480"/>
            <a:ext cx="10735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2종 외부 평가 — 모델당 354개 입력 · 공통 7클래스 · best.pt · 640×640 패딩 · batch 1 · CPU FP32 · end2end=False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21408"/>
          <a:ext cx="11064240" cy="25603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 (2.59M)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 (9.95M)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+3.19%p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2.90배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·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 MB · 13h 18m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 MB · 20h 31m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3.7배 · 1.54배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791456"/>
            <a:ext cx="5385816" cy="104241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49560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791456"/>
            <a:ext cx="5385816" cy="1042416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46520" y="495604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218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end2end=False 로 돌려 그 NMS-free 이점이 빠졌다. 공정한 비교는 같은 규모인 YOLO11s 와 해야 한다.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7" y="6053328"/>
            <a:ext cx="110642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2000"/>
              </a:lnSpc>
            </a:pPr>
            <a:r>
              <a:rPr lang="en-US" sz="1050" b="1" dirty="0" err="1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NMS-free</a:t>
            </a:r>
            <a:r>
              <a:rPr lang="ko-KR" alt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</a:t>
            </a:r>
            <a:r>
              <a:rPr lang="en-US" altLang="ko-KR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</a:t>
            </a:r>
            <a:r>
              <a:rPr lang="ko-KR" alt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겹치는 박스를 나중에 지우지 않고</a:t>
            </a:r>
            <a:r>
              <a:rPr lang="en-US" altLang="ko-KR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물체 하나당 박스 하나만 딱 찾게 하는 방식입니다</a:t>
            </a:r>
            <a:r>
              <a:rPr lang="en-US" altLang="ko-KR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구조가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좋아진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아니라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키운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결과다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재현율이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36%대라 433객체 중 275개를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놓쳤다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1위라고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충분하다는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아니다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COCO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YOLO26s 48.6 / YOLO11s 47.0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규모끼리는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0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같다</a:t>
            </a: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③  전이학습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2414016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회복했지만 초기 모델을 끝내 넘지 못했다.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검증 상승 ·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상세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품목별로는 재질이 뚜렷한 쪽이 높고, 앱 기준으로 걸러내면 F1은 75% 안팎이다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" y="15544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성능  (공통 시험 자료)</a:t>
            </a:r>
            <a:endParaRPr lang="en-US" sz="1200" dirty="0"/>
          </a:p>
        </p:txBody>
      </p:sp>
      <p:pic>
        <p:nvPicPr>
          <p:cNvPr id="11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65376"/>
            <a:ext cx="6858000" cy="3143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7808" y="1554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  (앱 기준으로 걸러낸 검출만)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07808" y="1865376"/>
          <a:ext cx="4023360" cy="292608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· 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초기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8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81.7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1차 전이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2차 전이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3차 전이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75.7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8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 초기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79.1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7607808" y="48646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전이 F1 — 1차 73.0 · 2차 73.9 · 3차(최종) 73.9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66928" y="52120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731520" y="52120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mAP50–95 (검출 최종 선택) — paper 82.4 · can 81.7 · battery 73.1 · vinyl 67.4 · glass 56.7 · plastic 56.3 · general 11.0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66928" y="5797296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뚜렷한 품목은 잘 잡고 투명하거나 얇은 품목은 낮다. 앱 기준으로 걸러낸 F1은 mAP보다 높게 나오는데 지표 정의가 다를 뿐이다.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— 앱의 클래스별 신뢰도 기준(0.13~0.75, 없으면 0.45) · NMS IoU 0.5 · 판정 겹침 IoU 0.5 · 사진 한 장씩 처리.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초점이 흐려지면 정확도가 절반 아래로 떨어진다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 20장 · 59객체에</a:t>
            </a:r>
            <a:r>
              <a:rPr lang="ko-KR" alt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 </a:t>
            </a:r>
            <a:r>
              <a:rPr lang="en-US" sz="1200" b="1" dirty="0" err="1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(YOLO26s 기준)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16824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 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뜻하는가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 (원본)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40%로 낮춤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−2.84%p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어두운 실내에서도 크게 흔들리지 않는다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 (초점 이탈)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−31.29%p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사실상 대응하지 못한다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8039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앱에서 이렇게 처리한다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66928" y="418795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566928" y="4297680"/>
            <a:ext cx="3493008" cy="13716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768096" y="44622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재촬영 안내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68096" y="4828032"/>
            <a:ext cx="30906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각도와 거리를 바꿔 다시 찍도록 안내한다.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2544" y="4297680"/>
            <a:ext cx="3493008" cy="13716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553712" y="44622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병기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53712" y="4828032"/>
            <a:ext cx="30906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후보가 둘이면 하나로 정하지 않고 함께 보여 준다.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38160" y="4297680"/>
            <a:ext cx="3493008" cy="137160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8339328" y="44622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과제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339328" y="4828032"/>
            <a:ext cx="30906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흐림</a:t>
            </a: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</a:t>
            </a:r>
            <a:r>
              <a:rPr lang="ko-KR" alt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기능</a:t>
            </a:r>
            <a:r>
              <a:rPr lang="en-US" altLang="ko-KR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앱에선 구현 못함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 변화에는 견디지만 초점이 맞지 않은 사진에는 대응하지 못한다. 앱이 재촬영을 안내하는 이유다.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흐림은 3픽셀 가우시안 기준이다. 전이학습 3차에서만 10% 확률로 약한 흐림을 넣어 보완을 시도했다(15쪽).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1" name="Image 0" descr="/home/claude/work/ppt4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4370832" cy="3380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재활용품</a:t>
            </a:r>
            <a:endParaRPr lang="en-US" sz="1300" dirty="0"/>
          </a:p>
        </p:txBody>
      </p:sp>
      <p:pic>
        <p:nvPicPr>
          <p:cNvPr id="13" name="Image 1" descr="/home/claude/work/ppt4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883664"/>
            <a:ext cx="4370832" cy="33801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5321808"/>
            <a:ext cx="5385816" cy="8229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768096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정답 6개 · 미탐 1개  /  YOLO11n 정답 4개 · 오탐 1개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5352" y="5321808"/>
            <a:ext cx="5385816" cy="8229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6446520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46520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정답 0개 · 오탐 3개  /  플라스틱 · 종이 · 비닐을 서로 혼동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21792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장면은 대부분 찾았지만, 여러 품목이 섞인 장면에서는 재질을 서로 혼동했다.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검출의 75%가 품목 혼동이고, 비닐↔종이 · 플라스틱↔유리가 가장 잦다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4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49424"/>
            <a:ext cx="7680960" cy="32388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5504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혼동 지도 — 세로는 실제 품목, 가로는 모델이 그렇게 본 품목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503920" y="2249424"/>
            <a:ext cx="3127248" cy="157276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8705088" y="2359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무엇으로 봤나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723376" y="2651760"/>
            <a:ext cx="2724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 → 종이  1,208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→ 유리  1,193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→ 비닐  910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 → 플라스틱  826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 → 플라스틱  716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503920" y="3950208"/>
            <a:ext cx="3127248" cy="1572768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8705088" y="4059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작을수록 놓친다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723376" y="4352544"/>
            <a:ext cx="2724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작음  36.9%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작음  72.0%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 82.5%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큼  81.2%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66928" y="5797296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것은 작은 물체가, 틀린 것은 품목 혼동이 가장 큰 몫이다. 상위 혼동이 대부분 양방향이라 한쪽 클래스만 고쳐서는 해결되지 않는다.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혼동 건수는 비교한 모델 전체를 합산한 값이다.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 점수 미달 167건은 기준값만 낮춰도 건질 몫이다.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57616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카메라부터 NMS까지는 플러그인이 네이티브에서 처리하고, 앱은 그 결과 위에 배출 안내를 얹는다.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102.8 ms ~ YOLO26s 298.0 ms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검출이 모두 동작하며, TensorRT 변환으로 젯슨 속도가 1~2 FPS에서 9~17 FPS로 올라갔다.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수치는 장비가 모두 다르다 — 데스크톱 GPU / PC CPU / 젯슨 오린 나노.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1" name="Image 0" descr="/home/claude/work/fig/j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 — can 0.96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4" name="Image 1" descr="/home/claude/work/fig/j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— vinyl 0.94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7" name="Image 2" descr="/home/claude/work/fig/j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— paper 0.64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1" name="Image 3" descr="/home/claude/work/fig/j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— battery 0.88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배터리로</a:t>
            </a: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95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판정했다</a:t>
            </a: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950" dirty="0" err="1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오탐아님</a:t>
            </a:r>
            <a:endParaRPr lang="en-US" sz="950" dirty="0"/>
          </a:p>
        </p:txBody>
      </p:sp>
      <p:pic>
        <p:nvPicPr>
          <p:cNvPr id="24" name="Image 4" descr="/home/claude/work/fig/j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— glass 0.57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7" name="Image 5" descr="/home/claude/work/fig/j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 — vinyl 0.93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66928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형태가 뚜렷한 품목은 안정적으로 잡히지만, 재질이 헷갈리는 물체는 프레임마다 다른 품목으로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home/claude/work/fig/j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3" name="Image 1" descr="/home/claude/work/fig/j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6" name="Image 2" descr="/home/claude/work/fig/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6424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YOLO11n과 YOLO26s의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66928" y="62727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돌았고, CPU에서 벌어졌던 YOLO11n과 YOLO26s의 차이가 거의 사라졌다.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 분할 모델의 FPS 편차는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17904"/>
            <a:ext cx="6553539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github.com/lnh24390/QSEXFProject2/releases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탭의 최신 APK 파일     저장소에 app/ 앱 코드와 ml/ 학습 · 변환 스크립트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안드로이드 기기에서만 동작합니다. 설치할 때 "알 수 없는 출처 허용"을 한 번 눌러 주셔야 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20467" y="1517903"/>
            <a:ext cx="224756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/home/claude/work/fig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787" y="1627632"/>
            <a:ext cx="1682496" cy="1682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79219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46BF61-ED03-428F-84DF-EE1093DCE1A3}"/>
              </a:ext>
            </a:extLst>
          </p:cNvPr>
          <p:cNvGrpSpPr/>
          <p:nvPr/>
        </p:nvGrpSpPr>
        <p:grpSpPr>
          <a:xfrm>
            <a:off x="566928" y="3982212"/>
            <a:ext cx="8801100" cy="1933956"/>
            <a:chOff x="566928" y="3785616"/>
            <a:chExt cx="11064240" cy="2130552"/>
          </a:xfrm>
        </p:grpSpPr>
        <p:sp>
          <p:nvSpPr>
            <p:cNvPr id="18" name="Text 14"/>
            <p:cNvSpPr/>
            <p:nvPr/>
          </p:nvSpPr>
          <p:spPr>
            <a:xfrm>
              <a:off x="566928" y="3785616"/>
              <a:ext cx="110642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시연 순서</a:t>
              </a:r>
              <a:endParaRPr lang="en-US" sz="1500" dirty="0"/>
            </a:p>
          </p:txBody>
        </p:sp>
        <p:sp>
          <p:nvSpPr>
            <p:cNvPr id="19" name="Shape 15"/>
            <p:cNvSpPr/>
            <p:nvPr/>
          </p:nvSpPr>
          <p:spPr>
            <a:xfrm>
              <a:off x="566928" y="4169664"/>
              <a:ext cx="1005840" cy="41148"/>
            </a:xfrm>
            <a:prstGeom prst="rect">
              <a:avLst/>
            </a:prstGeom>
            <a:solidFill>
              <a:srgbClr val="1F5C4D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16"/>
            <p:cNvSpPr/>
            <p:nvPr/>
          </p:nvSpPr>
          <p:spPr>
            <a:xfrm>
              <a:off x="566928" y="4279392"/>
              <a:ext cx="1993392" cy="932688"/>
            </a:xfrm>
            <a:prstGeom prst="roundRect">
              <a:avLst>
                <a:gd name="adj" fmla="val 5882"/>
              </a:avLst>
            </a:prstGeom>
            <a:solidFill>
              <a:srgbClr val="F1F5F3"/>
            </a:solidFill>
            <a:ln w="6350">
              <a:solidFill>
                <a:srgbClr val="A8BA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7"/>
            <p:cNvSpPr/>
            <p:nvPr/>
          </p:nvSpPr>
          <p:spPr>
            <a:xfrm>
              <a:off x="566928" y="440740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① 저장소 접속</a:t>
              </a:r>
              <a:endParaRPr lang="en-US" sz="125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566928" y="4718304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A6B64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QR 또는 주소로 이동</a:t>
              </a:r>
              <a:endParaRPr lang="en-US" sz="1050" dirty="0"/>
            </a:p>
          </p:txBody>
        </p:sp>
        <p:sp>
          <p:nvSpPr>
            <p:cNvPr id="23" name="Text 19"/>
            <p:cNvSpPr/>
            <p:nvPr/>
          </p:nvSpPr>
          <p:spPr>
            <a:xfrm>
              <a:off x="2564892" y="4599432"/>
              <a:ext cx="274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5C4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▶</a:t>
              </a:r>
              <a:endParaRPr lang="en-US" sz="1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2834640" y="4279392"/>
              <a:ext cx="1993392" cy="932688"/>
            </a:xfrm>
            <a:prstGeom prst="roundRect">
              <a:avLst>
                <a:gd name="adj" fmla="val 5882"/>
              </a:avLst>
            </a:prstGeom>
            <a:solidFill>
              <a:srgbClr val="F1F5F3"/>
            </a:solidFill>
            <a:ln w="6350">
              <a:solidFill>
                <a:srgbClr val="A8BA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1"/>
            <p:cNvSpPr/>
            <p:nvPr/>
          </p:nvSpPr>
          <p:spPr>
            <a:xfrm>
              <a:off x="2834640" y="440740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② APK 내려받기</a:t>
              </a:r>
              <a:endParaRPr lang="en-US" sz="125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2834640" y="4718304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A6B64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Releases 에서 설치 파일 받기</a:t>
              </a:r>
              <a:endParaRPr lang="en-US" sz="1050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4832604" y="4599432"/>
              <a:ext cx="274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5C4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▶</a:t>
              </a:r>
              <a:endParaRPr lang="en-US" sz="1200" dirty="0"/>
            </a:p>
          </p:txBody>
        </p:sp>
        <p:sp>
          <p:nvSpPr>
            <p:cNvPr id="28" name="Shape 24"/>
            <p:cNvSpPr/>
            <p:nvPr/>
          </p:nvSpPr>
          <p:spPr>
            <a:xfrm>
              <a:off x="5102352" y="4279392"/>
              <a:ext cx="1993392" cy="932688"/>
            </a:xfrm>
            <a:prstGeom prst="roundRect">
              <a:avLst>
                <a:gd name="adj" fmla="val 5882"/>
              </a:avLst>
            </a:prstGeom>
            <a:solidFill>
              <a:srgbClr val="F1F5F3"/>
            </a:solidFill>
            <a:ln w="6350">
              <a:solidFill>
                <a:srgbClr val="A8BA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5"/>
            <p:cNvSpPr/>
            <p:nvPr/>
          </p:nvSpPr>
          <p:spPr>
            <a:xfrm>
              <a:off x="5102352" y="440740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③ 설치 · 권한 허용</a:t>
              </a:r>
              <a:endParaRPr lang="en-US" sz="1250" dirty="0"/>
            </a:p>
          </p:txBody>
        </p:sp>
        <p:sp>
          <p:nvSpPr>
            <p:cNvPr id="30" name="Text 26"/>
            <p:cNvSpPr/>
            <p:nvPr/>
          </p:nvSpPr>
          <p:spPr>
            <a:xfrm>
              <a:off x="5102352" y="4718304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A6B64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카메라 권한 1회 허용</a:t>
              </a:r>
              <a:endParaRPr lang="en-US" sz="1050" dirty="0"/>
            </a:p>
          </p:txBody>
        </p:sp>
        <p:sp>
          <p:nvSpPr>
            <p:cNvPr id="31" name="Text 27"/>
            <p:cNvSpPr/>
            <p:nvPr/>
          </p:nvSpPr>
          <p:spPr>
            <a:xfrm>
              <a:off x="7100316" y="4599432"/>
              <a:ext cx="274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5C4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▶</a:t>
              </a:r>
              <a:endParaRPr lang="en-US" sz="12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7370064" y="4279392"/>
              <a:ext cx="1993392" cy="932688"/>
            </a:xfrm>
            <a:prstGeom prst="roundRect">
              <a:avLst>
                <a:gd name="adj" fmla="val 5882"/>
              </a:avLst>
            </a:prstGeom>
            <a:solidFill>
              <a:srgbClr val="F1F5F3"/>
            </a:solidFill>
            <a:ln w="6350">
              <a:solidFill>
                <a:srgbClr val="A8BA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29"/>
            <p:cNvSpPr/>
            <p:nvPr/>
          </p:nvSpPr>
          <p:spPr>
            <a:xfrm>
              <a:off x="7370064" y="440740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④ 촬영 후 분석</a:t>
              </a:r>
              <a:endParaRPr lang="en-US" sz="1250" dirty="0"/>
            </a:p>
          </p:txBody>
        </p:sp>
        <p:sp>
          <p:nvSpPr>
            <p:cNvPr id="34" name="Text 30"/>
            <p:cNvSpPr/>
            <p:nvPr/>
          </p:nvSpPr>
          <p:spPr>
            <a:xfrm>
              <a:off x="7370064" y="4718304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A6B64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재활용품을 찍으면 품목 표시</a:t>
              </a:r>
              <a:endParaRPr lang="en-US" sz="1050" dirty="0"/>
            </a:p>
          </p:txBody>
        </p:sp>
        <p:sp>
          <p:nvSpPr>
            <p:cNvPr id="35" name="Text 31"/>
            <p:cNvSpPr/>
            <p:nvPr/>
          </p:nvSpPr>
          <p:spPr>
            <a:xfrm>
              <a:off x="9368028" y="4599432"/>
              <a:ext cx="2743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F5C4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▶</a:t>
              </a:r>
              <a:endParaRPr lang="en-US" sz="1200" dirty="0"/>
            </a:p>
          </p:txBody>
        </p:sp>
        <p:sp>
          <p:nvSpPr>
            <p:cNvPr id="36" name="Shape 32"/>
            <p:cNvSpPr/>
            <p:nvPr/>
          </p:nvSpPr>
          <p:spPr>
            <a:xfrm>
              <a:off x="9637776" y="4279392"/>
              <a:ext cx="1993392" cy="932688"/>
            </a:xfrm>
            <a:prstGeom prst="roundRect">
              <a:avLst>
                <a:gd name="adj" fmla="val 5882"/>
              </a:avLst>
            </a:prstGeom>
            <a:solidFill>
              <a:srgbClr val="DCE7E2"/>
            </a:solidFill>
            <a:ln w="6350">
              <a:solidFill>
                <a:srgbClr val="A8BAB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3"/>
            <p:cNvSpPr/>
            <p:nvPr/>
          </p:nvSpPr>
          <p:spPr>
            <a:xfrm>
              <a:off x="9637776" y="440740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143C32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⑤ 배출 안내 확인</a:t>
              </a:r>
              <a:endParaRPr lang="en-US" sz="1250" dirty="0"/>
            </a:p>
          </p:txBody>
        </p:sp>
        <p:sp>
          <p:nvSpPr>
            <p:cNvPr id="38" name="Text 34"/>
            <p:cNvSpPr/>
            <p:nvPr/>
          </p:nvSpPr>
          <p:spPr>
            <a:xfrm>
              <a:off x="9637776" y="4718304"/>
              <a:ext cx="1993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A6B64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품목별 안내 문구 확인</a:t>
              </a:r>
              <a:endParaRPr lang="en-US" sz="1050" dirty="0"/>
            </a:p>
          </p:txBody>
        </p:sp>
        <p:sp>
          <p:nvSpPr>
            <p:cNvPr id="39" name="Shape 35"/>
            <p:cNvSpPr/>
            <p:nvPr/>
          </p:nvSpPr>
          <p:spPr>
            <a:xfrm>
              <a:off x="566928" y="5504688"/>
              <a:ext cx="11064240" cy="411480"/>
            </a:xfrm>
            <a:prstGeom prst="rect">
              <a:avLst/>
            </a:prstGeom>
            <a:solidFill>
              <a:srgbClr val="FBF3E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6"/>
            <p:cNvSpPr/>
            <p:nvPr/>
          </p:nvSpPr>
          <p:spPr>
            <a:xfrm>
              <a:off x="731520" y="5504688"/>
              <a:ext cx="1073505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7A6A2E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탐지가 0건이면 품목을 단정하지 않고 각도·거리를 바꿔 다시 찍도록 안내합니다. 신뢰도가 비슷한 후보가 둘이면 함께 보여 줍니다.</a:t>
              </a:r>
              <a:endParaRPr lang="en-US" sz="1150" dirty="0"/>
            </a:p>
          </p:txBody>
        </p:sp>
      </p:grpSp>
      <p:sp>
        <p:nvSpPr>
          <p:cNvPr id="41" name="Text 37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청중이 직접 촬영하고 배출 안내를 확인하는 순서로 진행한다.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이뤄져 네트워크 없이 동작한다. 클래스별 신뢰도 기준 0.13 ~ 0.75, 없으면 0.45.</a:t>
            </a:r>
            <a:endParaRPr lang="en-US" sz="105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86B8415-B49D-4EBB-933A-B473F2DFDD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06" b="7857"/>
          <a:stretch/>
        </p:blipFill>
        <p:spPr>
          <a:xfrm>
            <a:off x="9487395" y="1514808"/>
            <a:ext cx="2207045" cy="414294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재활용품을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재활용품을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1264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젯슨은 자동 분류 장치로, 앱은 거리 재활용품 정리 서비스로 넓힐 수 있다. 다만 이번 검증 범위를 넘어선 계획이다.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 초기 — F1 74.76% · 배경 오탐 1/150장 · 한 장 9.1 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가장 높은 모델과 오탐이 가장 적은 모델이 서로 달라, 용도에 따라 골라야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이미지를 함께 학습시켜 없는 물체를 안내하는 오탐을 줄였다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이번 범위에서 확인한 것이고 오른쪽은 그 범위의 경계다. 두 상자를 함께 읽어야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1400" dirty="0"/>
          </a:p>
          <a:p>
            <a:pPr algn="r"/>
            <a:endParaRPr lang="en-US" altLang="ko-KR" sz="1400" dirty="0"/>
          </a:p>
          <a:p>
            <a:pPr algn="r"/>
            <a:r>
              <a:rPr lang="en-US" altLang="ko-KR" sz="1400" dirty="0"/>
              <a:t>Q&amp;A</a:t>
            </a:r>
            <a:r>
              <a:rPr lang="ko-KR" altLang="en-US" sz="1400" dirty="0"/>
              <a:t>는 메일로 받겠습니다</a:t>
            </a:r>
            <a:r>
              <a:rPr lang="en-US" altLang="ko-KR" sz="1400" dirty="0"/>
              <a:t>.</a:t>
            </a:r>
          </a:p>
          <a:p>
            <a:pPr algn="r"/>
            <a:r>
              <a:rPr lang="ko-KR" altLang="en-US" sz="1400" dirty="0"/>
              <a:t>구두질문은 안 받겠습니다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Mail : nh24390@naver.com</a:t>
            </a:r>
          </a:p>
        </p:txBody>
      </p:sp>
      <p:pic>
        <p:nvPicPr>
          <p:cNvPr id="6" name="Image 0" descr="/home/claude/work/fig/qr.png">
            <a:extLst>
              <a:ext uri="{FF2B5EF4-FFF2-40B4-BE49-F238E27FC236}">
                <a16:creationId xmlns:a16="http://schemas.microsoft.com/office/drawing/2014/main" id="{A24601ED-5A7E-ABA8-F99B-AC63F74B6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F4034E-EFFF-3671-6F30-AB10216D3B16}"/>
              </a:ext>
            </a:extLst>
          </p:cNvPr>
          <p:cNvSpPr txBox="1"/>
          <p:nvPr/>
        </p:nvSpPr>
        <p:spPr>
          <a:xfrm>
            <a:off x="8833103" y="3310128"/>
            <a:ext cx="2130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Github</a:t>
            </a:r>
            <a:r>
              <a:rPr lang="en-US" altLang="ko-KR" sz="1600" dirty="0"/>
              <a:t> APK</a:t>
            </a:r>
            <a:r>
              <a:rPr lang="ko-KR" altLang="en-US" sz="1600" dirty="0"/>
              <a:t>다운로드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4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6100</Words>
  <Application>Microsoft Office PowerPoint</Application>
  <PresentationFormat>와이드스크린</PresentationFormat>
  <Paragraphs>918</Paragraphs>
  <Slides>32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재활용품 분리배출 안내 앱</dc:title>
  <dc:subject>PptxGenJS Presentation</dc:subject>
  <dc:creator>물시느끝</dc:creator>
  <cp:lastModifiedBy>USER</cp:lastModifiedBy>
  <cp:revision>17</cp:revision>
  <dcterms:created xsi:type="dcterms:W3CDTF">2026-09-16T10:34:00Z</dcterms:created>
  <dcterms:modified xsi:type="dcterms:W3CDTF">2026-09-17T01:09:59Z</dcterms:modified>
</cp:coreProperties>
</file>