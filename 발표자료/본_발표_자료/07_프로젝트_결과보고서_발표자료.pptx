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3" r:id="rId18"/>
    <p:sldId id="274" r:id="rId19"/>
    <p:sldId id="275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96" r:id="rId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548" autoAdjust="0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35232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양식이 요구하는 5개 장 구성이라는 것만 짚고 빠르게 넘어간다.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재활용률 세 숫자(종이 47.7 · 플라스틱 55.8 · 유리 58.6%)로 문제를 연다.
실시간 연속 탐지에서 촬영 후 분석으로 바꾼 이유는 배경 오탐을 줄이기 위해서다.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5단계 흐름 칩을 왼쪽에서 오른쪽으로 짚는다.
핵심은 모든 추론이 기기 안에서 일어나 네트워크 없이 동작한다는 점이다.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팀원 역할은 빠르게 넘기고, 아래 공통 기준 카드 3장(지표 · 조건 · 장비)에 시간을 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기간 칩을 따라가다 표의 9/13 ~ 9/14 행(단계별 전이학습 · 공통 조건 재측정)에서 멈춘다.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 그림을 ①에서 ⑤까지 순서대로 짚는다. 위 크림색 줄(2단계 방식)은 대비용이므로 한 문장만.
오른쪽 표는 v1부터 읽지 말고 초록색 두 줄(YOLO11 · YOLO26)만 짚는다. 11n을 고른 이유는 슬라이드에 없으므로 말로 설명한다.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가로는 이미지를 줄이는 것, 아래로 내려가며 특징을 뽑는 것, 다시 키우는 것 — 세 단계로 읽는다.
"20픽셀짜리 물체는 두세 칸뿐"이라는 말로 25쪽 작은 물체 문제의 복선을 깐다.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앞 장과 같은 자리를 짚어 "구조는 같다"를 보인 뒤, 2.59M → 9.95M (3.8배)만 강조한다.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 박스 사진과 오른쪽 봉지 사진을 나란히 짚는다.
오른쪽은 구겨진 봉지와 비스듬한 물체라 박스 선과 외곽선 사이 빈 공간이 눈에 보인다. 그 공간을 손으로 가리킨다.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62,236장 · 배경 3,000장 · 10.68GB 세 숫자만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큰 숫자 80 / 15 / 5를 먼저 짚고, 이유 카드 ①②③을 차례로 짚는다.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품목 6종 칩만 읽고 바로 아래로 내려간다.
general을 뺀 이유 셋 중 "3,677객체 중 82개, 2.2%"를 짚는다. 학습이 7클래스였다는 이야기는 먼저 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배경 이미지(객체가 없는 사진)와 라벨 누락(객체는 있는데 라벨만 빠진 것)을 구분하는 것이 이 장의 핵심이다.
11만 8천 장에서 3천 장을 고른 기준 세 가지를 차례로 짚는다.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전이학습과 미세 조정의 정의를 한 줄씩 말한다.
표에서는 학습률이 1e-4 → 5e-6 으로 내려가는 흐름과, 층 고정이 2차에만 걸려 있다는 점만 짚는다.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 6곳은 빠르게 넘기고, 아래 실제 오인식 사례(수건 → 비닐 등)에 시간을 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크기를 맞추고 라벨 형식만 바꾼 비교다. mAP는 분할이 +5.79%p 앞서지만 앱이 쓰는 F1은 0.73%p 차이뿐이다.
오른쪽 크림색 카드(정답이 분할 폴리곤에서 나왔다)를 반드시 함께 읽어 한계를 밝힌다.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규모만 3.8배 키운 비교다. +3.19%p를 연산량 2.90배와 용량 3.7배로 산 셈이라고 정리한다.
end2end=False 로 돌려 YOLO26의 NMS-free 이점이 빠졌다는 한계를 반드시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같은 모델에 학습 단계만 더한 비교다. 1차에서 크게 떨어진 뒤 회복했지만 초기 64.1을 넘지 못했다.
그림의 세로축이 54~67 구간이라 변화가 과장돼 보인다는 점을 덧붙인다.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 그래프에서 battery · can · paper가 높고 plastic · glass · general이 낮다는 것만 짚는다.
오른쪽 표는 초록으로 표시한 두 줄(YOLO26s 78.8 · 검출 최종 전이 78.2)만 읽는다. mAP 60%대와 F1 75%대가 다른 이유는 지표 정의 차이라고 한 문장으로 정리한다.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대조 47.82% 기준으로 밝기 −2.84%p, 흐림 −31.29%p 다. 흐림에 특히 약하다는 것이 이 장의 결론이다.
재촬영 안내와 후보 병기로 대응했고 남은 과제라는 점까지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가림 장면은 6/7, 혼합 장면은 0/6이다.
혼합 장면에서 플라스틱 · 종이 · 비닐을 서로 혼동한다는 것이 핵심이다.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위 두 띠를 먼저 읽어 놓친 885개와 틀린 674개를 갈라 보인다.
혼동 지도는 진한 칸 두세 개만 짚고, 오른쪽 카드의 "비닐 → 종이 1,208"과 "아주 작음 36.9%"에 시간을 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카메라 · 전처리 · 추론 · NMS는 플러그인이 네이티브에서 처리하고 앱은 배출 안내만 얹는다.
클래스별 신뢰도 기준 0.13 ~ 0.75는 F1이 최대가 되는 지점을 재서 정한 값이다.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구현이 끝난 것과 남은 것을 나눠 읽는다. 앱은 완성해 실제 기기에서 동작한다는 점을 분명히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같은 마커펜 하나가 프레임마다 다섯 번 다르게 판정된 이야기가 이 장의 중심이다.
성능을 재는 자료가 아니라 동작을 보여 주는 화면임을 먼저 밝힌다.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.pt 실행 1~2 FPS에서 TensorRT 변환 후 9~17 FPS로 올라간 것이 먼저다.
CPU에서 2.90배였던 YOLO11n과 YOLO26s 차이가 젯슨에서 1.09배로 좁혀진 것이 핵심이다.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QR을 먼저 찍게 한 뒤 시연 순서 칩을 따라간다.
발표 전 저장소를 공개로 바꾸고 주소와 QR을 교체했는지 반드시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젯슨은 액추에이터 자동 분류로, 앱은 거리 재활용품 감지로 넓힐 수 있다.
두 방향 모두 이번에 검증한 범위를 넘어선 계획이라는 점을 분명히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이번 범위에서 확인한 것, 오른쪽은 그 범위의 경계다.
오른쪽 세 줄을 화살표 기준으로 하나씩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정확도 1위 모델과 오탐이 적은 모델이 서로 다르다. 용도별로 골라야 한다는 것이 결론이다.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jpg"/><Relationship Id="rId3" Type="http://schemas.openxmlformats.org/officeDocument/2006/relationships/image" Target="../media/image11.jpg"/><Relationship Id="rId7" Type="http://schemas.openxmlformats.org/officeDocument/2006/relationships/image" Target="../media/image15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jpg"/><Relationship Id="rId5" Type="http://schemas.openxmlformats.org/officeDocument/2006/relationships/image" Target="../media/image13.jpg"/><Relationship Id="rId4" Type="http://schemas.openxmlformats.org/officeDocument/2006/relationships/image" Target="../media/image12.jp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jpg"/><Relationship Id="rId4" Type="http://schemas.openxmlformats.org/officeDocument/2006/relationships/image" Target="../media/image18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.xml"/><Relationship Id="rId4" Type="http://schemas.openxmlformats.org/officeDocument/2006/relationships/audio" Target="../media/audio1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5C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FD8C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005840" y="1143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분석 3모듈 프로젝트  /  결과 발표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05840" y="169164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이미지 기반 재활용품 분리배출 안내 앱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1005840" y="26517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CE7E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비교 · 전이학습 결과 · 오류 원인 분석 · 앱 구현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005840" y="3429000"/>
            <a:ext cx="1463040" cy="45720"/>
          </a:xfrm>
          <a:prstGeom prst="rect">
            <a:avLst/>
          </a:prstGeom>
          <a:solidFill>
            <a:srgbClr val="BFD8C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005840" y="3886200"/>
            <a:ext cx="868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팀명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011680" y="3886200"/>
            <a:ext cx="8778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물시느끝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4306824"/>
            <a:ext cx="868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011680" y="4306824"/>
            <a:ext cx="8778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이남호(팀장) · 김아인 · 오승재 · 여동엽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4727448"/>
            <a:ext cx="868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011680" y="4727448"/>
            <a:ext cx="8778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09. 07. ~ 2026. 09. 16.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57607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2026. 09. 16.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005840" y="96012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  차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1051560" y="1719072"/>
            <a:ext cx="1371600" cy="45720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1005840" y="2240280"/>
            <a:ext cx="10149840" cy="676656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1005840" y="2240280"/>
            <a:ext cx="804672" cy="676656"/>
          </a:xfrm>
          <a:prstGeom prst="rect">
            <a:avLst/>
          </a:prstGeom>
          <a:solidFill>
            <a:srgbClr val="DCE7E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1005840" y="2240280"/>
            <a:ext cx="80467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2057400" y="2286000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개요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2057400" y="2587752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배경 · 접근 전환 · 시스템 흐름 · 서비스 목표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1005840" y="3026664"/>
            <a:ext cx="10149840" cy="676656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1005840" y="3026664"/>
            <a:ext cx="804672" cy="676656"/>
          </a:xfrm>
          <a:prstGeom prst="rect">
            <a:avLst/>
          </a:prstGeom>
          <a:solidFill>
            <a:srgbClr val="DCE7E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1005840" y="3026664"/>
            <a:ext cx="80467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2057400" y="3072384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팀 구성 및 역할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2057400" y="3374136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팀원별 담당 업무와 모든 비교에 적용한 공통 기준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1005840" y="3813048"/>
            <a:ext cx="10149840" cy="676656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1005840" y="3813048"/>
            <a:ext cx="804672" cy="676656"/>
          </a:xfrm>
          <a:prstGeom prst="rect">
            <a:avLst/>
          </a:prstGeom>
          <a:solidFill>
            <a:srgbClr val="DCE7E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/>
          <p:nvPr/>
        </p:nvSpPr>
        <p:spPr>
          <a:xfrm>
            <a:off x="1005840" y="3813048"/>
            <a:ext cx="80467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2057400" y="3858768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절차 및 방법</a:t>
            </a:r>
            <a:endParaRPr lang="en-US" sz="1550" dirty="0"/>
          </a:p>
        </p:txBody>
      </p:sp>
      <p:sp>
        <p:nvSpPr>
          <p:cNvPr id="20" name="Text 17"/>
          <p:cNvSpPr/>
          <p:nvPr/>
        </p:nvSpPr>
        <p:spPr>
          <a:xfrm>
            <a:off x="2057400" y="416052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선정 · 모델 구조 · 라벨링 · 데이터 구성 · 전이학습 전략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1005840" y="4599432"/>
            <a:ext cx="10149840" cy="676656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9"/>
          <p:cNvSpPr/>
          <p:nvPr/>
        </p:nvSpPr>
        <p:spPr>
          <a:xfrm>
            <a:off x="1005840" y="4599432"/>
            <a:ext cx="804672" cy="676656"/>
          </a:xfrm>
          <a:prstGeom prst="rect">
            <a:avLst/>
          </a:prstGeom>
          <a:solidFill>
            <a:srgbClr val="DCE7E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1005840" y="4599432"/>
            <a:ext cx="80467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900" dirty="0"/>
          </a:p>
        </p:txBody>
      </p:sp>
      <p:sp>
        <p:nvSpPr>
          <p:cNvPr id="24" name="Text 21"/>
          <p:cNvSpPr/>
          <p:nvPr/>
        </p:nvSpPr>
        <p:spPr>
          <a:xfrm>
            <a:off x="2057400" y="4645152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경과</a:t>
            </a:r>
            <a:endParaRPr lang="en-US" sz="1550" dirty="0"/>
          </a:p>
        </p:txBody>
      </p:sp>
      <p:sp>
        <p:nvSpPr>
          <p:cNvPr id="25" name="Text 22"/>
          <p:cNvSpPr/>
          <p:nvPr/>
        </p:nvSpPr>
        <p:spPr>
          <a:xfrm>
            <a:off x="2057400" y="4946904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학습 · 전이학습 · 모델 비교 · 오류 분석 · 앱과 젯슨 구현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1005840" y="5385816"/>
            <a:ext cx="10149840" cy="676656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4"/>
          <p:cNvSpPr/>
          <p:nvPr/>
        </p:nvSpPr>
        <p:spPr>
          <a:xfrm>
            <a:off x="1005840" y="5385816"/>
            <a:ext cx="804672" cy="676656"/>
          </a:xfrm>
          <a:prstGeom prst="rect">
            <a:avLst/>
          </a:prstGeom>
          <a:solidFill>
            <a:srgbClr val="DCE7E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5"/>
          <p:cNvSpPr/>
          <p:nvPr/>
        </p:nvSpPr>
        <p:spPr>
          <a:xfrm>
            <a:off x="1005840" y="5385816"/>
            <a:ext cx="80467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900" dirty="0"/>
          </a:p>
        </p:txBody>
      </p:sp>
      <p:sp>
        <p:nvSpPr>
          <p:cNvPr id="29" name="Text 26"/>
          <p:cNvSpPr/>
          <p:nvPr/>
        </p:nvSpPr>
        <p:spPr>
          <a:xfrm>
            <a:off x="2057400" y="5431536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평가 의견</a:t>
            </a:r>
            <a:endParaRPr lang="en-US" sz="1550" dirty="0"/>
          </a:p>
        </p:txBody>
      </p:sp>
      <p:sp>
        <p:nvSpPr>
          <p:cNvPr id="30" name="Text 27"/>
          <p:cNvSpPr/>
          <p:nvPr/>
        </p:nvSpPr>
        <p:spPr>
          <a:xfrm>
            <a:off x="2057400" y="5733288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성능 차이의 원인 분석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개요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배경 및 접근 전환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불편했는가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713232" y="1600200"/>
            <a:ext cx="10762488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재활용품 품목과 배출 기준을 각각 찾아야 해 정보 탐색이 번거롭다.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장에 한 품목만 확인하는 방식은 여러 품목을 한 번에 버리는 실제 상황과 맞지 않는다.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 데이터셋은 해외 촬영 환경 위주여서 국내 생활 재활용품의 조명 · 배경 조건과 차이가 있다.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66928" y="2697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9월 11일 입력 방식 전환 — 카메라 연속 추론에서 사진 분석으로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66928" y="308152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246120"/>
          <a:ext cx="11055096" cy="2414016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00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초기 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현재 방향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카메라 연속 추론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사진 촬영 후 분석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YOLO 객체 탐지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여러 품목의 위치 · 종류 표시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YOLO11n 중심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YOLO11n 계열 · YOLO26s 비교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자체 촬영 후 전이학습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외부 평가로 취약 장면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실행 환경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안드로이드 · 젯슨 오린 나노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앱 연동 · 기기 성능 검증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배출 단계의 분류 오류를 줄이려고, 실시간 연속 탐지 대신 촬영 후 분석 방식으로 방향을 바꿨다.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품목별 재활용률 — 종이 47.7% · 플라스틱 55.8% · 유리 58.6% · 금속 74.5% (환경부 환경통계연감 2021, 2020년 기준).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개요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흐름과 서비스 목표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사진 한 장이 배출 안내가 되기까지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566928" y="1691640"/>
            <a:ext cx="1993392" cy="960120"/>
          </a:xfrm>
          <a:prstGeom prst="roundRect">
            <a:avLst>
              <a:gd name="adj" fmla="val 5714"/>
            </a:avLst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566928" y="1819656"/>
            <a:ext cx="19933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사진 입력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66928" y="2130552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촬영 · 선택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2564892" y="2025396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834640" y="1691640"/>
            <a:ext cx="1993392" cy="960120"/>
          </a:xfrm>
          <a:prstGeom prst="roundRect">
            <a:avLst>
              <a:gd name="adj" fmla="val 5714"/>
            </a:avLst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2834640" y="1819656"/>
            <a:ext cx="19933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전처리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2834640" y="2130552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 · 정규화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832604" y="2025396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102352" y="1691640"/>
            <a:ext cx="1993392" cy="960120"/>
          </a:xfrm>
          <a:prstGeom prst="roundRect">
            <a:avLst>
              <a:gd name="adj" fmla="val 5714"/>
            </a:avLst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5102352" y="1819656"/>
            <a:ext cx="19933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객체 검출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5102352" y="2130552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 · 위치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7100316" y="2025396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370064" y="1691640"/>
            <a:ext cx="1993392" cy="960120"/>
          </a:xfrm>
          <a:prstGeom prst="roundRect">
            <a:avLst>
              <a:gd name="adj" fmla="val 5714"/>
            </a:avLst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370064" y="1819656"/>
            <a:ext cx="19933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후처리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7370064" y="2130552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신뢰도 · NMS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9368028" y="2025396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9637776" y="1691640"/>
            <a:ext cx="1993392" cy="960120"/>
          </a:xfrm>
          <a:prstGeom prst="roundRect">
            <a:avLst>
              <a:gd name="adj" fmla="val 5714"/>
            </a:avLst>
          </a:prstGeom>
          <a:solidFill>
            <a:srgbClr val="DCE7E2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4"/>
          <p:cNvSpPr/>
          <p:nvPr/>
        </p:nvSpPr>
        <p:spPr>
          <a:xfrm>
            <a:off x="9637776" y="1819656"/>
            <a:ext cx="19933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표시 · 안내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9637776" y="2130552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박스 · 배출법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66928" y="2880360"/>
            <a:ext cx="11064240" cy="411480"/>
          </a:xfrm>
          <a:prstGeom prst="rect">
            <a:avLst/>
          </a:prstGeom>
          <a:solidFill>
            <a:srgbClr val="FBF3E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7"/>
          <p:cNvSpPr/>
          <p:nvPr/>
        </p:nvSpPr>
        <p:spPr>
          <a:xfrm>
            <a:off x="731520" y="2880360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결과가 없으면 각도 · 거리를 바꿔 다시 촬영하도록 안내하며, 사진은 저장하거나 외부로 전송하지 않는다.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566928" y="35661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 목표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566928" y="39502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0"/>
          <p:cNvSpPr/>
          <p:nvPr/>
        </p:nvSpPr>
        <p:spPr>
          <a:xfrm>
            <a:off x="566928" y="4114800"/>
            <a:ext cx="3493008" cy="173736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1"/>
          <p:cNvSpPr/>
          <p:nvPr/>
        </p:nvSpPr>
        <p:spPr>
          <a:xfrm>
            <a:off x="768096" y="4279392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 범위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786384" y="4645152"/>
            <a:ext cx="3054096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6종 분리배출 안내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장에서 여러 품목을 함께 인식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4352544" y="4114800"/>
            <a:ext cx="3493008" cy="173736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4"/>
          <p:cNvSpPr/>
          <p:nvPr/>
        </p:nvSpPr>
        <p:spPr>
          <a:xfrm>
            <a:off x="4553712" y="4279392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품목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4572000" y="4645152"/>
            <a:ext cx="3054096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· 플라스틱 · 비닐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캔 · 유리 · 배터리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8138160" y="4114800"/>
            <a:ext cx="3493008" cy="173736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7"/>
          <p:cNvSpPr/>
          <p:nvPr/>
        </p:nvSpPr>
        <p:spPr>
          <a:xfrm>
            <a:off x="8339328" y="4279392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환경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8357616" y="4645152"/>
            <a:ext cx="3054096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안드로이드 앱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젯슨 오린 나노 설치형</a:t>
            </a:r>
            <a:endParaRPr lang="en-US" sz="1150" dirty="0"/>
          </a:p>
        </p:txBody>
      </p:sp>
      <p:sp>
        <p:nvSpPr>
          <p:cNvPr id="42" name="Text 39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사진 한 장을 받아 품목과 배출 방법까지 안내하는 것이 목표이며, 추론은 모두 기기 안에서 이뤄진다.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 안내 품목은 종이 · 플라스틱 · 비닐 · 캔 · 유리 · 배터리 6종이다. 범위를 그렇게 정한 이유는 13쪽에 있다.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팀 구성 및 역할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팀원별 담당 업무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구성 : 물시느끝 (4인)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5096" cy="256032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94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826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역할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업무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산출물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이남호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일정 · 요구사항 · 통합 점검 · 발표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수행계획서 · 통합 점검 자료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김아인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 수집 · 라벨 기준 · 품질 검수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데이터셋 · 라벨링 기준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오승재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모델 학습 · 평가 · 변환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 모델 · 성능 비교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여동엽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Flutter 앱 · SEG 시험 · 젯슨 연동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앱 · 모델 시험 기록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66928" y="431596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비교에 공통으로 적용한 기준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66928" y="4700016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566928" y="4809744"/>
            <a:ext cx="3493008" cy="1207008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/>
          <p:cNvSpPr/>
          <p:nvPr/>
        </p:nvSpPr>
        <p:spPr>
          <a:xfrm>
            <a:off x="768096" y="4974336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68096" y="5340096"/>
            <a:ext cx="3090672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mAP50 · mAP50–95 · 정밀도 · 재현율을 같은 정의로 산출한다.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4352544" y="4809744"/>
            <a:ext cx="3493008" cy="1207008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/>
          <p:cNvSpPr/>
          <p:nvPr/>
        </p:nvSpPr>
        <p:spPr>
          <a:xfrm>
            <a:off x="4553712" y="4974336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4553712" y="5340096"/>
            <a:ext cx="3090672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동일한 외부 입력과 후처리 설정을 네 모델에 똑같이 적용한다.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8138160" y="4809744"/>
            <a:ext cx="3493008" cy="1207008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/>
          <p:cNvSpPr/>
          <p:nvPr/>
        </p:nvSpPr>
        <p:spPr>
          <a:xfrm>
            <a:off x="8339328" y="4974336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장비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8339328" y="5340096"/>
            <a:ext cx="3090672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CPU 측정값과 실제 기기 측정값을 구분해 기록한다.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사람이 과제를 나누되 지표 · 조건 · 장비는 하나로 통일해, 뒤에 나오는 수치를 서로 비교할 수 있게 했다.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절차 및 방법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수행 경과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준비에서 앱 구현까지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566928" y="1645920"/>
            <a:ext cx="1993392" cy="960120"/>
          </a:xfrm>
          <a:prstGeom prst="roundRect">
            <a:avLst>
              <a:gd name="adj" fmla="val 5714"/>
            </a:avLst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566928" y="1773936"/>
            <a:ext cx="19933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준비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66928" y="2084832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9/7~9/9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2564892" y="1979676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834640" y="1645920"/>
            <a:ext cx="1993392" cy="960120"/>
          </a:xfrm>
          <a:prstGeom prst="roundRect">
            <a:avLst>
              <a:gd name="adj" fmla="val 5714"/>
            </a:avLst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2834640" y="1773936"/>
            <a:ext cx="19933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학습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2834640" y="2084832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9/10~9/11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832604" y="1979676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102352" y="1645920"/>
            <a:ext cx="1993392" cy="960120"/>
          </a:xfrm>
          <a:prstGeom prst="roundRect">
            <a:avLst>
              <a:gd name="adj" fmla="val 5714"/>
            </a:avLst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5102352" y="1773936"/>
            <a:ext cx="19933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3종 </a:t>
            </a:r>
            <a:r>
              <a:rPr lang="en-US" sz="1250" b="1" dirty="0" err="1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5102352" y="2084832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9/12~9/13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7100316" y="1979676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370064" y="1645920"/>
            <a:ext cx="1993392" cy="960120"/>
          </a:xfrm>
          <a:prstGeom prst="roundRect">
            <a:avLst>
              <a:gd name="adj" fmla="val 5714"/>
            </a:avLst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370064" y="1773936"/>
            <a:ext cx="19933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전이학습 · 보완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7370064" y="2084832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9/13~9/14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9368028" y="1979676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9637776" y="1645920"/>
            <a:ext cx="1993392" cy="960120"/>
          </a:xfrm>
          <a:prstGeom prst="roundRect">
            <a:avLst>
              <a:gd name="adj" fmla="val 5714"/>
            </a:avLst>
          </a:prstGeom>
          <a:solidFill>
            <a:srgbClr val="DCE7E2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4"/>
          <p:cNvSpPr/>
          <p:nvPr/>
        </p:nvSpPr>
        <p:spPr>
          <a:xfrm>
            <a:off x="9637776" y="1773936"/>
            <a:ext cx="19933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· 결과 정리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9637776" y="2084832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9/15~9/16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66928" y="29718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일자별 진행 상황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566928" y="335584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1221910"/>
              </p:ext>
            </p:extLst>
          </p:nvPr>
        </p:nvGraphicFramePr>
        <p:xfrm>
          <a:off x="566928" y="3520440"/>
          <a:ext cx="11055096" cy="2523744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82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9/7 ~ 9/9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수집 · 클래스 정리 · 라벨 기준 수립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6종 · 7클래스 확정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9/10 ~ 9/11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초기 학습 3건, 사진 입력 방식으로 전환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 모델 확보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9/12 ~ 9/13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 err="1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모델</a:t>
                      </a: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3종 · 배경 · 밝기 · 흐림 시험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확장 비교보고서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9/13 ~ 9/14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단계별 전이학습 · 공통 조건 재측정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 err="1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모델</a:t>
                      </a: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3종 비교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9/15 ~ 9/16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앱 · 젯슨 점검, 결과 정리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앱 동작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2" name="Text 28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8일 동안 데이터 구축 → 1차 학습 → 전이학습 → 공통 조건 재측정 순으로 진행했다.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계획 기간 : 2026. 09. 07. ~ 09. 16.  (주말 09/12~09/13 포함 작업)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절차 및 방법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선정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YOLO는 사진을 한 번만 통과시켜 위치와 품목을 같이 낸다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/home/claude/work/fig/f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81328"/>
            <a:ext cx="6903720" cy="406736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680960" y="1481328"/>
            <a:ext cx="39502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버전별 특징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7680960" y="1792224"/>
            <a:ext cx="82296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7680960" y="1956816"/>
            <a:ext cx="3950208" cy="694944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/>
          <p:cNvSpPr/>
          <p:nvPr/>
        </p:nvSpPr>
        <p:spPr>
          <a:xfrm>
            <a:off x="7845552" y="2029968"/>
            <a:ext cx="36210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v1 ~ v3   2016 – 2018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7845552" y="2267712"/>
            <a:ext cx="3621024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격자로 나눠 한 번에 예측 → 앵커 박스 → 세 해상도 예측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7680960" y="2724912"/>
            <a:ext cx="3950208" cy="694944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/>
          <p:cNvSpPr/>
          <p:nvPr/>
        </p:nvSpPr>
        <p:spPr>
          <a:xfrm>
            <a:off x="7845552" y="2798064"/>
            <a:ext cx="36210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v4 ~ v7   2020 – 2022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845552" y="3035808"/>
            <a:ext cx="3621024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CSP 백본 · 앵커프리 헤드 · 학습 도구 정착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7680960" y="3493008"/>
            <a:ext cx="3950208" cy="694944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/>
          <p:cNvSpPr/>
          <p:nvPr/>
        </p:nvSpPr>
        <p:spPr>
          <a:xfrm>
            <a:off x="7845552" y="3566160"/>
            <a:ext cx="36210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v8   2023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7845552" y="3803904"/>
            <a:ext cx="3621024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앵커프리를 기본으로, 검출 · 분할 · 자세를 한 틀에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7680960" y="4261104"/>
            <a:ext cx="3950208" cy="694944"/>
          </a:xfrm>
          <a:prstGeom prst="rect">
            <a:avLst/>
          </a:prstGeom>
          <a:solidFill>
            <a:srgbClr val="BFD8CE"/>
          </a:solidFill>
          <a:ln w="12700">
            <a:solidFill>
              <a:srgbClr val="1F5C4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9"/>
          <p:cNvSpPr/>
          <p:nvPr/>
        </p:nvSpPr>
        <p:spPr>
          <a:xfrm>
            <a:off x="7845552" y="4334256"/>
            <a:ext cx="36210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YOLO11   2024. 09.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7845552" y="4572000"/>
            <a:ext cx="3621024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백본 · 넥 개선 — 더 적은 파라미터로 같은 정확도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7680960" y="5029200"/>
            <a:ext cx="3950208" cy="694944"/>
          </a:xfrm>
          <a:prstGeom prst="rect">
            <a:avLst/>
          </a:prstGeom>
          <a:solidFill>
            <a:srgbClr val="BFD8CE"/>
          </a:solidFill>
          <a:ln w="12700">
            <a:solidFill>
              <a:srgbClr val="1F5C4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/>
          <p:cNvSpPr/>
          <p:nvPr/>
        </p:nvSpPr>
        <p:spPr>
          <a:xfrm>
            <a:off x="7845552" y="5102352"/>
            <a:ext cx="36210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YOLO26   2026. 01.</a:t>
            </a:r>
            <a:endParaRPr lang="en-US" sz="1150" dirty="0"/>
          </a:p>
        </p:txBody>
      </p:sp>
      <p:sp>
        <p:nvSpPr>
          <p:cNvPr id="27" name="Text 23"/>
          <p:cNvSpPr/>
          <p:nvPr/>
        </p:nvSpPr>
        <p:spPr>
          <a:xfrm>
            <a:off x="7845552" y="5340096"/>
            <a:ext cx="3621024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NMS · DFL 제거 — CPU 추론 최대 43% 단축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566928" y="5907024"/>
            <a:ext cx="10424160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영역 후보를 따로 만들지 않고 한 번의 추론으로 위치와 품목을 함께 내기 때문에 저사양 장비에서 쓸 수 있다.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과제의 기준 모델은 YOLO11n, 비교 대상은 YOLO26s다.  YOLO11n 파라미터 2,591,205개 · 6.5 GFLOPs · 가중치 5.5 MB.  공식 COCO 기준 mAP50–95 39.5% · CPU ONNX 56.1 ms (Ultralytics).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절차 및 방법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구조 ①  YOLO11n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백본이 특징을 뽑고, 넥이 해상도를 합치고, 헤드가 세 해상도에서 동시에 예측한다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/home/claude/work/fig/f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72768"/>
            <a:ext cx="8138160" cy="445338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823960" y="1600200"/>
            <a:ext cx="2807208" cy="438912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8"/>
          <p:cNvSpPr/>
          <p:nvPr/>
        </p:nvSpPr>
        <p:spPr>
          <a:xfrm>
            <a:off x="8988552" y="1737360"/>
            <a:ext cx="2478024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읽는 법
</a:t>
            </a:r>
            <a:r>
              <a:rPr lang="en-US" sz="10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가로는 사진이 줄어드는 정도(1/2 → 1/32, 640px 기준 320 → 20px), 세로는 역할이다.
보라 = 백본(특징 뽑기)
파랑 = 넥(해상도 합치기)
초록 = 헤드(최종 예측)
주황 화살표 = 건너뛰는 연결
</a:t>
            </a:r>
            <a:r>
              <a:rPr lang="en-US" sz="1050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헤드로 세 갈래가 들어간다. 작은 물체는 가장 촘촘한 1/8이 맡는다.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해상도를 32분의 1까지 줄이며 특징을 뽑기 때문에, 작은 물체는 남는 칸이 두세 개뿐이라 놓치기 쉽다.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체크포인트에서 읽은 실제 구성 — 전체 2.59M(백본 1.37M · 넥 0.79M · 헤드 0.43M) · 6.5 GFLOPs.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절차 및 방법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구조 ②  YOLO26s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 구성은 같고, 같은 자리의 층이 더 두꺼워졌을 뿐이다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/home/claude/work/fig/f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72768"/>
            <a:ext cx="8138160" cy="445338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823960" y="1600200"/>
            <a:ext cx="2807208" cy="438912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8"/>
          <p:cNvSpPr/>
          <p:nvPr/>
        </p:nvSpPr>
        <p:spPr>
          <a:xfrm>
            <a:off x="8988552" y="1737360"/>
            <a:ext cx="2478024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YOLO11n과 무엇이 다른가
</a:t>
            </a:r>
            <a:r>
              <a:rPr lang="en-US" sz="10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 구성과 연결은 그대로다. 같은 자리의 층에 채널이 많아 파라미터만 늘었다.
백본   1.37M → 5.44M  (4.0배)
넥     0.79M → 3.57M  (4.5배)
헤드   0.43M → 0.94M  (2.2배)
전체   2.59M → 9.95M  (3.8배)
연산량  6.5 → 22.8 GFLOPs
</a:t>
            </a:r>
            <a:r>
              <a:rPr lang="en-US" sz="1050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구조를 바꾸지 않았으므로 성능 차이는 규모와 학습 설정에서 나온 것이다.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YOLO26s는 YOLO11n과 구조가 같고 규모만 3.8배다. 정확도는 오르지만 그만큼 연산량을 쓴다.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백본 1.37M → 5.44M · 넥 0.79M → 3.57M · 헤드 0.43M → 0.94M. 두 모델의 성능 차이는 19쪽 비교 ② 와 29쪽 젯슨 시연에서 확인한다.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절차 및 방법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라벨링 방식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사진을 박스와 외곽선 두 방식으로 각각 라벨링했다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566928" y="1517904"/>
            <a:ext cx="5385816" cy="374904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786384" y="1581912"/>
            <a:ext cx="49469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바운딩 박스  —  검출 데이터셋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86384" y="1837944"/>
            <a:ext cx="494690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객체를 감싸는 가장 작은 사각형의 중심과 크기를 기록한다</a:t>
            </a:r>
            <a:endParaRPr lang="en-US" sz="1050" dirty="0"/>
          </a:p>
        </p:txBody>
      </p:sp>
      <p:pic>
        <p:nvPicPr>
          <p:cNvPr id="13" name="Image 0" descr="/home/claude/work/fig/f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" y="2121408"/>
            <a:ext cx="4846320" cy="211703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49808" y="4275021"/>
            <a:ext cx="5020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배치 시각화 · 숫자는 클래스 번호 (3 glass · 5 vinyl)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841248" y="4663440"/>
            <a:ext cx="483717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   중심 x   중심 y   너비   높이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841248" y="4937760"/>
            <a:ext cx="48371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줄이 객체 하나 · 좌표는 0 ~ 1 값 · 박스 안에 배경이 함께 들어간다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6245352" y="1517904"/>
            <a:ext cx="5385816" cy="374904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4"/>
          <p:cNvSpPr/>
          <p:nvPr/>
        </p:nvSpPr>
        <p:spPr>
          <a:xfrm>
            <a:off x="6464808" y="1581912"/>
            <a:ext cx="49469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세그멘테이션  —  분할 데이터셋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6464808" y="1837944"/>
            <a:ext cx="494690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객체 외곽선을 따라가는 꼭짓점 좌표를 차례로 기록한다</a:t>
            </a:r>
            <a:endParaRPr lang="en-US" sz="1050" dirty="0"/>
          </a:p>
        </p:txBody>
      </p:sp>
      <p:pic>
        <p:nvPicPr>
          <p:cNvPr id="20" name="Image 1" descr="/home/claude/work/fig/f2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5100" y="2121408"/>
            <a:ext cx="4846320" cy="2117037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428232" y="4275021"/>
            <a:ext cx="5020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배치 시각화 · 숫자는 클래스 번호 (2 plastic · 0 general)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6519672" y="4663440"/>
            <a:ext cx="483717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   x₁ y₁   x₂ y₂   …   xₙ yₙ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6519672" y="4937760"/>
            <a:ext cx="48371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 수는 물체마다 다르다 · 구겨지거나 비스듬한 물체일수록 박스와 차이가 크다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566928" y="5413248"/>
            <a:ext cx="11064240" cy="566928"/>
          </a:xfrm>
          <a:prstGeom prst="rect">
            <a:avLst/>
          </a:prstGeom>
          <a:solidFill>
            <a:srgbClr val="FBF3E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0"/>
          <p:cNvSpPr/>
          <p:nvPr/>
        </p:nvSpPr>
        <p:spPr>
          <a:xfrm>
            <a:off x="731520" y="5413248"/>
            <a:ext cx="1073505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데이터셋의 클래스 번호 순서가 서로 다르다 — 검출 0 paper · 1 plastic · 2 can · 3 glass · 4 battery · 5 vinyl · 6 general  /  분할 0 general · 1 can · 2 plastic · 3 paper · 4 glass · 5 vinyl · 6 battery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66928" y="6089904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원본 사진에서 두 벌의 라벨을 각각 만들었다. 번호를 맞추지 않고 섞으면 학습은 되지만 성능이 무너진다.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 라벨 90,424개 · 분할 라벨 90,423개. 분할 라벨 중 6,678개(7.4%)는 꼭짓점이 4개다. 두 방식을 같은 크기로 맞춰 비교한 결과는 18쪽 비교 ① 에 있다.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절차 및 방법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구성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클래스당 10,000장 기준으로 모아 62,236장을 구축했다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566928" y="1572768"/>
            <a:ext cx="3493008" cy="1417320"/>
          </a:xfrm>
          <a:prstGeom prst="rect">
            <a:avLst/>
          </a:prstGeom>
          <a:solidFill>
            <a:srgbClr val="DCE7E2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566928" y="1719072"/>
            <a:ext cx="349300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62,236장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566928" y="2359152"/>
            <a:ext cx="3493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원본 이미지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66928" y="2624328"/>
            <a:ext cx="3493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 · 분할 두 데이터셋이 같은 사진에서 나왔다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352544" y="1572768"/>
            <a:ext cx="3493008" cy="141732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4352544" y="1719072"/>
            <a:ext cx="349300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3,000장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4352544" y="2359152"/>
            <a:ext cx="3493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 이미지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352544" y="2624328"/>
            <a:ext cx="3493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7개 클래스가 없는 COCO 사진 · 전체의 4.8%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138160" y="1572768"/>
            <a:ext cx="3493008" cy="141732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8138160" y="1719072"/>
            <a:ext cx="349300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10.68 GB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8138160" y="2359152"/>
            <a:ext cx="3493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640 변환 후 용량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8138160" y="2624328"/>
            <a:ext cx="3493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21.21 GB → 10.68 GB, 부가정보 제거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566928" y="32918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수량을 정한 기준과 실제 분할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566928" y="367588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94760"/>
          <a:ext cx="11055096" cy="1609344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854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train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test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검출 (bbox)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49,874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9,628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2,734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62,236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분할 (seg)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49,874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9,628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2,734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62,236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중 배경 사진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2,400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Shape 21"/>
          <p:cNvSpPr/>
          <p:nvPr/>
        </p:nvSpPr>
        <p:spPr>
          <a:xfrm>
            <a:off x="566928" y="5486400"/>
            <a:ext cx="11064240" cy="411480"/>
          </a:xfrm>
          <a:prstGeom prst="rect">
            <a:avLst/>
          </a:prstGeom>
          <a:solidFill>
            <a:srgbClr val="F1F5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/>
          <p:cNvSpPr/>
          <p:nvPr/>
        </p:nvSpPr>
        <p:spPr>
          <a:xfrm>
            <a:off x="731520" y="5486400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클래스별 최소 1만 장을 기준으로 잡고, 검수 범위와 학습 시간을 함께 고려해 규모를 정했다.  640×640 재변환 · JPEG 품질 85 · EXIF · GPS · XMP · ICC 제거.</a:t>
            </a:r>
            <a:endParaRPr lang="en-US" sz="1150" dirty="0"/>
          </a:p>
        </p:txBody>
      </p:sp>
      <p:sp>
        <p:nvSpPr>
          <p:cNvPr id="27" name="Text 23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클래스당 1만 장 기준으로 62,236장을 모았고, 그중 3,000장은 대상 객체가 없는 배경 사진이다.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데이터셋의 5,786장은 서로 다른 분할에 있어 평가 자료를 교차 사용하지 않는다.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절차 및 방법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분할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대 1.5 대 0.5로 학습 · 모델 선택 · 최종 평가를 분리한다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566928" y="1572768"/>
            <a:ext cx="3493008" cy="1417320"/>
          </a:xfrm>
          <a:prstGeom prst="rect">
            <a:avLst/>
          </a:prstGeom>
          <a:solidFill>
            <a:srgbClr val="DCE7E2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566928" y="1719072"/>
            <a:ext cx="349300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80%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566928" y="2359152"/>
            <a:ext cx="3493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train — 학습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66928" y="2624328"/>
            <a:ext cx="3493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49,874장 · 가중치를 학습한다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352544" y="1572768"/>
            <a:ext cx="3493008" cy="141732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4352544" y="1719072"/>
            <a:ext cx="349300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15%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4352544" y="2359152"/>
            <a:ext cx="3493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val — 모델 선택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352544" y="2624328"/>
            <a:ext cx="3493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9,628장 · 설정과 모델을 고른다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138160" y="1572768"/>
            <a:ext cx="3493008" cy="141732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8138160" y="1719072"/>
            <a:ext cx="349300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5%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8138160" y="2359152"/>
            <a:ext cx="3493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test — 최종 평가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8138160" y="2624328"/>
            <a:ext cx="3493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2,734장 · 선택이 끝난 뒤 한 번만 쓴다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566928" y="32004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 비율인가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566928" y="358444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1"/>
          <p:cNvSpPr/>
          <p:nvPr/>
        </p:nvSpPr>
        <p:spPr>
          <a:xfrm>
            <a:off x="566928" y="3703320"/>
            <a:ext cx="3493008" cy="1207008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768096" y="3867912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자료가 많을수록 학습 쪽으로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768096" y="4233672"/>
            <a:ext cx="3090672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수천 장 규모에서는 6 : 2 : 2, 수만 장이 넘으면 8 : 1 : 1 쪽으로 옮겨 잡는 것이 일반적이다. 62,236장은 뒤쪽에 속한다.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352544" y="3703320"/>
            <a:ext cx="3493008" cy="1207008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5"/>
          <p:cNvSpPr/>
          <p:nvPr/>
        </p:nvSpPr>
        <p:spPr>
          <a:xfrm>
            <a:off x="4553712" y="3867912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평가는 비율이 아니라 개수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4553712" y="4233672"/>
            <a:ext cx="3090672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test 5%가 2,734장 · 3,677객체다. 클래스마다 정답이 82 ~ 821개 있어 클래스별 성능을 잴 수 있다.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8138160" y="3703320"/>
            <a:ext cx="3493008" cy="1207008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8"/>
          <p:cNvSpPr/>
          <p:nvPr/>
        </p:nvSpPr>
        <p:spPr>
          <a:xfrm>
            <a:off x="8339328" y="3867912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val을 test보다 크게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8339328" y="4233672"/>
            <a:ext cx="3090672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val은 설정과 모델을 고르며 여러 번 본다. 흔들리면 잘못된 모델을 고른다. test는 마지막에 한 번만 본다.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566928" y="5074920"/>
            <a:ext cx="11064240" cy="731520"/>
          </a:xfrm>
          <a:prstGeom prst="rect">
            <a:avLst/>
          </a:prstGeom>
          <a:solidFill>
            <a:srgbClr val="FBF3E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1"/>
          <p:cNvSpPr/>
          <p:nvPr/>
        </p:nvSpPr>
        <p:spPr>
          <a:xfrm>
            <a:off x="731520" y="5074920"/>
            <a:ext cx="1073505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데이터에서 battery는 시험 자료가 0.4%(사진 40장 · 박스 159개), general은 0.3%(박스 38개)뿐이었다.  같은 원본 · 비슷한 장면 묶음 단위로 옮겨 세 클래스를 맞췄고, 평가용 박스가 battery 642개 · general 537개로 늘었다.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80 · 검증 15 · 평가 5로 나눴다. 비율 자체보다 각 칸에 들어가는 절대 장수가 판단 기준이었다.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val · test는 건드리지 않고 train에서만 옮겼다. 분할에 걸친 그룹 0개 · 이미지-라벨 쌍 불일치 0건.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절차 및 방법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 범위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분리배출 안내가 필요한 품목 6종에 집중했다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566928" y="1591056"/>
            <a:ext cx="1676400" cy="676656"/>
          </a:xfrm>
          <a:prstGeom prst="roundRect">
            <a:avLst>
              <a:gd name="adj" fmla="val 16216"/>
            </a:avLst>
          </a:prstGeom>
          <a:solidFill>
            <a:srgbClr val="DCE7E2"/>
          </a:solidFill>
          <a:ln w="9525">
            <a:solidFill>
              <a:srgbClr val="BFD8C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566928" y="1591056"/>
            <a:ext cx="16764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444496" y="1591056"/>
            <a:ext cx="1676400" cy="676656"/>
          </a:xfrm>
          <a:prstGeom prst="roundRect">
            <a:avLst>
              <a:gd name="adj" fmla="val 16216"/>
            </a:avLst>
          </a:prstGeom>
          <a:solidFill>
            <a:srgbClr val="DCE7E2"/>
          </a:solidFill>
          <a:ln w="9525">
            <a:solidFill>
              <a:srgbClr val="BFD8C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2444496" y="1591056"/>
            <a:ext cx="16764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플라스틱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322064" y="1591056"/>
            <a:ext cx="1676400" cy="676656"/>
          </a:xfrm>
          <a:prstGeom prst="roundRect">
            <a:avLst>
              <a:gd name="adj" fmla="val 16216"/>
            </a:avLst>
          </a:prstGeom>
          <a:solidFill>
            <a:srgbClr val="DCE7E2"/>
          </a:solidFill>
          <a:ln w="9525">
            <a:solidFill>
              <a:srgbClr val="BFD8C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4322064" y="1591056"/>
            <a:ext cx="16764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비닐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99632" y="1591056"/>
            <a:ext cx="1676400" cy="676656"/>
          </a:xfrm>
          <a:prstGeom prst="roundRect">
            <a:avLst>
              <a:gd name="adj" fmla="val 16216"/>
            </a:avLst>
          </a:prstGeom>
          <a:solidFill>
            <a:srgbClr val="DCE7E2"/>
          </a:solidFill>
          <a:ln w="9525">
            <a:solidFill>
              <a:srgbClr val="BFD8C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6199632" y="1591056"/>
            <a:ext cx="16764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캔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8077200" y="1591056"/>
            <a:ext cx="1676400" cy="676656"/>
          </a:xfrm>
          <a:prstGeom prst="roundRect">
            <a:avLst>
              <a:gd name="adj" fmla="val 16216"/>
            </a:avLst>
          </a:prstGeom>
          <a:solidFill>
            <a:srgbClr val="DCE7E2"/>
          </a:solidFill>
          <a:ln w="9525">
            <a:solidFill>
              <a:srgbClr val="BFD8C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8077200" y="1591056"/>
            <a:ext cx="16764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유리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9954768" y="1591056"/>
            <a:ext cx="1676400" cy="676656"/>
          </a:xfrm>
          <a:prstGeom prst="roundRect">
            <a:avLst>
              <a:gd name="adj" fmla="val 16216"/>
            </a:avLst>
          </a:prstGeom>
          <a:solidFill>
            <a:srgbClr val="DCE7E2"/>
          </a:solidFill>
          <a:ln w="9525">
            <a:solidFill>
              <a:srgbClr val="BFD8C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9954768" y="1591056"/>
            <a:ext cx="16764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배터리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566928" y="2560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general(일반쓰레기)을 서비스 범위에서 뺀 이유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566928" y="294436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1"/>
          <p:cNvSpPr/>
          <p:nvPr/>
        </p:nvSpPr>
        <p:spPr>
          <a:xfrm>
            <a:off x="566928" y="3054096"/>
            <a:ext cx="3493008" cy="128016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768096" y="3218688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범주가 넓다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768096" y="3584448"/>
            <a:ext cx="309067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재질이 아니라 "나머지"로 정의돼 라벨 기준을 한 줄로 잡기 어렵다.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352544" y="3054096"/>
            <a:ext cx="3493008" cy="128016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5"/>
          <p:cNvSpPr/>
          <p:nvPr/>
        </p:nvSpPr>
        <p:spPr>
          <a:xfrm>
            <a:off x="4553712" y="3218688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자료가 적다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4553712" y="3584448"/>
            <a:ext cx="309067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자료 3,677객체 중 82개(2.2%)뿐이라 수치가 흔들린다.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8138160" y="3054096"/>
            <a:ext cx="3493008" cy="128016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8"/>
          <p:cNvSpPr/>
          <p:nvPr/>
        </p:nvSpPr>
        <p:spPr>
          <a:xfrm>
            <a:off x="8339328" y="3218688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성능이 가장 낮다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8339328" y="3584448"/>
            <a:ext cx="309067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모델에서 가장 낮았다. 클래스별 수치는 22쪽에서 본다.</a:t>
            </a:r>
            <a:endParaRPr lang="en-US" sz="1150" dirty="0"/>
          </a:p>
        </p:txBody>
      </p:sp>
      <p:sp>
        <p:nvSpPr>
          <p:cNvPr id="33" name="Text 30"/>
          <p:cNvSpPr/>
          <p:nvPr/>
        </p:nvSpPr>
        <p:spPr>
          <a:xfrm>
            <a:off x="566928" y="449884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탐지 결과가 없을 때는 이렇게 처리한다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566928" y="4882896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2"/>
          <p:cNvSpPr/>
          <p:nvPr/>
        </p:nvSpPr>
        <p:spPr>
          <a:xfrm>
            <a:off x="566928" y="4992624"/>
            <a:ext cx="3505200" cy="1005840"/>
          </a:xfrm>
          <a:prstGeom prst="roundRect">
            <a:avLst>
              <a:gd name="adj" fmla="val 5455"/>
            </a:avLst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3"/>
          <p:cNvSpPr/>
          <p:nvPr/>
        </p:nvSpPr>
        <p:spPr>
          <a:xfrm>
            <a:off x="566928" y="5120640"/>
            <a:ext cx="3505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 없음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566928" y="5431536"/>
            <a:ext cx="350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결과 0건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4076700" y="5349240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4346448" y="4992624"/>
            <a:ext cx="3505200" cy="1005840"/>
          </a:xfrm>
          <a:prstGeom prst="roundRect">
            <a:avLst>
              <a:gd name="adj" fmla="val 5455"/>
            </a:avLst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7"/>
          <p:cNvSpPr/>
          <p:nvPr/>
        </p:nvSpPr>
        <p:spPr>
          <a:xfrm>
            <a:off x="4346448" y="5120640"/>
            <a:ext cx="3505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일반쓰레기로 단정 금지</a:t>
            </a:r>
            <a:endParaRPr lang="en-US" sz="1250" dirty="0"/>
          </a:p>
        </p:txBody>
      </p:sp>
      <p:sp>
        <p:nvSpPr>
          <p:cNvPr id="41" name="Text 38"/>
          <p:cNvSpPr/>
          <p:nvPr/>
        </p:nvSpPr>
        <p:spPr>
          <a:xfrm>
            <a:off x="4346448" y="5431536"/>
            <a:ext cx="350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미탐일 수 있음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7856220" y="5349240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8125968" y="4992624"/>
            <a:ext cx="3505200" cy="1005840"/>
          </a:xfrm>
          <a:prstGeom prst="roundRect">
            <a:avLst>
              <a:gd name="adj" fmla="val 5455"/>
            </a:avLst>
          </a:prstGeom>
          <a:solidFill>
            <a:srgbClr val="DCE7E2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1"/>
          <p:cNvSpPr/>
          <p:nvPr/>
        </p:nvSpPr>
        <p:spPr>
          <a:xfrm>
            <a:off x="8125968" y="5120640"/>
            <a:ext cx="3505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· 재촬영 안내</a:t>
            </a:r>
            <a:endParaRPr lang="en-US" sz="1250" dirty="0"/>
          </a:p>
        </p:txBody>
      </p:sp>
      <p:sp>
        <p:nvSpPr>
          <p:cNvPr id="45" name="Text 42"/>
          <p:cNvSpPr/>
          <p:nvPr/>
        </p:nvSpPr>
        <p:spPr>
          <a:xfrm>
            <a:off x="8125968" y="5431536"/>
            <a:ext cx="350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각도 · 거리 변경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566928" y="6272784"/>
            <a:ext cx="104241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 범위는 6종이다. general(일반쓰레기)은 범주가 넓고 자료가 적으며 성능도 낮아 안내 대상에서 뺐다.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절차 및 방법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 학습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객체가 없는 사진을 빈 라벨로 함께 학습해 오탐을 줄인다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566928" y="1572768"/>
            <a:ext cx="5385816" cy="201168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768096" y="1737360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객체 없는 배경 이미지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86384" y="2103120"/>
            <a:ext cx="4946904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대상 객체가 아예 없는 사진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라벨 파일을 두지 않거나 빈 파일로 둔다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전체의 0 ~ 10%가 권장 범위 — 이번 학습은 4.8%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COCO 118,287장 → 후보 8,315장 → 3,000장 선별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45352" y="1572768"/>
            <a:ext cx="5385816" cy="2011680"/>
          </a:xfrm>
          <a:prstGeom prst="rect">
            <a:avLst/>
          </a:prstGeom>
          <a:solidFill>
            <a:srgbClr val="FBF3E4"/>
          </a:solidFill>
          <a:ln w="6350">
            <a:solidFill>
              <a:srgbClr val="D9C8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6446520" y="1737360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객체 라벨 누락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464808" y="2103120"/>
            <a:ext cx="4946904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객체는 있는데 라벨만 빠진 경우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있는 물체를 "없다"고 가르치는 잘못된 신호가 된다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 이미지와 혼동해서는 안 된다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선별 시 표본 48장을 직접 눈으로 확인했다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66928" y="37673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 장을 고른 기준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66928" y="4151376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566928" y="4261104"/>
            <a:ext cx="3493008" cy="1444752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768096" y="4425696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 조건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68096" y="4791456"/>
            <a:ext cx="309067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용기 · 식기 · 음식 · 가방 · 소형 전자기기처럼 7클래스와 헷갈릴 물체가 하나라도 보이면 뺐다.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352544" y="4261104"/>
            <a:ext cx="3493008" cy="1444752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9"/>
          <p:cNvSpPr/>
          <p:nvPr/>
        </p:nvSpPr>
        <p:spPr>
          <a:xfrm>
            <a:off x="4553712" y="4425696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포함 조건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4553712" y="4791456"/>
            <a:ext cx="309067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· 가구 · 전자기기 같은 실내 요소의 면적 합이 화면의 3% 이상이고, 짧은 변이 480px 이상인 사진만 썼다.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138160" y="4261104"/>
            <a:ext cx="3493008" cy="1444752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8339328" y="4425696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확인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8339328" y="4791456"/>
            <a:ext cx="3090672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선별을 마친 뒤 표본 48장을 눈으로 다시 확인해 대상 객체가 섞이지 않았는지 검수했다.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객체가 없는 사진을 빈 라벨로 함께 학습시켰다. 공식 권장 범위 0 ~ 10% 안인 4.8%를 넣었다.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 오탐 수치는 17쪽 공통 조건 재측정 표의 「배경 오탐」 열에서 확인한다.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절차 및 방법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전이학습 전략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학습한 특징을 가져와 취약 장면에 맞춰 조금씩 움직인다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566928" y="1572768"/>
            <a:ext cx="5385816" cy="141732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768096" y="1737360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전이학습 (Transfer Learning)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68096" y="2103120"/>
            <a:ext cx="4983480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처음부터 배우지 않고, 우리 재활용품 자료로 이미 학습한 가중치에서 출발한다. 앞부분이 뽑아내는 특징을 그대로 쓰므로 훨씬 적은 에포크로 수렴한다.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45352" y="1572768"/>
            <a:ext cx="5385816" cy="141732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6446520" y="1737360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미세 조정 (Fine-tuning)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446520" y="2103120"/>
            <a:ext cx="4983480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학습률을 크게 낮추고 증강을 줄여, 기존에 맞히던 것을 무너뜨리지 않는 범위에서 가중치를 조금씩 움직인다.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66928" y="31546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단계별 실제 학습 설정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66928" y="353872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03320"/>
          <a:ext cx="11055096" cy="219456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196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가중치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최적화 · 학습률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Mosaic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층 고정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초기 학습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yolo11n.pt · yolo26s.pt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auto (SGD) · lr0 0.01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전이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초기 학습 best.pt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AdamW · 1e-4 · cos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2차 전이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선택 가중치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AdamW · 3e-5 · cos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앞 10블록 고정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3차 전이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2차 선택 가중치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AdamW · 1e-5 · cos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 (전체 학습)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마지막 미세조정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3차 선택 가중치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AdamW · 5e-6 · cos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 (전체 학습)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9" name="Text 15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학습한 가중치에서 출발해 학습률을 낮추고 단계마다 조금씩 움직이는 방식으로 진행했다.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: 100 epoch 상한 · patience 10 · imgsz 640 · batch 16 · lrf 0.2 · warmup 1 epoch.  3차에만 약한 흐림을 넣었다.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절차 및 방법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보완 데이터 확보 경로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 자료에서 취약 장면 위주로 모으고, 직접 검수한 것만 학습에 넣었다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11055096" cy="2688336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628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확보 · 확인 범위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 정답 반영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TACO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신규 후보 675장 (기존 중복 825장 별도)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신규 300장 · 874객체 반영 / 375장 보류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WaRP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2,974장 → 중복 제거 2,965장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 2,443장 / 출처 시험 522장 별도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건전지 자료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battery 포함 569장 추출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 462장 / val 33 · test 40장 별도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Open Images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train 1,044 · val 121 · test 180장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수건 · 비닐봉지 · 모니터 후보 중 검수분만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Wikimedia Commons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73장 + 동전 · 단추 전지 22장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직접 라벨링한 13장 반영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Hub 71362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국내 폐기물 자료로 조사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이용 절차 필요 — 확보 수량에 미포함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66928" y="44348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오인식 사례를 보고 무엇을 채울지 정했다 — 기존 라벨도 검출 132개 · 분할 66개를 정정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66928" y="481888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566928" y="4937760"/>
            <a:ext cx="2546604" cy="114300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/>
          <p:cNvSpPr/>
          <p:nvPr/>
        </p:nvSpPr>
        <p:spPr>
          <a:xfrm>
            <a:off x="768096" y="5102352"/>
            <a:ext cx="21442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수건 → 비닐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68096" y="5468112"/>
            <a:ext cx="2144268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 수건 · 걸레는 general, 종이 타월은 paper로 확정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3406140" y="4937760"/>
            <a:ext cx="2546604" cy="114300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13"/>
          <p:cNvSpPr/>
          <p:nvPr/>
        </p:nvSpPr>
        <p:spPr>
          <a:xfrm>
            <a:off x="3607308" y="5102352"/>
            <a:ext cx="21442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모니터 오인식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3607308" y="5468112"/>
            <a:ext cx="2144268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모니터는 7클래스 밖 — 배경 사례로 추가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6245352" y="4937760"/>
            <a:ext cx="2546604" cy="114300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/>
          <p:cNvSpPr/>
          <p:nvPr/>
        </p:nvSpPr>
        <p:spPr>
          <a:xfrm>
            <a:off x="6446520" y="5102352"/>
            <a:ext cx="21442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건전지 다양성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6446520" y="5468112"/>
            <a:ext cx="2144268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AA · AAA · C · D · 9V와 동전 전지 우선 확보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9084564" y="4937760"/>
            <a:ext cx="2546604" cy="114300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9"/>
          <p:cNvSpPr/>
          <p:nvPr/>
        </p:nvSpPr>
        <p:spPr>
          <a:xfrm>
            <a:off x="9285732" y="5102352"/>
            <a:ext cx="21442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코팅 종이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9285732" y="5468112"/>
            <a:ext cx="2144268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기반 제품은 paper로 매핑 정책 반영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취약 장면 위주로 공개 자료를 모으되 직접 검수한 것만 학습에 넣었고, 기존 라벨도 198개를 정정했다.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TACO — 야외 폐기물 60개 세부 품목 · 주석 CC BY 4.0 / WaRP — 선별공장 컨베이어 28종.  외국 자료를 한국 촬영 자료로 표시하지 않는다.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경과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 ①  라벨링 방식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크기의 모델에서 박스와 외곽선만 바꿔 비교했다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566928" y="1554480"/>
            <a:ext cx="11064240" cy="475488"/>
          </a:xfrm>
          <a:prstGeom prst="rect">
            <a:avLst/>
          </a:prstGeom>
          <a:solidFill>
            <a:srgbClr val="FBF3E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731520" y="1554480"/>
            <a:ext cx="1073505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조건 재측정 (2026. 09. 14.) — 두 데이터셋의 교집합 1,712장 · 3,677객체, 정답은 분할 폴리곤 한 벌로 통일, imgsz 640 · conf 0.001 · NMS IoU 0.7 · FP32</a:t>
            </a:r>
            <a:endParaRPr lang="en-US" sz="11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139696"/>
          <a:ext cx="11064240" cy="2304288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YOLO11n  (검출)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YOLO11n-seg  (분할)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어느 쪽이 유리한가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공통 시험 mAP50–95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60.39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66.18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분할  +5.79%p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실사용 F1 (앱 기준)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75.49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74.76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검출  +0.73%p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배경 오탐 (150장 중)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장 처리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8.1 ms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9.1 ms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학습 시간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13시간 18분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15시간 40분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검출  (+18%)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4553712"/>
            <a:ext cx="5385816" cy="1152144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/>
          <p:cNvSpPr/>
          <p:nvPr/>
        </p:nvSpPr>
        <p:spPr>
          <a:xfrm>
            <a:off x="768096" y="4718304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말할 수 있는 것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68096" y="5084064"/>
            <a:ext cx="498348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 는 분할이 5.79%p 앞서고, 배경 오탐도 분할이 적다. 다만 앱 기준으로 실제 화면에 뜬 검출만 세면 두 모델이 0.73%p 차이로 사실상 같다.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245352" y="4553712"/>
            <a:ext cx="5385816" cy="1152144"/>
          </a:xfrm>
          <a:prstGeom prst="rect">
            <a:avLst/>
          </a:prstGeom>
          <a:solidFill>
            <a:srgbClr val="FBF3E4"/>
          </a:solidFill>
          <a:ln w="6350">
            <a:solidFill>
              <a:srgbClr val="D9C8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/>
          <p:cNvSpPr/>
          <p:nvPr/>
        </p:nvSpPr>
        <p:spPr>
          <a:xfrm>
            <a:off x="6446520" y="4718304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말할 수 없는 것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6446520" y="5084064"/>
            <a:ext cx="498348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측정의 정답은 분할 폴리곤 한 벌이고 검출용 박스는 그 폴리곤의 최소·최대 좌표로 만들었다. 정답 형식이 분할 쪽에서 나왔으므로 분할에 유리할 여지가 남는다.</a:t>
            </a:r>
            <a:endParaRPr lang="en-US" sz="1150" dirty="0"/>
          </a:p>
        </p:txBody>
      </p:sp>
      <p:sp>
        <p:nvSpPr>
          <p:cNvPr id="7" name="Text 15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분할은 오탐이 적고 mAP 가 높지만, 앱이 실제로 쓰는 F1 에서는 차이가 거의 없고 속도와 학습 시간에서 손해다.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모델의 마스크 mAP50–95 는 0.6951 이다. 박스 기준으로 비교한 것은 검출 모델에 마스크 출력이 없어 같은 잣대가 그것뿐이기 때문이다.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경과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 ②  모델 규모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조건을 맞추고 규모만 3.8배 키워 비교했다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566928" y="1554480"/>
            <a:ext cx="11064240" cy="475488"/>
          </a:xfrm>
          <a:prstGeom prst="rect">
            <a:avLst/>
          </a:prstGeom>
          <a:solidFill>
            <a:srgbClr val="FBF3E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731520" y="1554480"/>
            <a:ext cx="1073505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 err="1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</a:t>
            </a:r>
            <a:r>
              <a:rPr lang="en-US" sz="1150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2종 외부 평가 — 모델당 354개 입력 · 공통 7클래스 · best.pt · 640×640 패딩 · batch 1 · CPU FP32 · end2end=False</a:t>
            </a:r>
            <a:endParaRPr lang="en-US" sz="11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121408"/>
          <a:ext cx="11064240" cy="256032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YOLO11n  (2.59M)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YOLO26s  (9.95M)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박스 mAP50–95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47.06%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50.25%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+3.19%p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정밀도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64.47%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69.30%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+4.83%p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재현율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33.95%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36.49%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+2.54%p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44.48%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47.81%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+3.33%p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CPU 추론 시간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102.8 ms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298.0 ms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2.90배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파일 크기 · 학습 시간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5.49 MB · 13h 18m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20.33 MB · 20h 31m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3.7배 · 1.54배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4791456"/>
            <a:ext cx="5385816" cy="1042416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/>
          <p:cNvSpPr/>
          <p:nvPr/>
        </p:nvSpPr>
        <p:spPr>
          <a:xfrm>
            <a:off x="768096" y="4956048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YOLO26을 시도한 이유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68096" y="5321808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NMS 후처리를 없앤 end-to-end 구조와 DFL 제거로 CPU 추론이 최대 43% 빨라졌다고 공개됐다 (2026. 01.).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245352" y="4791456"/>
            <a:ext cx="5385816" cy="1042416"/>
          </a:xfrm>
          <a:prstGeom prst="rect">
            <a:avLst/>
          </a:prstGeom>
          <a:solidFill>
            <a:srgbClr val="FBF3E4"/>
          </a:solidFill>
          <a:ln w="6350">
            <a:solidFill>
              <a:srgbClr val="D9C8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/>
          <p:cNvSpPr/>
          <p:nvPr/>
        </p:nvSpPr>
        <p:spPr>
          <a:xfrm>
            <a:off x="6446520" y="4956048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측정의 한계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6446520" y="5321808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end2end=False 로 돌려 그 NMS-free 이점이 빠졌다. 공정한 비교는 같은 규모인 YOLO11s 와 해야 한다.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566927" y="6053328"/>
            <a:ext cx="110642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2000"/>
              </a:lnSpc>
            </a:pPr>
            <a:r>
              <a:rPr lang="en-US" sz="1050" b="1" dirty="0" err="1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</a:t>
            </a:r>
            <a:r>
              <a:rPr lang="en-US" altLang="ko-KR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NMS-free</a:t>
            </a:r>
            <a:r>
              <a:rPr lang="ko-KR" alt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는 </a:t>
            </a:r>
            <a:r>
              <a:rPr lang="en-US" altLang="ko-KR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YOLO</a:t>
            </a:r>
            <a:r>
              <a:rPr lang="ko-KR" alt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겹치는 박스를 나중에 지우지 않고</a:t>
            </a:r>
            <a:r>
              <a:rPr lang="en-US" altLang="ko-KR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</a:t>
            </a:r>
            <a:r>
              <a:rPr lang="ko-KR" alt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처음부터 물체 하나당 박스 하나만 딱 찾게 하는 방식입니다</a:t>
            </a:r>
            <a:r>
              <a:rPr lang="en-US" altLang="ko-KR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 </a:t>
            </a:r>
            <a:r>
              <a:rPr lang="en-US" sz="1050" dirty="0" err="1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구조가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50" dirty="0" err="1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좋아진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50" dirty="0" err="1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것이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50" dirty="0" err="1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아니라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50" dirty="0" err="1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규모를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50" dirty="0" err="1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키운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50" dirty="0" err="1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결과다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 err="1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재현율이</a:t>
            </a: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36%대라 433객체 중 275개를 </a:t>
            </a:r>
            <a:r>
              <a:rPr lang="en-US" sz="900" dirty="0" err="1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놓쳤다</a:t>
            </a: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 1위라고 </a:t>
            </a:r>
            <a:r>
              <a:rPr lang="en-US" sz="900" dirty="0" err="1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충분하다는</a:t>
            </a: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900" dirty="0" err="1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뜻은</a:t>
            </a: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900" dirty="0" err="1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아니다</a:t>
            </a: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 </a:t>
            </a:r>
            <a:r>
              <a:rPr lang="en-US" sz="900" dirty="0" err="1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</a:t>
            </a: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COCO </a:t>
            </a:r>
            <a:r>
              <a:rPr lang="en-US" sz="900" dirty="0" err="1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</a:t>
            </a: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YOLO26s 48.6 / YOLO11s 47.0 </a:t>
            </a:r>
            <a:r>
              <a:rPr lang="en-US" sz="900" dirty="0" err="1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</a:t>
            </a: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900" dirty="0" err="1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</a:t>
            </a: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900" dirty="0" err="1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규모끼리는</a:t>
            </a: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900" dirty="0" err="1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거의</a:t>
            </a: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900" dirty="0" err="1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같다</a:t>
            </a: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경과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 ③  전이학습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1차에서 크게 떨어진 뒤 단계마다 회복했지만 초기 수준을 넘지 못했다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/home/claude/work/fig/f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72768"/>
            <a:ext cx="6355080" cy="367182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086600" y="1627632"/>
            <a:ext cx="4535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시험 재측정 (mAP50–95, %)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1956816"/>
          <a:ext cx="4535424" cy="2414016"/>
        </p:xfrm>
        <a:graphic>
          <a:graphicData uri="http://schemas.openxmlformats.org/drawingml/2006/table">
            <a:tbl>
              <a:tblPr/>
              <a:tblGrid>
                <a:gridCol w="13533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검출 박스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분할 박스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분할 마스크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초기 학습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64.1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전이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55.3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64.2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59.7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2차 전이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57.2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64.9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3차 전이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59.5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64.6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59.9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마지막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Shape 8"/>
          <p:cNvSpPr/>
          <p:nvPr/>
        </p:nvSpPr>
        <p:spPr>
          <a:xfrm>
            <a:off x="7086600" y="4572000"/>
            <a:ext cx="4535424" cy="1097280"/>
          </a:xfrm>
          <a:prstGeom prst="rect">
            <a:avLst/>
          </a:prstGeom>
          <a:solidFill>
            <a:srgbClr val="FBF3E4"/>
          </a:solidFill>
          <a:ln w="6350">
            <a:solidFill>
              <a:srgbClr val="D9C8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9"/>
          <p:cNvSpPr/>
          <p:nvPr/>
        </p:nvSpPr>
        <p:spPr>
          <a:xfrm>
            <a:off x="7251192" y="4645152"/>
            <a:ext cx="42062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분할은 3차가 최종 선택이다. 마지막 미세조정 후보는 마스크 mAP50–95 비하락 조건을 통과하지 못해 채택하지 않았다.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57200" y="5349240"/>
            <a:ext cx="6355080" cy="731520"/>
          </a:xfrm>
          <a:prstGeom prst="rect">
            <a:avLst/>
          </a:prstGeom>
          <a:solidFill>
            <a:srgbClr val="F1F5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1"/>
          <p:cNvSpPr/>
          <p:nvPr/>
        </p:nvSpPr>
        <p:spPr>
          <a:xfrm>
            <a:off x="603504" y="5349240"/>
            <a:ext cx="60624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과제별 자체 시험 자료 기준 — 검출 박스 76.11 → 74.11 (−2.00%p)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마스크 68.66 → 68.71 (+0.05%p, 개선으로 보지 않는다)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단계마다 회복했지만 초기 모델을 끝내 넘지 못했다.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 단계별 완료 epoch — 2차 13 · 3차 49 · 마지막 13.  검증 상승 · 평균 비하락 · 클래스별 AP 하락 1%p 이내를 모두 만족할 때만 다음 단계로 넘겼다.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경과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성능 상세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품목별로는 재질이 뚜렷한 쪽이 높고, 앱 기준으로 걸러내면 F1은 75% 안팎이다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566928" y="1554480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품목별 성능  (공통 시험 자료)</a:t>
            </a:r>
            <a:endParaRPr lang="en-US" sz="1200" dirty="0"/>
          </a:p>
        </p:txBody>
      </p:sp>
      <p:pic>
        <p:nvPicPr>
          <p:cNvPr id="11" name="Image 0" descr="/home/claude/work/fig/f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865376"/>
            <a:ext cx="6858000" cy="314325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607808" y="155448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실사용 조건 성능  (앱 기준으로 걸러낸 검출만)</a:t>
            </a:r>
            <a:endParaRPr lang="en-US" sz="1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07808" y="1865376"/>
          <a:ext cx="4023360" cy="2926080"/>
        </p:xfrm>
        <a:graphic>
          <a:graphicData uri="http://schemas.openxmlformats.org/drawingml/2006/table">
            <a:tbl>
              <a:tblPr/>
              <a:tblGrid>
                <a:gridCol w="16276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모델 · 단계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정밀도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재현율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YOLO11n 초기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79.9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71.5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75.5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YOLO26s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8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81.7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76.1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78.8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검출 1차 전이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79.3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71.0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74.9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검출 2차 전이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79.9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73.8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76.7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검출 3차 전이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80.2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75.7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77.9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검출 최종 전이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8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80.5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75.9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78.2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YOLO11n-seg 초기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79.1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70.9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74.8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7607808" y="4864608"/>
            <a:ext cx="4023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전이 F1 — 1차 73.0 · 2차 73.9 · 3차(최종) 73.9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566928" y="5212080"/>
            <a:ext cx="11064240" cy="411480"/>
          </a:xfrm>
          <a:prstGeom prst="rect">
            <a:avLst/>
          </a:prstGeom>
          <a:solidFill>
            <a:srgbClr val="F1F5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1"/>
          <p:cNvSpPr/>
          <p:nvPr/>
        </p:nvSpPr>
        <p:spPr>
          <a:xfrm>
            <a:off x="731520" y="5212080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클래스별 mAP50–95 (검출 최종 선택) — paper 82.4 · can 81.7 · battery 73.1 · vinyl 67.4 · glass 56.7 · plastic 56.3 · general 11.0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566928" y="5797296"/>
            <a:ext cx="1042416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재질이 뚜렷한 품목은 잘 잡고 투명하거나 얇은 품목은 낮다. 앱 기준으로 걸러낸 F1은 mAP보다 높게 나오는데 지표 정의가 다를 뿐이다.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시험 1,712장 · 3,677객체.  클래스별 정답 수 — plastic 821 · vinyl 788 · paper 664 · can 578 · glass 495 · battery 249 · general 82.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실사용 조건 — 앱의 클래스별 신뢰도 기준(0.13~0.75, 없으면 0.45) · NMS IoU 0.5 · 판정 겹침 IoU 0.5 · 사진 한 장씩 처리.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경과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변화 시험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초점이 흐려지면 정확도가 절반 아래로 떨어진다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566928" y="1572768"/>
            <a:ext cx="11064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사진 20장 · 59객체에</a:t>
            </a:r>
            <a:r>
              <a:rPr lang="ko-KR" altLang="en-US" sz="12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 </a:t>
            </a:r>
            <a:r>
              <a:rPr lang="en-US" sz="1200" b="1" dirty="0" err="1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측정</a:t>
            </a:r>
            <a:r>
              <a:rPr lang="en-US" sz="12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(YOLO26s 기준)</a:t>
            </a:r>
            <a:endParaRPr lang="en-US" sz="1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01952"/>
          <a:ext cx="11055096" cy="1682496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227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박스 mAP50–95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대조 대비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뜻하는가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대조 (원본)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47.82%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기준값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밝기 40%로 낮춤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44.98%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−2.84%p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어두운 실내에서도 크게 흔들리지 않는다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흐림 (초점 이탈)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16.53%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−31.29%p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사실상 대응하지 못한다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566928" y="3803904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앱에서 이렇게 처리한다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66928" y="4187952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566928" y="4297680"/>
            <a:ext cx="3493008" cy="137160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768096" y="4462272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재촬영 안내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768096" y="4828032"/>
            <a:ext cx="30906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탐지가 0건이면 품목을 단정하지 않고 각도와 거리를 바꿔 다시 찍도록 안내한다.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4352544" y="4297680"/>
            <a:ext cx="3493008" cy="137160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4"/>
          <p:cNvSpPr/>
          <p:nvPr/>
        </p:nvSpPr>
        <p:spPr>
          <a:xfrm>
            <a:off x="4553712" y="4462272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후보 병기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4553712" y="4828032"/>
            <a:ext cx="30906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신뢰도가 비슷한 후보가 둘이면 하나로 정하지 않고 함께 보여 준다.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8138160" y="4297680"/>
            <a:ext cx="3493008" cy="1371600"/>
          </a:xfrm>
          <a:prstGeom prst="rect">
            <a:avLst/>
          </a:prstGeom>
          <a:solidFill>
            <a:srgbClr val="FBF3E4"/>
          </a:solidFill>
          <a:ln w="6350">
            <a:solidFill>
              <a:srgbClr val="D9C8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7"/>
          <p:cNvSpPr/>
          <p:nvPr/>
        </p:nvSpPr>
        <p:spPr>
          <a:xfrm>
            <a:off x="8339328" y="4462272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과제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8339328" y="4828032"/>
            <a:ext cx="30906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 err="1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흐림</a:t>
            </a: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150" dirty="0" err="1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보정</a:t>
            </a:r>
            <a:r>
              <a:rPr lang="ko-KR" alt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 기능</a:t>
            </a:r>
            <a:r>
              <a:rPr lang="en-US" altLang="ko-KR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</a:t>
            </a:r>
            <a:r>
              <a:rPr lang="ko-KR" alt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앱에선 구현 못함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밝기 변화에는 견디지만 초점이 맞지 않은 사진에는 대응하지 못한다. 앱이 재촬영을 안내하는 이유다.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흐림은 3픽셀 가우시안 기준이다. 전이학습 3차에서만 10% 확률로 약한 흐림을 넣어 보완을 시도했다(15쪽).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경과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탐지 사례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가림 장면은 6/7 탐지, 혼합 장면은 0/6 탐지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960120" y="1572768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가림이 있는 플라스틱 병</a:t>
            </a:r>
            <a:endParaRPr lang="en-US" sz="1300" dirty="0"/>
          </a:p>
        </p:txBody>
      </p:sp>
      <p:pic>
        <p:nvPicPr>
          <p:cNvPr id="11" name="Image 0" descr="/home/claude/work/ppt4/image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883664"/>
            <a:ext cx="4370832" cy="338011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656832" y="1572768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 재활용품</a:t>
            </a:r>
            <a:endParaRPr lang="en-US" sz="1300" dirty="0"/>
          </a:p>
        </p:txBody>
      </p:sp>
      <p:pic>
        <p:nvPicPr>
          <p:cNvPr id="13" name="Image 1" descr="/home/claude/work/ppt4/image2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6832" y="1883664"/>
            <a:ext cx="4370832" cy="3380119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566928" y="5321808"/>
            <a:ext cx="5385816" cy="82296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/>
          <p:cNvSpPr/>
          <p:nvPr/>
        </p:nvSpPr>
        <p:spPr>
          <a:xfrm>
            <a:off x="768096" y="5486400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가림 장면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768096" y="5852160"/>
            <a:ext cx="498348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YOLO26s 정답 6개 · 미탐 1개  /  YOLO11n 정답 4개 · 오탐 1개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6245352" y="5321808"/>
            <a:ext cx="5385816" cy="822960"/>
          </a:xfrm>
          <a:prstGeom prst="rect">
            <a:avLst/>
          </a:prstGeom>
          <a:solidFill>
            <a:srgbClr val="FBF3E4"/>
          </a:solidFill>
          <a:ln w="6350">
            <a:solidFill>
              <a:srgbClr val="D9C8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3"/>
          <p:cNvSpPr/>
          <p:nvPr/>
        </p:nvSpPr>
        <p:spPr>
          <a:xfrm>
            <a:off x="6446520" y="5486400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 장면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6446520" y="5852160"/>
            <a:ext cx="4983480" cy="146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YOLO26s 정답 0개 · 오탐 3개  /  플라스틱 · 종이 · 비닐을 서로 혼동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566928" y="6217920"/>
            <a:ext cx="104241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가려진 장면은 대부분 찾았지만, 여러 품목이 섞인 장면에서는 재질을 서로 혼동했다.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경과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 분석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검출의 75%가 품목 혼동이고, 비닐↔종이 · 플라스틱↔유리가 가장 잦다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566928" y="1536192"/>
            <a:ext cx="5394960" cy="566928"/>
          </a:xfrm>
          <a:prstGeom prst="rect">
            <a:avLst/>
          </a:prstGeom>
          <a:solidFill>
            <a:srgbClr val="F1F5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731520" y="1536192"/>
            <a:ext cx="506577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놓친 정답 885개 —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품목으로 봄 391(44.2%) · 아예 못 찾음 327(36.9%) · 점수 미달 167(18.9%)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17920" y="1536192"/>
            <a:ext cx="5413248" cy="566928"/>
          </a:xfrm>
          <a:prstGeom prst="rect">
            <a:avLst/>
          </a:prstGeom>
          <a:solidFill>
            <a:srgbClr val="FBF3E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6382512" y="1536192"/>
            <a:ext cx="508406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검출 674개 —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품목 혼동 509(75.5%) · 배경을 물건으로 162(24.0%) · 같은 물건 중복 3(0.4%)</a:t>
            </a:r>
            <a:endParaRPr lang="en-US" sz="1050" dirty="0"/>
          </a:p>
        </p:txBody>
      </p:sp>
      <p:pic>
        <p:nvPicPr>
          <p:cNvPr id="14" name="Image 0" descr="/home/claude/work/fig/f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249424"/>
            <a:ext cx="7680960" cy="3238805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66928" y="5504688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혼동 지도 — 세로는 실제 품목, 가로는 모델이 그렇게 본 품목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503920" y="2249424"/>
            <a:ext cx="3127248" cy="1572768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/>
          <p:cNvSpPr/>
          <p:nvPr/>
        </p:nvSpPr>
        <p:spPr>
          <a:xfrm>
            <a:off x="8705088" y="235915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무엇으로 봤나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8723376" y="2651760"/>
            <a:ext cx="272491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비닐 → 종이  1,208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플라스틱 → 유리  1,193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→ 비닐  910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비닐 → 플라스틱  826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유리 → 플라스틱  716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8503920" y="3950208"/>
            <a:ext cx="3127248" cy="1572768"/>
          </a:xfrm>
          <a:prstGeom prst="rect">
            <a:avLst/>
          </a:prstGeom>
          <a:solidFill>
            <a:srgbClr val="FBF3E4"/>
          </a:solidFill>
          <a:ln w="6350">
            <a:solidFill>
              <a:srgbClr val="D9C8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/>
          <p:cNvSpPr/>
          <p:nvPr/>
        </p:nvSpPr>
        <p:spPr>
          <a:xfrm>
            <a:off x="8705088" y="4059936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작을수록 놓친다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8723376" y="4352544"/>
            <a:ext cx="272491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아주 작음  36.9%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작음  72.0%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보통  82.5%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10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큼  81.2%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566928" y="5797296"/>
            <a:ext cx="1042416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놓친 것은 작은 물체가, 틀린 것은 품목 혼동이 가장 큰 몫이다. 상위 혼동이 대부분 양방향이라 한쪽 클래스만 고쳐서는 해결되지 않는다.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 최종 선택 모델 기준 · 앱 기준 · 시험 자료 1,712장 · 3,677객체.  혼동 건수는 비교한 모델 전체를 합산한 값이다.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구겨진 비닐과 종이는 모양 · 질감이 비슷하고 투명한 병은 사진만으로 재질을 가르기 어렵다.  점수 미달 167건은 기준값만 낮춰도 건질 몫이다.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경과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구현 구성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 · 전처리 · 추론 · NMS는 네이티브에서 처리하고, 앱은 배출 안내를 얹는다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566928" y="1645920"/>
            <a:ext cx="2560320" cy="960120"/>
          </a:xfrm>
          <a:prstGeom prst="roundRect">
            <a:avLst>
              <a:gd name="adj" fmla="val 5714"/>
            </a:avLst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566928" y="1773936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사진 입력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66928" y="208483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앱에서 촬영 · 선택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3131820" y="1979676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401568" y="1645920"/>
            <a:ext cx="2560320" cy="960120"/>
          </a:xfrm>
          <a:prstGeom prst="roundRect">
            <a:avLst>
              <a:gd name="adj" fmla="val 5714"/>
            </a:avLst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3401568" y="1773936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추론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3401568" y="208483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기기 내부 TFLite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966460" y="1979676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236208" y="1645920"/>
            <a:ext cx="2560320" cy="960120"/>
          </a:xfrm>
          <a:prstGeom prst="roundRect">
            <a:avLst>
              <a:gd name="adj" fmla="val 5714"/>
            </a:avLst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6236208" y="1773936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후처리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236208" y="208483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클래스별 임계값 · NMS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801100" y="1979676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9070848" y="1645920"/>
            <a:ext cx="2560320" cy="960120"/>
          </a:xfrm>
          <a:prstGeom prst="roundRect">
            <a:avLst>
              <a:gd name="adj" fmla="val 5714"/>
            </a:avLst>
          </a:prstGeom>
          <a:solidFill>
            <a:srgbClr val="DCE7E2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9070848" y="1773936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배출 안내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9070848" y="208483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품목별 문구 표시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566928" y="29718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구현 구성과 설정값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566928" y="335584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4"/>
          <p:cNvSpPr/>
          <p:nvPr/>
        </p:nvSpPr>
        <p:spPr>
          <a:xfrm>
            <a:off x="566928" y="3474720"/>
            <a:ext cx="3493008" cy="192024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5"/>
          <p:cNvSpPr/>
          <p:nvPr/>
        </p:nvSpPr>
        <p:spPr>
          <a:xfrm>
            <a:off x="768096" y="3639312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구성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6384" y="4005072"/>
            <a:ext cx="3054096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Flutter · Dart 단일 코드베이스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ultralytics_yolo 플러그인 사용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모델을 TFLite로 내보내 자산에 포함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품목별 배출 안내 문구는 별도 자산으로 분리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4352544" y="3474720"/>
            <a:ext cx="3493008" cy="192024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8"/>
          <p:cNvSpPr/>
          <p:nvPr/>
        </p:nvSpPr>
        <p:spPr>
          <a:xfrm>
            <a:off x="4553712" y="3639312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후처리 설정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4572000" y="4005072"/>
            <a:ext cx="3054096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클래스별 신뢰도 기준 0.13 ~ 0.75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기준이 없는 모델은 전체 0.45 적용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NMS IoU 0.5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겹침 IoU 0.5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138160" y="3474720"/>
            <a:ext cx="3493008" cy="192024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1"/>
          <p:cNvSpPr/>
          <p:nvPr/>
        </p:nvSpPr>
        <p:spPr>
          <a:xfrm>
            <a:off x="8339328" y="3639312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처리 원칙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8357616" y="4005072"/>
            <a:ext cx="3054096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신뢰도가 비슷한 후보 둘이면 함께 표시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배경만 비친 화면에서는 안내하지 않음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프레임이 아니라 여러 결과를 모아 판단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0건이면 재촬영 안내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566928" y="5532120"/>
            <a:ext cx="11064240" cy="411480"/>
          </a:xfrm>
          <a:prstGeom prst="rect">
            <a:avLst/>
          </a:prstGeom>
          <a:solidFill>
            <a:srgbClr val="F1F5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4"/>
          <p:cNvSpPr/>
          <p:nvPr/>
        </p:nvSpPr>
        <p:spPr>
          <a:xfrm>
            <a:off x="731520" y="5532120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클래스별 신뢰도 기준은 클래스마다 F1이 최대가 되는 지점을 측정해 정한 값이다. 유리처럼 놓치기 쉬운 품목은 낮게, 일반쓰레기처럼 잘못 잡기 쉬운 품목은 높게 잡혀 있다.</a:t>
            </a:r>
            <a:endParaRPr lang="en-US" sz="1150" dirty="0"/>
          </a:p>
        </p:txBody>
      </p:sp>
      <p:sp>
        <p:nvSpPr>
          <p:cNvPr id="38" name="Text 35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카메라부터 NMS까지는 플러그인이 네이티브에서 처리하고, 앱은 그 결과 위에 배출 안내를 얹는다.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 출처 : 앱의 app_config.dart (classConfidenceThresholds · confidenceThreshold · iouThreshold).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경과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구현 현황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안드로이드 앱과 젯슨 검출이 모두 동작한다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5096" cy="22860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69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안드로이드 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사진을 촬영한 뒤 분석하는 기능을 구현했다 / 세부 조정과 기능 수정을 진행했다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모델 적용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전이학습 모델부터 세그멘테이션 모델까지 적용해 비교했고, 최초 학습 모델이 가장 안정적이었다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젯슨 오린 나노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스크립트 기반 검출에 성공했다 / .pt 실행에서 약 1~2 FPS, TensorRT 변환 후 15 FPS 안팎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추론 최적화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.pt 모델을 TensorRT .engine 형식으로 변환해 적용했고, 그 구성으로 실시간 시연을 마쳤다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66928" y="41148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측정된 처리 속도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66928" y="449884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566928" y="4617720"/>
            <a:ext cx="3493008" cy="1417320"/>
          </a:xfrm>
          <a:prstGeom prst="rect">
            <a:avLst/>
          </a:prstGeom>
          <a:solidFill>
            <a:srgbClr val="DCE7E2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/>
          <p:cNvSpPr/>
          <p:nvPr/>
        </p:nvSpPr>
        <p:spPr>
          <a:xfrm>
            <a:off x="566928" y="4764024"/>
            <a:ext cx="349300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~ 10 ms</a:t>
            </a:r>
            <a:endParaRPr lang="en-US" sz="3000" dirty="0"/>
          </a:p>
        </p:txBody>
      </p:sp>
      <p:sp>
        <p:nvSpPr>
          <p:cNvPr id="15" name="Text 11"/>
          <p:cNvSpPr/>
          <p:nvPr/>
        </p:nvSpPr>
        <p:spPr>
          <a:xfrm>
            <a:off x="566928" y="5404104"/>
            <a:ext cx="3493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데스크톱 RTX 4060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566928" y="5669280"/>
            <a:ext cx="3493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사진 한 장 처리 · 모델 10종 공통 조건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352544" y="4617720"/>
            <a:ext cx="3493008" cy="141732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4"/>
          <p:cNvSpPr/>
          <p:nvPr/>
        </p:nvSpPr>
        <p:spPr>
          <a:xfrm>
            <a:off x="4352544" y="4764024"/>
            <a:ext cx="349300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103 ~ 298 ms</a:t>
            </a:r>
            <a:endParaRPr lang="en-US" sz="3000" dirty="0"/>
          </a:p>
        </p:txBody>
      </p:sp>
      <p:sp>
        <p:nvSpPr>
          <p:cNvPr id="19" name="Text 15"/>
          <p:cNvSpPr/>
          <p:nvPr/>
        </p:nvSpPr>
        <p:spPr>
          <a:xfrm>
            <a:off x="4352544" y="5404104"/>
            <a:ext cx="3493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CPU (FP32)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4352544" y="5669280"/>
            <a:ext cx="3493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YOLO11n 102.8 ms ~ YOLO26s 298.0 ms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8138160" y="4617720"/>
            <a:ext cx="3493008" cy="141732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8"/>
          <p:cNvSpPr/>
          <p:nvPr/>
        </p:nvSpPr>
        <p:spPr>
          <a:xfrm>
            <a:off x="8138160" y="4764024"/>
            <a:ext cx="349300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~ 17 FPS</a:t>
            </a:r>
            <a:endParaRPr lang="en-US" sz="3000" dirty="0"/>
          </a:p>
        </p:txBody>
      </p:sp>
      <p:sp>
        <p:nvSpPr>
          <p:cNvPr id="23" name="Text 19"/>
          <p:cNvSpPr/>
          <p:nvPr/>
        </p:nvSpPr>
        <p:spPr>
          <a:xfrm>
            <a:off x="8138160" y="5404104"/>
            <a:ext cx="3493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젯슨 오린 나노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8138160" y="5669280"/>
            <a:ext cx="34930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TensorRT .engine · 모델 3종 캡처 21장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앱과 젯슨 검출이 모두 동작하며, TensorRT 변환으로 젯슨 속도가 1~2 FPS에서 9~17 FPS로 올라갔다.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수치는 장비가 모두 다르다 — 데스크톱 GPU / PC CPU / 젯슨 오린 나노.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경과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젯슨 실시간 시연 ①  탐지 사례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 품목은 잘 잡지만, 재질이 헷갈리는 물체에서 오탐이 남는다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566928" y="1517904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탐지</a:t>
            </a:r>
            <a:endParaRPr lang="en-US" sz="1200" dirty="0"/>
          </a:p>
        </p:txBody>
      </p:sp>
      <p:pic>
        <p:nvPicPr>
          <p:cNvPr id="11" name="Image 0" descr="/home/claude/work/fig/j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773936"/>
            <a:ext cx="3127248" cy="166857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6928" y="3479090"/>
            <a:ext cx="31272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YOLO11n-seg — can 0.96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566928" y="3671114"/>
            <a:ext cx="3127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캔 외곽선을 따라 마스크가 붙었다 · 13.0 FPS</a:t>
            </a:r>
            <a:endParaRPr lang="en-US" sz="950" dirty="0"/>
          </a:p>
        </p:txBody>
      </p:sp>
      <p:pic>
        <p:nvPicPr>
          <p:cNvPr id="14" name="Image 1" descr="/home/claude/work/fig/j0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5424" y="1773936"/>
            <a:ext cx="3127248" cy="166857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535424" y="3479090"/>
            <a:ext cx="31272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YOLO11n — vinyl 0.94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4535424" y="3671114"/>
            <a:ext cx="3127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구겨진 비닐봉지를 한 덩어리로 잡았다 · 15.8 FPS</a:t>
            </a:r>
            <a:endParaRPr lang="en-US" sz="950" dirty="0"/>
          </a:p>
        </p:txBody>
      </p:sp>
      <p:pic>
        <p:nvPicPr>
          <p:cNvPr id="17" name="Image 2" descr="/home/claude/work/fig/j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1773936"/>
            <a:ext cx="3127248" cy="166857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503920" y="3479090"/>
            <a:ext cx="31272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YOLO26s — paper 0.64</a:t>
            </a:r>
            <a:endParaRPr lang="en-US" sz="1050" dirty="0"/>
          </a:p>
        </p:txBody>
      </p:sp>
      <p:sp>
        <p:nvSpPr>
          <p:cNvPr id="19" name="Text 13"/>
          <p:cNvSpPr/>
          <p:nvPr/>
        </p:nvSpPr>
        <p:spPr>
          <a:xfrm>
            <a:off x="8503920" y="3671114"/>
            <a:ext cx="3127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흰 바닥 위 종이 상자 · 14.9 FPS</a:t>
            </a:r>
            <a:endParaRPr lang="en-US" sz="950" dirty="0"/>
          </a:p>
        </p:txBody>
      </p:sp>
      <p:sp>
        <p:nvSpPr>
          <p:cNvPr id="20" name="Text 14"/>
          <p:cNvSpPr/>
          <p:nvPr/>
        </p:nvSpPr>
        <p:spPr>
          <a:xfrm>
            <a:off x="566928" y="3950208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오탐 — 같은 물체가 프레임마다 다른 품목으로 나온다</a:t>
            </a:r>
            <a:endParaRPr lang="en-US" sz="1200" dirty="0"/>
          </a:p>
        </p:txBody>
      </p:sp>
      <p:pic>
        <p:nvPicPr>
          <p:cNvPr id="21" name="Image 3" descr="/home/claude/work/fig/j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4206240"/>
            <a:ext cx="3127248" cy="166857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66928" y="5911394"/>
            <a:ext cx="31272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YOLO11n — battery 0.88</a:t>
            </a:r>
            <a:endParaRPr lang="en-US" sz="1050" dirty="0"/>
          </a:p>
        </p:txBody>
      </p:sp>
      <p:sp>
        <p:nvSpPr>
          <p:cNvPr id="23" name="Text 16"/>
          <p:cNvSpPr/>
          <p:nvPr/>
        </p:nvSpPr>
        <p:spPr>
          <a:xfrm>
            <a:off x="566928" y="6103418"/>
            <a:ext cx="3127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마커펜을 배터리로 판정했다</a:t>
            </a:r>
            <a:endParaRPr lang="en-US" sz="950" dirty="0"/>
          </a:p>
        </p:txBody>
      </p:sp>
      <p:pic>
        <p:nvPicPr>
          <p:cNvPr id="24" name="Image 4" descr="/home/claude/work/fig/j0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35424" y="4206240"/>
            <a:ext cx="3127248" cy="1668578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4535424" y="5911394"/>
            <a:ext cx="31272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YOLO26s — glass 0.57</a:t>
            </a:r>
            <a:endParaRPr lang="en-US" sz="1050" dirty="0"/>
          </a:p>
        </p:txBody>
      </p:sp>
      <p:sp>
        <p:nvSpPr>
          <p:cNvPr id="26" name="Text 18"/>
          <p:cNvSpPr/>
          <p:nvPr/>
        </p:nvSpPr>
        <p:spPr>
          <a:xfrm>
            <a:off x="4535424" y="6103418"/>
            <a:ext cx="3127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마커펜을 이번에는 유리로 판정했다</a:t>
            </a:r>
            <a:endParaRPr lang="en-US" sz="950" dirty="0"/>
          </a:p>
        </p:txBody>
      </p:sp>
      <p:pic>
        <p:nvPicPr>
          <p:cNvPr id="27" name="Image 5" descr="/home/claude/work/fig/j0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3920" y="4206240"/>
            <a:ext cx="3127248" cy="1668578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8503920" y="5911394"/>
            <a:ext cx="31272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YOLO11n — vinyl 0.93</a:t>
            </a:r>
            <a:endParaRPr lang="en-US" sz="1050" dirty="0"/>
          </a:p>
        </p:txBody>
      </p:sp>
      <p:sp>
        <p:nvSpPr>
          <p:cNvPr id="29" name="Text 20"/>
          <p:cNvSpPr/>
          <p:nvPr/>
        </p:nvSpPr>
        <p:spPr>
          <a:xfrm>
            <a:off x="8503920" y="6103418"/>
            <a:ext cx="3127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플라스틱 가글액 병을 비닐로 판정했다</a:t>
            </a:r>
            <a:endParaRPr lang="en-US" sz="950" dirty="0"/>
          </a:p>
        </p:txBody>
      </p:sp>
      <p:sp>
        <p:nvSpPr>
          <p:cNvPr id="30" name="Text 21"/>
          <p:cNvSpPr/>
          <p:nvPr/>
        </p:nvSpPr>
        <p:spPr>
          <a:xfrm>
            <a:off x="566928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형태가 뚜렷한 품목은 안정적으로 잡히지만, 재질이 헷갈리는 물체는 프레임마다 다른 품목으로 나온다.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경과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젯슨 실시간 시연 ②  모델 3종과 처리 속도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TensorRT 변환 뒤 세 모델 모두 실시간 범위에서 동작했다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/home/claude/work/fig/j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72768"/>
            <a:ext cx="3310128" cy="176615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66928" y="3375499"/>
            <a:ext cx="3310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YOLO11n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66928" y="3585811"/>
            <a:ext cx="3310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15.6 FPS · can x1</a:t>
            </a:r>
            <a:endParaRPr lang="en-US" sz="950" dirty="0"/>
          </a:p>
        </p:txBody>
      </p:sp>
      <p:pic>
        <p:nvPicPr>
          <p:cNvPr id="13" name="Image 1" descr="/home/claude/work/fig/j0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3984" y="1572768"/>
            <a:ext cx="3310128" cy="176615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443984" y="3375499"/>
            <a:ext cx="3310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YOLO11n-seg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4443984" y="3585811"/>
            <a:ext cx="3310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9.3 FPS · paper x1, can x1</a:t>
            </a:r>
            <a:endParaRPr lang="en-US" sz="950" dirty="0"/>
          </a:p>
        </p:txBody>
      </p:sp>
      <p:pic>
        <p:nvPicPr>
          <p:cNvPr id="16" name="Image 2" descr="/home/claude/work/fig/j0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1572768"/>
            <a:ext cx="3310128" cy="1766155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321040" y="3375499"/>
            <a:ext cx="3310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YOLO26s</a:t>
            </a:r>
            <a:endParaRPr lang="en-US" sz="1100" dirty="0"/>
          </a:p>
        </p:txBody>
      </p:sp>
      <p:sp>
        <p:nvSpPr>
          <p:cNvPr id="18" name="Text 12"/>
          <p:cNvSpPr/>
          <p:nvPr/>
        </p:nvSpPr>
        <p:spPr>
          <a:xfrm>
            <a:off x="8321040" y="3585811"/>
            <a:ext cx="3310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14.7 FPS · can x1</a:t>
            </a:r>
            <a:endParaRPr lang="en-US" sz="950" dirty="0"/>
          </a:p>
        </p:txBody>
      </p:sp>
      <p:sp>
        <p:nvSpPr>
          <p:cNvPr id="19" name="Text 13"/>
          <p:cNvSpPr/>
          <p:nvPr/>
        </p:nvSpPr>
        <p:spPr>
          <a:xfrm>
            <a:off x="566928" y="3785616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캡처 21장에서 읽은 값의 범위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566928" y="4169664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297680"/>
          <a:ext cx="11064240" cy="14630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추론 시간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표시 시간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캡처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YOLO11n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15.1 ~ 16.7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28.1 ~ 36.7 ms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26.8 ~ 49.8 ms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YOLO11n-seg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9.3 ~ 16.5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21.7 ~ 39.9 ms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38.9 ~ 87.9 ms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YOLO26s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14.6 ~ 15.8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33.4 ~ 38.3 ms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19.9 ~ 39.1 ms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" name="Shape 15"/>
          <p:cNvSpPr/>
          <p:nvPr/>
        </p:nvSpPr>
        <p:spPr>
          <a:xfrm>
            <a:off x="566928" y="5815584"/>
            <a:ext cx="11064240" cy="411480"/>
          </a:xfrm>
          <a:prstGeom prst="rect">
            <a:avLst/>
          </a:prstGeom>
          <a:solidFill>
            <a:srgbClr val="FBF3E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6"/>
          <p:cNvSpPr/>
          <p:nvPr/>
        </p:nvSpPr>
        <p:spPr>
          <a:xfrm>
            <a:off x="731520" y="5815584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CPU에서 2.90배 차이였던 YOLO11n과 YOLO26s의 추론 시간이 젯슨 + TensorRT 에서는 평균 33.4 ms 대 36.3 ms, 약 1.09배까지 좁혀졌다.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566928" y="6272784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TensorRT 변환 뒤 세 모델 모두 실시간 범위에서 돌았고, CPU에서 벌어졌던 YOLO11n과 YOLO26s의 차이가 거의 사라졌다.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조건 cuda:0 · FP32 · imgsz 640 · Conf 0.55 · IoU 0.70.  분할 모델의 FPS 편차는 마스크 표시 시간에서 나온다.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경과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안드로이드 앱 시연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저장소에서 앱을 내려받아 이 자리에서 직접 사용해 봅니다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566928" y="1517904"/>
            <a:ext cx="6903720" cy="210312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841248" y="1664208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깃허브 저장소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41248" y="1975104"/>
            <a:ext cx="6400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github.com/lnh24390/QSEXFProject2/releases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841248" y="250545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Releases 탭의 최신 APK 파일     저장소에 app/ 앱 코드와 ml/ 학습 · 변환 스크립트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41248" y="2834640"/>
            <a:ext cx="64008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안드로이드 기기에서만 동작합니다. 설치할 때 "알 수 없는 출처 허용"을 한 번 눌러 주셔야 합니다.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717536" y="1517904"/>
            <a:ext cx="3913632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0" descr="/home/claude/work/fig/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3104" y="1627632"/>
            <a:ext cx="1682496" cy="168249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7717536" y="3310128"/>
            <a:ext cx="39136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 카메라로 바로 접속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566928" y="3785616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시연 순서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566928" y="4169664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566928" y="4279392"/>
            <a:ext cx="1993392" cy="932688"/>
          </a:xfrm>
          <a:prstGeom prst="roundRect">
            <a:avLst>
              <a:gd name="adj" fmla="val 5882"/>
            </a:avLst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7"/>
          <p:cNvSpPr/>
          <p:nvPr/>
        </p:nvSpPr>
        <p:spPr>
          <a:xfrm>
            <a:off x="566928" y="4407408"/>
            <a:ext cx="19933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저장소 접속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566928" y="4718304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QR 또는 주소로 이동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2564892" y="4599432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2834640" y="4279392"/>
            <a:ext cx="1993392" cy="932688"/>
          </a:xfrm>
          <a:prstGeom prst="roundRect">
            <a:avLst>
              <a:gd name="adj" fmla="val 5882"/>
            </a:avLst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1"/>
          <p:cNvSpPr/>
          <p:nvPr/>
        </p:nvSpPr>
        <p:spPr>
          <a:xfrm>
            <a:off x="2834640" y="4407408"/>
            <a:ext cx="19933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APK 내려받기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2834640" y="4718304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Releases 에서 설치 파일 받기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4832604" y="4599432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5102352" y="4279392"/>
            <a:ext cx="1993392" cy="932688"/>
          </a:xfrm>
          <a:prstGeom prst="roundRect">
            <a:avLst>
              <a:gd name="adj" fmla="val 5882"/>
            </a:avLst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5"/>
          <p:cNvSpPr/>
          <p:nvPr/>
        </p:nvSpPr>
        <p:spPr>
          <a:xfrm>
            <a:off x="5102352" y="4407408"/>
            <a:ext cx="19933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설치 · 권한 허용</a:t>
            </a:r>
            <a:endParaRPr lang="en-US" sz="1250" dirty="0"/>
          </a:p>
        </p:txBody>
      </p:sp>
      <p:sp>
        <p:nvSpPr>
          <p:cNvPr id="30" name="Text 26"/>
          <p:cNvSpPr/>
          <p:nvPr/>
        </p:nvSpPr>
        <p:spPr>
          <a:xfrm>
            <a:off x="5102352" y="4718304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 권한 1회 허용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7100316" y="4599432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7370064" y="4279392"/>
            <a:ext cx="1993392" cy="932688"/>
          </a:xfrm>
          <a:prstGeom prst="roundRect">
            <a:avLst>
              <a:gd name="adj" fmla="val 5882"/>
            </a:avLst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9"/>
          <p:cNvSpPr/>
          <p:nvPr/>
        </p:nvSpPr>
        <p:spPr>
          <a:xfrm>
            <a:off x="7370064" y="4407408"/>
            <a:ext cx="19933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촬영 후 분석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7370064" y="4718304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재활용품을 찍으면 품목 표시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9368028" y="4599432"/>
            <a:ext cx="274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9637776" y="4279392"/>
            <a:ext cx="1993392" cy="932688"/>
          </a:xfrm>
          <a:prstGeom prst="roundRect">
            <a:avLst>
              <a:gd name="adj" fmla="val 5882"/>
            </a:avLst>
          </a:prstGeom>
          <a:solidFill>
            <a:srgbClr val="DCE7E2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3"/>
          <p:cNvSpPr/>
          <p:nvPr/>
        </p:nvSpPr>
        <p:spPr>
          <a:xfrm>
            <a:off x="9637776" y="4407408"/>
            <a:ext cx="19933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배출 안내 확인</a:t>
            </a:r>
            <a:endParaRPr lang="en-US" sz="1250" dirty="0"/>
          </a:p>
        </p:txBody>
      </p:sp>
      <p:sp>
        <p:nvSpPr>
          <p:cNvPr id="38" name="Text 34"/>
          <p:cNvSpPr/>
          <p:nvPr/>
        </p:nvSpPr>
        <p:spPr>
          <a:xfrm>
            <a:off x="9637776" y="4718304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품목별 안내 문구 확인</a:t>
            </a:r>
            <a:endParaRPr lang="en-US" sz="1050" dirty="0"/>
          </a:p>
        </p:txBody>
      </p:sp>
      <p:sp>
        <p:nvSpPr>
          <p:cNvPr id="39" name="Shape 35"/>
          <p:cNvSpPr/>
          <p:nvPr/>
        </p:nvSpPr>
        <p:spPr>
          <a:xfrm>
            <a:off x="566928" y="5504688"/>
            <a:ext cx="11064240" cy="411480"/>
          </a:xfrm>
          <a:prstGeom prst="rect">
            <a:avLst/>
          </a:prstGeom>
          <a:solidFill>
            <a:srgbClr val="FBF3E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6"/>
          <p:cNvSpPr/>
          <p:nvPr/>
        </p:nvSpPr>
        <p:spPr>
          <a:xfrm>
            <a:off x="731520" y="5504688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탐지가 0건이면 품목을 단정하지 않고 각도·거리를 바꿔 다시 찍도록 안내합니다. 신뢰도가 비슷한 후보가 둘이면 함께 보여 줍니다.</a:t>
            </a:r>
            <a:endParaRPr lang="en-US" sz="1150" dirty="0"/>
          </a:p>
        </p:txBody>
      </p:sp>
      <p:sp>
        <p:nvSpPr>
          <p:cNvPr id="41" name="Text 37"/>
          <p:cNvSpPr/>
          <p:nvPr/>
        </p:nvSpPr>
        <p:spPr>
          <a:xfrm>
            <a:off x="566928" y="6053328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저장소에서 앱을 내려받아 청중이 직접 촬영하고 배출 안내를 확인하는 순서로 진행한다.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내부에서 추론이 이뤄져 네트워크 없이 동작한다. 클래스별 신뢰도 기준 0.13 ~ 0.75, 없으면 0.45.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경과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확장 방향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탐지 결과를 두 방향으로 넓힐 수 있다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566928" y="1572768"/>
            <a:ext cx="5385816" cy="187452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768096" y="1737360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젯슨 — 보는 장치에서 분류하는 장치로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86384" y="2103120"/>
            <a:ext cx="4946904" cy="1197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카메라로 보고 화면에 품목을 표시하는 데까지 한다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결과를 신호로 삼아 액추에이터를 움직이면 투입된 재활용품을 품목별 칸으로 자동으로 내려보낼 수 있다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고르지 않아도 되는 자동 분리배출 장치로 이어진다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45352" y="1572768"/>
            <a:ext cx="5385816" cy="187452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6446520" y="1737360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— 버리는 순간을 넘어 거리로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464808" y="2103120"/>
            <a:ext cx="4946904" cy="1197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사용자가 찍은 사진으로 품목과 배출 방법을 안내한다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탐지로 잘못 버린 배출과 길에 떨어진 재활용품을 실시간으로 찾아낼 수 있다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자리에서 바로 분류해 담을 수 있어 거리 청소 활동에 쓰인다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66928" y="367588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확장에 필요한 조건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66928" y="4059936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566928" y="4187952"/>
            <a:ext cx="3493008" cy="128016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768096" y="4352544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장치 연동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68096" y="4718304"/>
            <a:ext cx="309067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탐지 결과를 액추에이터 제어 신호로 바꾸는 구간과, 오탐일 때 멈추는 안전 조건이 필요하다.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352544" y="4187952"/>
            <a:ext cx="3493008" cy="128016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9"/>
          <p:cNvSpPr/>
          <p:nvPr/>
        </p:nvSpPr>
        <p:spPr>
          <a:xfrm>
            <a:off x="4553712" y="4352544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데이터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4553712" y="4718304"/>
            <a:ext cx="309067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실내에서 촬영한 지금 자료로는 거리 장면을 담지 못한다. 노면·조명·거리에서 모은 자료가 필요하다.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138160" y="4187952"/>
            <a:ext cx="3493008" cy="128016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8339328" y="4352544"/>
            <a:ext cx="30906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품목 혼동 보완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8339328" y="4718304"/>
            <a:ext cx="309067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재질이 비슷한 품목의 혼동을 줄여야 자동 분류에서 잘못 내려보내는 일을 막을 수 있다.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5669280"/>
            <a:ext cx="11064240" cy="411480"/>
          </a:xfrm>
          <a:prstGeom prst="rect">
            <a:avLst/>
          </a:prstGeom>
          <a:solidFill>
            <a:srgbClr val="FBF3E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5"/>
          <p:cNvSpPr/>
          <p:nvPr/>
        </p:nvSpPr>
        <p:spPr>
          <a:xfrm>
            <a:off x="731520" y="5669280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방향 모두 이번 프로젝트에서 검증한 범위를 넘어서는 계획이며, 현재 성능을 그대로 적용할 수 있다는 뜻은 아니다.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566928" y="6126480"/>
            <a:ext cx="1042416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젯슨은 자동 분류 장치로, 앱은 거리 재활용품 정리 서비스로 넓힐 수 있다. 다만 이번 검증 범위를 넘어선 계획이다.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수행 경과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잠정 결론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 한 가지로는 고를 수 없다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5096" cy="2523744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605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확인 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관찰 결과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정확도 1위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YOLO26s — 공통 시험 mAP 64.12% · 실사용 F1 78.80% / 배경 150장 중 40장(26.7%) 오탐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오탐이 적은 모델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검출 최종 전이 F1 78.17% · 1/150장 / 분할 초기 F1 74.76% · 1/150장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general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시험 자료 3,677객체 중 82개(2.2%)뿐이고 모든 모델이 10%대에 머물렀다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독립성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시험 자료가 학습과 같은 수집 경로에서 나와 현장 성능으로 말할 수 없다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기기 성능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젯슨 오린 나노에서 TensorRT 변환 후 9~17 FPS로 동작했다 (변환 전 1~2 FPS)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66928" y="440740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용도별 선택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66928" y="4791456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566928" y="4919472"/>
            <a:ext cx="5385816" cy="118872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/>
          <p:cNvSpPr/>
          <p:nvPr/>
        </p:nvSpPr>
        <p:spPr>
          <a:xfrm>
            <a:off x="768096" y="5084064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박스만 필요한 경우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68096" y="5449824"/>
            <a:ext cx="498348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 최종 전이 — F1 78.17% · 배경 오탐 1/150장 · 한 장 8.7 ms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245352" y="4919472"/>
            <a:ext cx="5385816" cy="118872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/>
          <p:cNvSpPr/>
          <p:nvPr/>
        </p:nvSpPr>
        <p:spPr>
          <a:xfrm>
            <a:off x="6446520" y="5084064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외곽선이 필요한 경우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6446520" y="5449824"/>
            <a:ext cx="498348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YOLO11n-seg 초기 — F1 74.76% · 배경 오탐 1/150장 · 한 장 9.1 ms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566928" y="6181344"/>
            <a:ext cx="1042416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정확도가 가장 높은 모델과 오탐이 가장 적은 모델이 서로 달라, 용도에 따라 골라야 한다.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128016"/>
            <a:ext cx="685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FD8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146304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평가 의견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577840" y="146304"/>
            <a:ext cx="6217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성능 차이의 원인 분석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B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사실과 원인 가설을 분리해 정리했다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66928" y="1435608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11055096" cy="201168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430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분석 관점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관찰 사실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43C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원인 가설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7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 양 · 분포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작은 물체 검출률 36.9%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거리 · 해상도의 한계 — 640px에서 0.1%는 한 변 20픽셀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라벨 품질 · 배경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비닐 → 종이 혼동 1,208건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재질 경계가 모호하고 라벨 기준이 한 줄로 서지 않는다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모델 구조 · 규모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YOLO26s가 +3.73%p 우위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연산량 3.5배를 쓴 대가이며 구조 개선이 아니다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전이학습 · 조정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초기 대비 −2.00%p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보완 자료 분포 불일치와 시작 학습률 설정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8BAB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66928" y="3712464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평가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66928" y="4096512"/>
            <a:ext cx="1005840" cy="41148"/>
          </a:xfrm>
          <a:prstGeom prst="rect">
            <a:avLst/>
          </a:prstGeom>
          <a:solidFill>
            <a:srgbClr val="1F5C4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/>
          <p:cNvSpPr/>
          <p:nvPr/>
        </p:nvSpPr>
        <p:spPr>
          <a:xfrm>
            <a:off x="566928" y="4187952"/>
            <a:ext cx="5385816" cy="1920240"/>
          </a:xfrm>
          <a:prstGeom prst="rect">
            <a:avLst/>
          </a:prstGeom>
          <a:solidFill>
            <a:srgbClr val="F1F5F3"/>
          </a:solidFill>
          <a:ln w="6350">
            <a:solidFill>
              <a:srgbClr val="A8BAB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/>
          <p:cNvSpPr/>
          <p:nvPr/>
        </p:nvSpPr>
        <p:spPr>
          <a:xfrm>
            <a:off x="768096" y="4352544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확인된 결론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86384" y="4718304"/>
            <a:ext cx="4946904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정확도는 YOLO26s, 속도와 경량성은 YOLO11n이 앞선다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 이미지를 함께 학습시켜 없는 물체를 안내하는 오탐을 줄였다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전이학습과 세그멘테이션은 이번 조건에서 이득이 없었다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TensorRT 변환으로 젯슨에서 실시간 동작을 확인했다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245352" y="4187952"/>
            <a:ext cx="5385816" cy="1920240"/>
          </a:xfrm>
          <a:prstGeom prst="rect">
            <a:avLst/>
          </a:prstGeom>
          <a:solidFill>
            <a:srgbClr val="FBF3E4"/>
          </a:solidFill>
          <a:ln w="6350">
            <a:solidFill>
              <a:srgbClr val="D9C8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/>
          <p:cNvSpPr/>
          <p:nvPr/>
        </p:nvSpPr>
        <p:spPr>
          <a:xfrm>
            <a:off x="6446520" y="4352544"/>
            <a:ext cx="4983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A6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수치가 나온 환경과 그 뜻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6464808" y="4718304"/>
            <a:ext cx="4946904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사진이 학습과 같은 경로에서 모였다 → 같은 환경에서의 성능이며, 현장 수치로 옮겨 말할 수 없다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젯슨 9~17 FPS는 시연 중 캡처에 찍힌 순간값이다 → 실시간 동작은 확인했으나 평균 성능으로 말할 수 없다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전이 · 분할 모델은 클래스별 임계값을 정하지 않았다 → 실사용 F1 비교에서 불리했을 여지가 있다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566928" y="6181344"/>
            <a:ext cx="1042416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1F5C4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 </a:t>
            </a:r>
            <a:r>
              <a:rPr lang="en-US" sz="1050" dirty="0">
                <a:solidFill>
                  <a:srgbClr val="143C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이번 범위에서 확인한 것이고 오른쪽은 그 범위의 경계다. 두 상자를 함께 읽어야 한다.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6622853-6DBF-42F7-B45F-D9BFA519352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5C4D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3" name="Shape 0">
            <a:extLst>
              <a:ext uri="{FF2B5EF4-FFF2-40B4-BE49-F238E27FC236}">
                <a16:creationId xmlns:a16="http://schemas.microsoft.com/office/drawing/2014/main" id="{D4B8C830-8223-4399-9775-F6545BF35D5A}"/>
              </a:ext>
            </a:extLst>
          </p:cNvPr>
          <p:cNvSpPr>
            <a:spLocks noGrp="1"/>
          </p:cNvSpPr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1F5C4D"/>
          </a:solidFill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B9F2FB-FEB1-4ECD-AB92-3EA6E0B1F4B2}"/>
              </a:ext>
            </a:extLst>
          </p:cNvPr>
          <p:cNvSpPr txBox="1"/>
          <p:nvPr/>
        </p:nvSpPr>
        <p:spPr>
          <a:xfrm>
            <a:off x="2537012" y="2680447"/>
            <a:ext cx="6831106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800" dirty="0"/>
              <a:t>감사합니다</a:t>
            </a:r>
            <a:endParaRPr lang="en-US" altLang="ko-KR" sz="4800" dirty="0"/>
          </a:p>
          <a:p>
            <a:pPr algn="ctr"/>
            <a:endParaRPr lang="en-US" altLang="ko-KR" sz="1400" dirty="0"/>
          </a:p>
          <a:p>
            <a:pPr algn="r"/>
            <a:endParaRPr lang="en-US" altLang="ko-KR" sz="1400" dirty="0"/>
          </a:p>
          <a:p>
            <a:pPr algn="r"/>
            <a:r>
              <a:rPr lang="en-US" altLang="ko-KR" sz="1400" dirty="0"/>
              <a:t>Q&amp;A</a:t>
            </a:r>
            <a:r>
              <a:rPr lang="ko-KR" altLang="en-US" sz="1400" dirty="0"/>
              <a:t>는 메일로 받겠습니다</a:t>
            </a:r>
            <a:r>
              <a:rPr lang="en-US" altLang="ko-KR" sz="1400" dirty="0"/>
              <a:t>.</a:t>
            </a:r>
          </a:p>
          <a:p>
            <a:pPr algn="r"/>
            <a:r>
              <a:rPr lang="ko-KR" altLang="en-US" sz="1400" dirty="0"/>
              <a:t>구두질문은 안 받겠습니다</a:t>
            </a:r>
            <a:r>
              <a:rPr lang="en-US" altLang="ko-KR" sz="1400" dirty="0"/>
              <a:t>.</a:t>
            </a:r>
            <a:br>
              <a:rPr lang="en-US" altLang="ko-KR" sz="1400" dirty="0"/>
            </a:br>
            <a:r>
              <a:rPr lang="en-US" altLang="ko-KR" sz="1400" dirty="0"/>
              <a:t>Mail : nh24390@naver.com</a:t>
            </a:r>
          </a:p>
        </p:txBody>
      </p:sp>
      <p:pic>
        <p:nvPicPr>
          <p:cNvPr id="6" name="Image 0" descr="/home/claude/work/fig/qr.png">
            <a:extLst>
              <a:ext uri="{FF2B5EF4-FFF2-40B4-BE49-F238E27FC236}">
                <a16:creationId xmlns:a16="http://schemas.microsoft.com/office/drawing/2014/main" id="{A24601ED-5A7E-ABA8-F99B-AC63F74B61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3104" y="1627632"/>
            <a:ext cx="1682496" cy="168249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4F4034E-EFFF-3671-6F30-AB10216D3B16}"/>
              </a:ext>
            </a:extLst>
          </p:cNvPr>
          <p:cNvSpPr txBox="1"/>
          <p:nvPr/>
        </p:nvSpPr>
        <p:spPr>
          <a:xfrm>
            <a:off x="8833103" y="3310128"/>
            <a:ext cx="21303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 err="1"/>
              <a:t>Github</a:t>
            </a:r>
            <a:r>
              <a:rPr lang="en-US" altLang="ko-KR" sz="1600" dirty="0"/>
              <a:t> APK</a:t>
            </a:r>
            <a:r>
              <a:rPr lang="ko-KR" altLang="en-US" sz="1600" dirty="0"/>
              <a:t>다운로드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9866913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applause.wav"/>
          </p:stSnd>
        </p:sndAc>
      </p:transition>
    </mc:Choice>
    <mc:Fallback xmlns="">
      <p:transition spd="slow">
        <p:sndAc>
          <p:stSnd>
            <p:snd r:embed="rId4" name="applause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" presetClass="exit" presetSubtype="4" fill="hold" grpId="1" nodeType="afterEffect">
                                  <p:stCondLst>
                                    <p:cond delay="75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" presetClass="exit" presetSubtype="1" fill="hold" grpId="1" nodeType="withEffect">
                                  <p:stCondLst>
                                    <p:cond delay="75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6" presetClass="entr" presetSubtype="21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  <p:bldP spid="4" grpId="0"/>
      <p:bldP spid="7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6101</Words>
  <Application>Microsoft Office PowerPoint</Application>
  <PresentationFormat>와이드스크린</PresentationFormat>
  <Paragraphs>918</Paragraphs>
  <Slides>32</Slides>
  <Notes>31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5" baseType="lpstr">
      <vt:lpstr>맑은 고딕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이미지 기반 재활용품 분리배출 안내 앱</dc:title>
  <dc:subject>PptxGenJS Presentation</dc:subject>
  <dc:creator>물시느끝</dc:creator>
  <cp:lastModifiedBy>남호 이</cp:lastModifiedBy>
  <cp:revision>14</cp:revision>
  <dcterms:created xsi:type="dcterms:W3CDTF">2026-09-16T10:34:00Z</dcterms:created>
  <dcterms:modified xsi:type="dcterms:W3CDTF">2026-09-16T12:09:29Z</dcterms:modified>
</cp:coreProperties>
</file>