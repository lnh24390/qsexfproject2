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6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8FB3A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54.15</c:v>
                </c:pt>
                <c:pt idx="1">
                  <c:v>51.24</c:v>
                </c:pt>
                <c:pt idx="2">
                  <c:v>34.020000000000003</c:v>
                </c:pt>
                <c:pt idx="3">
                  <c:v>57.41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9B-4251-A1BF-35C929FB28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mAP50–95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47.06</c:v>
                </c:pt>
                <c:pt idx="1">
                  <c:v>44.17</c:v>
                </c:pt>
                <c:pt idx="2">
                  <c:v>26.68</c:v>
                </c:pt>
                <c:pt idx="3">
                  <c:v>50.25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9B-4251-A1BF-35C929FB28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B64"/>
              </a:solidFill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C32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43C32"/>
                </a:solidFill>
                <a:latin typeface="맑은 고딕"/>
              </a:rPr>
              <a:t>CPU 추론 중앙값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추론 중앙값 (ms)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102.8</c:v>
                </c:pt>
                <c:pt idx="1">
                  <c:v>108.3</c:v>
                </c:pt>
                <c:pt idx="2">
                  <c:v>167.6</c:v>
                </c:pt>
                <c:pt idx="3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6-44EC-8D6A-F56889F10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431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양식이 요구하는 5개 장 구성이라는 것만 짚고 빠르게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재활용률 세 숫자(종이 47.7 · 플라스틱 55.8 · 유리 58.6%)로 문제를 연다.
실시간 연속 탐지에서 촬영 후 분석으로 바꾼 이유는 배경 오탐을 줄이기 위해서다.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흐름 칩을 왼쪽에서 오른쪽으로 짚는다.
핵심은 모든 추론이 기기 안에서 일어나 네트워크 없이 동작한다는 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역할은 빠르게 넘기고, 아래 공통 기준 카드 3장(지표 · 조건 · 장비)에 시간을 쓴다.
"네 사람이 같은 조건으로 쟀다"가 뒤 수치들의 전제가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기간 칩을 따라가다 표의 9/13 ~ 9/14 행(단계별 전이학습 · 공통 조건 재측정)에서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YOLO를 고른 이유는 저사양 장비에서의 실시간 처리다. 파라미터 수치는 아래 회색 띠에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위쪽의 1/2 → 1/32 해상도 줄을 왼쪽에서 오른쪽으로 따라간다.
"20픽셀짜리 물체는 두세 칸뿐"이라는 말로 28쪽 작은 물체 문제의 복선을 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장과 같은 자리를 짚어 "구조는 같다"를 보인 뒤, 2.59M → 9.95M (3.8배)만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 0.7386, 마스크 0.7562는 차이가 0.018뿐이다.
두 test 목록이 60.4%만 겹친다는 단서를 반드시 함께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62,236장 · 배경 3,000장 · 10.68GB 세 숫자만 읽는다.
5,786장이 서로 다른 분할에 있다는 주의는 질문이 나올 때만 꺼낸다.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숫자 80 / 15 / 5를 먼저 짚고, 이유 카드 ①②③을 차례로 짚는다.
마지막에 아래 크림색 띠의 battery 40장 · general 0.3%를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6종과 학습 7클래스의 차이를 먼저 정리한다.
general을 뺀 이유 셋 중 "3,677객체 중 82개, 2.2%"를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병 사진의 박스 네 귀퉁이를 손으로 훑어 배경이 함께 들어간다는 것을 보인다.
아래 띠의 "두 데이터셋 클래스 번호 순서가 다르다"가 이 장에서 가장 중요한 한 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세 행을 위에서 아래로 짚으며 0.7% → 3.3% → 26.7%를 읽는다.
26.7% 모델은 모델 크기도 함께 달랐으므로 배경 효과만으로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전이학습과 미세 조정의 정의를 한 줄씩 말한다.
아래 표에서는 층 고정이 2차 전이에만 걸려 있다는 점만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6곳은 빠르게 넘기고, 아래 실제 오인식 사례(수건 → 비닐 등)에 시간을 쓴다.
기존 라벨도 검출 132개 · 분할 66개를 정정했다는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 표와 아래 표는 평가 자료가 서로 다르다는 것을 먼저 말한 뒤 숫자를 읽는다.
배경을 뺀 모델만 24장 중 3장 오탐이 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 · can · paper는 높고 plastic · glass · general이 낮다.
투명한 재질을 가르기 어렵다는 이야기로 29쪽 혼동 분석과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1차에서 크게 떨어진 뒤 단계마다 회복했지만 초기 모델 64.1을 넘지 못했다.
그림의 세로축이 54~67 구간이라 변화가 과장돼 보인다는 점을 덧붙인다.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84.92 → 69.56, 시작 학습률이 1,000배 차이였다.
대조 실험 2건이 모두 회복에 실패해 단일 원인으로 확정하지는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기록의 80%대가 공통 시험에서 55~66%로 내려가는 이유 3가지를 아래 상자에서 읽는다.
"학습 중 점수를 사용자 안내에 쓰지 않는다"가 이 장의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mAP는 60%대인데 실사용 F1은 75%대인 이유(지표 정의의 차이)를 먼저 말한 뒤 막대를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모델당 354개 입력 · CPU FP32라는 조건을 먼저 말하고 DY 26s의 우위(+4.83%p 등)를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기준으로 DY 26s는 AI 11n의 약 2.90배 느리다.
흐림 조건에서 −31.29%p 떨어진 것도 함께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+3.19%p 우위지만 end2end=False로 돌려 YOLO26의 NMS-free 이점이 빠졌다.
규모도 3.8배 달라 공정한 비교가 아니라는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가림 장면은 6/7, 혼합 장면은 0/6이다.
혼합 장면에서 플라스틱 · 종이 · 비닐을 서로 혼동한다는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놓친 885개와 틀린 674개를 이유별로 나눴다.
작은 물체 검출률 36.9%가 이 장에서 가장 중요한 숫자다.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비닐 ↔ 종이 1,208건, 플라스틱 ↔ 유리가 상위 혼동이다.
대부분 양방향이라 한쪽 클래스만 고쳐서는 해결되지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카메라 · 전처리 · 추론 · NMS는 플러그인이 네이티브에서 처리하고 앱은 배출 안내만 얹는다.
클래스별 신뢰도 기준 0.13 ~ 0.75는 F1이 최대가 되는 지점을 재서 정한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장의 핵심은 젯슨이 .pt 실행 1~2 FPS에서 TensorRT 변환 후 9~17 FPS로 올라갔다는 것이다.
같은 장치에서 실행 구성만 바꾼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마커펜 하나가 프레임마다 다섯 번 다르게 판정된 이야기가 이 장의 중심이다.
성능을 재는 자료가 아니라 동작을 보여 주는 화면임을 먼저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추론 시간 열을 먼저 짚어 세 모델이 비슷하다는 것을 보인다.
CPU에서 2.90배였던 11n과 26s 차이가 젯슨에서 1.09배로 좁혀진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QR을 먼저 찍게 한 뒤 시연 순서 칩을 따라간다.
발표 전 저장소를 공개로 바꾸고 주소와 QR을 교체했는지 반드시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젯슨은 액추에이터 자동 분류로, 앱은 거리 재활용품 감지로 넓힐 수 있다.
두 방향 모두 이번에 검증한 범위를 넘어선 계획이라는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1위 모델과 오탐이 적은 모델이 서로 다르다. 용도별로 골라야 한다는 것이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이번 범위에서 확인한 것, 오른쪽은 그 범위의 경계다.
오른쪽 세 줄을 화살표 기준으로 하나씩 읽고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mailto:nh24390@naver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3모듈 프로젝트  /  임시 2차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</a:t>
            </a: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· 전이학습 결과 · 오류 원인 분석 · 앱 구현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463040" cy="4572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88620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8862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물시느끝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3068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4306824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이남호(팀장) · 김아인 · 오승재 · 여동엽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274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472744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07. ~ 2026. 09. 16.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5840" y="960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51560" y="1719072"/>
            <a:ext cx="1371600" cy="4572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2240280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7400" y="22860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057400" y="25877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· 접근 전환 · 시스템 흐름 · 서비스 목표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3026664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57400" y="30723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057400" y="33741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업무와 모든 비교에 적용한 공통 기준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3813048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57400" y="3858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057400" y="41605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· 모델 구조 · 라벨링 · 데이터 구성 · 전이학습 전략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05840" y="4599432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057400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2057400" y="494690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· 전이학습 · 모델 비교 · 오류 분석 · 앱과 젯슨 구현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385816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2057400" y="54315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2057400" y="57332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및 접근 전환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불편했는가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00200"/>
            <a:ext cx="107624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 품목과 배출 기준을 각각 찾아야 해 정보 탐색이 번거롭다.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품목만 확인하는 방식은 여러 품목을 한 번에 버리는 실제 상황과 맞지 않는다.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데이터셋은 해외 촬영 환경 위주여서 국내 생활 재활용품의 조명 · 배경 조건과 차이가 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11일 입력 방식 전환 — 카메라 연속 추론에서 사진 분석으로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0815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11055096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연속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촬영 후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 객체 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품목의 위치 · 종류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계열 · YOLO26s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촬영 후 전이학습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평가로 취약 장면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· 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연동 · 기기 성능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단계의 분류 오류를 줄이려고, 실시간 연속 탐지 대신 촬영 후 분석 방식으로 방향을 바꿨다.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재활용률 — 종이 47.7% · 플라스틱 55.8% · 유리 58.6% · 금속 74.5% (환경부 환경통계연감 2021, 2020년 기준).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흐름과 서비스 목표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장이 배출 안내가 되기까지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전처리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· 정규화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객체 검출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· 위치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후처리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NMS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표시 · 안내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배출법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" y="288036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28803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결과가 없으면 각도 · 거리를 바꿔 다시 촬영하도록 안내하며, 사진은 저장하거나 외부로 전송하지 않는다.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66928" y="39502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3" name="Shape 30"/>
          <p:cNvSpPr/>
          <p:nvPr/>
        </p:nvSpPr>
        <p:spPr>
          <a:xfrm>
            <a:off x="566928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범위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6384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분리배출 안내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장에서 여러 품목을 함께 인식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352544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53712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품목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572000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· 유리 · 배터리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138160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39328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357616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 설치형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장을 받아 품목과 배출 방법까지 안내하는 것이 목표이며, 추론은 모두 기기 안에서 이뤄진다.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안내 품목은 6종이고 학습·평가는 general 을 포함한 7클래스다. 두 범위의 차이는 13쪽에서 정리한다.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: 물시느끝 (4인)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이남호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· 요구사항 · 통합 점검 ·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수행계획서 · 통합 점검 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김아인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· 라벨 기준 · 품질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· 라벨링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오승재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학습 · 평가 · 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모델 · 성능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여동엽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Flutter 앱 · SEG 시험 · 젯슨 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모델 시험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3159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비교에 공통으로 적용한 기준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000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· mAP50–95 · 정밀도 · 재현율을 같은 정의로 산출한다.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52544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3712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53712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외부 입력과 후처리 설정을 네 모델에 똑같이 적용한다.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38160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39328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339328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측정값과 실제 기기 측정값을 구분해 기록한다.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사람이 과제를 나누되 지표 · 조건 · 장비는 하나로 통일해, 뒤에 나오는 수치를 서로 비교할 수 있게 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준비에서 앱 구현까지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9/7~9/9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9/10~9/11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외부 비교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9/12~9/13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· 보완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9/13~9/14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· 결과 정리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9/15~9/16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진행 상황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25237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9/7 ~ 9/9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· 클래스 정리 · 라벨 기준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 · 7클래스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9/10 ~ 9/11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3건, 사진 입력 방식으로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9/12 ~ 9/13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4종 · 배경 · 밝기 · 흐림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비교보고서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9/13 ~ 9/14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전이학습 · 공통 조건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10종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 ~ 9/16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젯슨 점검, 결과 정리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동작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동안 데이터 구축 → 1차 학습 → 전이학습 → 공통 조건 재측정 순으로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계획 기간 : 2026. 09. 07. ~ 09. 16.  (주말 09/12~09/13 포함 작업)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이미지를 한 번만 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전체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장을 통째로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7670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644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644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신경망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34644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 Only Look Once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5622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2596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596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결과 출력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2596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클래스 · 신뢰도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YOLO11n을 경량 검출의 기준으로 삼은 이유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32644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요구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86384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품목을 한 장에서 인식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· 젯슨에서 실행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8일의 짧은 개발 일정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 비교 필요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45352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64808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위치와 종류를 함께 출력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nano 규모로 계산 · 메모리 부담 완화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사전학습 가중치와 학습 · 변환 도구 활용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YOLO11n-seg와 같은 계열로 비교 가능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62356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56235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YOLO11n은 파라미터 2,591,205개 · 6.5 GFLOPs · 가중치 5.5 MB다. 같은 계열의 YOLO11n-seg(2.84M · 9.8 GFLOPs)와 구조가 같아 비교 조건을 맞출 수 있다.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저사양 장비에서 여러 물체를 한 번에 잡아야 해서 YOLO 계열의 가장 가벼운 모델을 골랐다.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= You Only Look Once.  공식 COCO 기준 YOLO11n은 mAP50–95 39.5% · CPU ONNX 56.1 ms (Ultralytics).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①  YOLO11n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백본이 특징을 뽑고, 넥이 해상도를 합치고, 헤드가 세 해상도에서 동시에 예측한다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읽는 법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사진이 줄어드는 정도(1/2 → 1/32, 640px 기준 320 → 20px), 세로는 역할이다.
보라 = 백본(특징 뽑기)
파랑 = 넥(해상도 합치기)
초록 = 헤드(최종 예측)
주황 화살표 = 건너뛰는 연결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헤드로 세 갈래가 들어간다. 작은 물체는 가장 촘촘한 1/8이 맡는다.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해상도를 32분의 1까지 줄이며 특징을 뽑기 때문에, 작은 물체는 남는 칸이 두세 개뿐이라 놓치기 쉽다.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체크포인트에서 읽은 실제 구성 — 전체 2.59M(백본 1.37M · 넥 0.79M · 헤드 0.43M) · 6.5 GFLOPs.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②  YOLO26s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구성은 같고, 같은 자리의 층이 더 두꺼워졌을 뿐이다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YOLO11n과 무엇이 다른가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구성과 연결은 그대로다. 같은 자리의 층에 채널이 많아 파라미터만 늘었다.
백본   1.37M → 5.44M  (4.0배)
넥     0.79M → 3.57M  (4.5배)
헤드   0.43M → 0.94M  (2.2배)
전체   2.59M → 9.95M  (3.8배)
연산량  6.5 → 22.8 GFLOPs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바꾸지 않았으므로 성능 차이는 규모와 학습 설정에서 나온 것이다.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26s는 11n과 구조가 같고 규모만 3.8배다. 정확도는 오르지만 그만큼 연산량을 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키운 결과 — 공통 시험 mAP50–95 60.39% → 64.12%(+3.73%p), 한 장 처리 8.05 → 9.78 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박스는 위치를, 마스크는 객체 영역을 표현한다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(Bounding Box)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객체를 감싸는 사각형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중심 · 너비 · 높이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간단한 위치 · 종류 안내에 충분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박스 안에 배경이 함께 들어감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배출 안내에 필요한 기본 정보를 모두 담는다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세그멘테이션 (Segmentation)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객체별 윤곽 · 마스크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다각형 좌표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복잡한 윤곽과 겹침 영역을 표현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세밀한 라벨과 추가 연산이 필요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영역 정보가 안내에 더하는 가치를 확인해야 한다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크기(YOLO11n)에서 두 방식을 학습해 비교한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2702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5096" cy="1536192"/>
        </p:xfrm>
        <a:graphic>
          <a:graphicData uri="http://schemas.openxmlformats.org/drawingml/2006/table">
            <a:tbl>
              <a:tblPr/>
              <a:tblGrid>
                <a:gridCol w="373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 (자체 test)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 · 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 · 5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 (+18%) · 1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크기로 박스와 마스크를 각각 학습해 비교했고, 세그멘테이션이 뚜렷이 앞서지는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라벨 90,423개 중 6,678개(7.4%)가 좌표 4점의 사각형이다(종이 31.7% · 배터리 11.6%).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10,000장 기준으로 모아 62,236장을 구축했다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62,236장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원본 이미지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· 분할 두 데이터셋이 같은 사진에서 나왔다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3,000장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클래스가 없는 COCO 사진 · 전체의 4.8%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10.68 GB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변환 후 용량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21.21 GB → 10.68 GB, 부가정보 제거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정한 기준과 실제 분할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75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64907"/>
              </p:ext>
            </p:extLst>
          </p:nvPr>
        </p:nvGraphicFramePr>
        <p:xfrm>
          <a:off x="566928" y="3794760"/>
          <a:ext cx="11055096" cy="16093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(bbox)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(seg)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중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66928" y="548640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548640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최소 1만 장을 기준으로 잡고, 검수 범위와 학습 시간을 함께 고려해 규모를 정했다.  640×640 재변환 · JPEG 품질 85 · EXIF · GPS · XMP · ICC 제거.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1만 장 기준으로 62,236장을 모았고, 그중 3,000장은 대상 객체가 없는 배경 사진이다.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데이터셋의 5,786장은 서로 다른 분할에 있어 평가 자료를 교차 사용하지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대 1.5 대 0.5로 학습 · 모델 선택 · 최종 평가를 분리한다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— 학습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49,874장 · 가중치를 학습한다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— 모델 선택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9,628장 · 설정과 모델을 고른다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— 최종 평가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2,734장 · 선택이 끝난 뒤 한 번만 쓴다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비율인가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5844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4" name="Shape 21"/>
          <p:cNvSpPr/>
          <p:nvPr/>
        </p:nvSpPr>
        <p:spPr>
          <a:xfrm>
            <a:off x="566928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자료가 많을수록 학습 쪽으로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8096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 장 규모에서는 6 : 2 : 2, 수만 장이 넘으면 8 : 1 : 1 쪽으로 옮겨 잡는 것이 일반적이다. 62,236장은 뒤쪽에 속한다.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52544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53712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평가는 비율이 아니라 개수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53712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5%가 2,734장 · 3,677객체다. 클래스마다 정답이 82 ~ 821개 있어 클래스별 성능을 잴 수 있다.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9328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val을 test보다 크게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39328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val은 설정과 모델을 고르며 여러 번 본다. 흔들리면 잘못된 모델을 고른다. test는 마지막에 한 번만 본다.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66928" y="5074920"/>
            <a:ext cx="11064240" cy="73152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5074920"/>
            <a:ext cx="10735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데이터에서 battery는 시험 자료가 0.4%(사진 40장 · 박스 159개), general은 0.3%(박스 38개)뿐이었다.  같은 원본 · 비슷한 장면 묶음 단위로 옮겨 세 클래스를 맞췄고, 평가용 박스가 battery 642개 · general 537개로 늘었다.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 · 검증 15 · 평가 5로 나눴다. 비율 자체보다 각 칸에 들어가는 절대 장수가 판단 기준이었다.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val · test는 건드리지 않고 train에서만 옮겼다. 분할에 걸친 그룹 0개 · 이미지-라벨 쌍 불일치 0건.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안내하고, 학습 · 평가는 general을 포함한 7클래스로 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813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범위 — 6종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 · 캔 · 유리 · 배터리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안내가 필요한 품목에 집중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81328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평가 — 7클래스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포함한 상태로 학습했다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평가에서 general을 뺀 것은 아니다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82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서비스 범위에서 뺀 이유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66160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범주가 넓다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아니라 "나머지"로 정의돼 라벨 기준을 한 줄로 잡기 어렵다.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적다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 3,677객체 중 82개(2.2%)뿐이라 수치가 흔들린다.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성능이 가장 낮다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모델 mAP50–95 10%대 · 실사용 재현율 9.76%로 최하위다.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47731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탐지 결과가 없을 때는 이렇게 처리한다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6928" y="51572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9" name="Shape 26"/>
          <p:cNvSpPr/>
          <p:nvPr/>
        </p:nvSpPr>
        <p:spPr>
          <a:xfrm>
            <a:off x="56692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없음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6692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 0건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07670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4644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4644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일반쓰레기로 단정 금지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34644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미탐일 수 있음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85622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12596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2596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재촬영 안내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12596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· 거리 변경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66928" y="627278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 학습은 general 을 포함한 7클래스로 했다. general 은 자료가 적고 성능이 가장 낮았다.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라벨링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 —  검출 데이터셋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 감싸는 가장 작은 사각형의 중심과 크기를 기록한다</a:t>
            </a:r>
            <a:endParaRPr lang="en-US" sz="1100" dirty="0"/>
          </a:p>
        </p:txBody>
      </p:sp>
      <p:pic>
        <p:nvPicPr>
          <p:cNvPr id="13" name="Image 0" descr="/home/claude/work/fig/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176272"/>
            <a:ext cx="4892040" cy="21370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(3 glass · 5 vinyl)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6112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중심 x   중심 y   너비   높이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96112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객체 하나 · 좌표는 사진 크기로 나눈 0 ~ 1 값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45352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4808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  —  분할 데이터셋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64808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외곽선을 따라가는 꼭짓점 좌표를 차례로 기록한다</a:t>
            </a:r>
            <a:endParaRPr lang="en-US" sz="1100" dirty="0"/>
          </a:p>
        </p:txBody>
      </p:sp>
      <p:pic>
        <p:nvPicPr>
          <p:cNvPr id="21" name="Image 1" descr="/home/claude/work/fig/f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76272"/>
            <a:ext cx="4892040" cy="213700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28232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(2 plastic · 3 paper · 5 vinyl)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64808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74536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x₁ y₁   x₂ y₂   …   xₙ yₙ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74536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수는 물체마다 다르다 · 박스는 이 좌표에서 자동으로 만든다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928" y="5504688"/>
            <a:ext cx="11064240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5504688"/>
            <a:ext cx="10735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번호 순서가 두 데이터셋에서 다르다 — 검출 0 paper · 1 plastic · 2 can · 3 glass · 4 battery · 5 vinyl · 6 general  /  분할 0 general · 1 can · 2 plastic · 3 paper · 4 glass · 5 vinyl · 6 battery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라벨링했고, 두 데이터셋의 클래스 번호 순서가 서로 다르다.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라벨 90,424개 · 분할 라벨 90,423개. 번호를 맞추지 않고 섞으면 학습은 되지만 성능이 무너진다.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없는 사진을 빈 라벨로 함께 학습해 오탐을 줄인다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없는 배경 이미지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대상 객체가 아예 없는 사진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파일을 두지 않거나 빈 파일로 둔다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0 ~ 10%가 권장 범위 — 이번 학습은 4.8%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118,287장 → 후보 8,315장 → 3,000장 선별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0116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 라벨 누락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객체는 있는데 라벨만 빠진 경우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물체를 "없다"고 가르치는 잘못된 신호가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이미지와 혼동해서는 안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시 표본 48장을 직접 눈으로 확인했다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767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 150장에서의 오탐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15137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79392"/>
          <a:ext cx="11055096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난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제외 — 검출 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객체가 없는 사진을 빈 라벨로 함께 학습시키자 배경 오탐이 26.7%에서 3% 아래로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제외 모델은 모델 크기도 함께 달라 배경 효과만으로 단정하지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전략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특징을 가져와 취약 장면에 맞춰 조금씩 움직인다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(Transfer Learning)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배우지 않고, 우리 재활용품 자료로 이미 학습한 가중치에서 출발한다. 앞부분이 뽑아내는 특징을 그대로 쓰므로 훨씬 적은 에포크로 수렴한다.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조정 (Fine-tuning)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학습률을 크게 낮추고 증강을 줄여, 기존에 맞히던 것을 무너뜨리지 않는 범위에서 가중치를 조금씩 움직인다.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실제 학습 설정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387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· 학습률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Mosaic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yolo11n.pt · yolo26s.pt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 (SGD) · lr0 0.01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best.pt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1e-4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3e-5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10블록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미세조정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5e-6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가중치에서 출발해 학습률을 낮추고 단계마다 조금씩 움직이는 방식으로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: 100 epoch 상한 · patience 10 · imgsz 640 · batch 16 · lrf 0.2 · warmup 1 epoch.  3차에만 약한 흐림을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 경로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자료에서 취약 장면 위주로 모으고, 직접 검수한 것만 학습에 넣었다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· 확인 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정답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TACO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후보 675장 (기존 중복 825장 별도)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300장 · 874객체 반영 / 375장 보류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2,974장 → 중복 제거 2,965장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2,443장 / 출처 시험 522장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건전지 자료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 포함 569장 추출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462장 / val 33 · test 40장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 Images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1,044 · val 121 · test 180장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수건 · 비닐봉지 · 모니터 후보 중 검수분만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Wikimedia Commons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73장 + 동전 · 단추 전지 22장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라벨링한 13장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Hub 71362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폐기물 자료로 조사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절차 필요 — 확보 수량에 미포함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오인식 사례를 보고 무엇을 채울지 정했다 — 기존 라벨도 검출 132개 · 분할 66개를 정정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→ 비닐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수건 · 걸레는 general, 종이 타월은 paper로 확정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06140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07308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오인식</a:t>
            </a:r>
            <a:endParaRPr lang="en-US" sz="1300" dirty="0"/>
          </a:p>
        </p:txBody>
      </p:sp>
      <p:sp>
        <p:nvSpPr>
          <p:cNvPr id="7" name="Text 14"/>
          <p:cNvSpPr/>
          <p:nvPr/>
        </p:nvSpPr>
        <p:spPr>
          <a:xfrm>
            <a:off x="3607308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7클래스 밖 — 배경 사례로 추가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45352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 다양성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46520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· AAA · C · D · 9V와 동전 전지 우선 확보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9084564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85732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 종이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285732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기반 제품은 paper로 매핑 정책 반영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장면 위주로 공개 자료를 모으되 직접 검수한 것만 학습에 넣었고, 기존 라벨도 198개를 정정했다.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TACO — 야외 폐기물 60개 세부 품목 · 주석 CC BY 4.0 / WaRP — 선별공장 컨베이어 28종.  외국 자료를 한국 촬영 자료로 표시하지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없앴고, 가장 정확한 모델에 가장 큰 약점이 있었다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727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외부 평가 — 랜덤 160장 · 433객체 · CPU FP32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 — 최초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54.15%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51.24%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44.17%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 — 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34.02%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26.68%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66928" y="37033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작업공간 실측 — 과제별 test 2,734장 · 100 epoch · batch 16 · imgsz 640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32504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 (3.3%)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0.7803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 (26.7%)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(0.7%)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없앴지만, 가장 정확한 모델이 배경에는 가장 약했다.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표는 평가 자료가 다르므로 값을 섞지 않는다. 분할 0.7562와 검출 0.7386은 시험 목록이 60.4%만 겹친다.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· can · paper는 높고, plastic · glass · general은 낮다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뚜렷한 품목은 잘 잡고, 투명하거나 얇은 품목과 general 은 낮다.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1,712장 · 3,677객체.  클래스별 정답 수 — plastic 821 · vinyl 788 · paper 664 · can 578 · glass 495 · battery 249 · general 82.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기준 mAP50–95 — paper 82.4 · can 81.7 · battery 73.1 · vinyl 67.4 · glass 56.7 · plastic 56.3 · general 11.0.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단계별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크게 떨어진 뒤 단계마다 회복했지만 초기 수준을 넘지 못했다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6355080" cy="36718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2763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재측정 (mAP50–95, %)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56816"/>
          <a:ext cx="4535424" cy="2414016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마스크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7086600" y="4572000"/>
            <a:ext cx="4535424" cy="10972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251192" y="4645152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3차가 최종 선택이다. 마지막 미세조정 후보는 마스크 mAP50–95 비하락 조건을 통과하지 못해 채택하지 않았다.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5349240"/>
            <a:ext cx="6355080" cy="73152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6" name="Text 11"/>
          <p:cNvSpPr/>
          <p:nvPr/>
        </p:nvSpPr>
        <p:spPr>
          <a:xfrm>
            <a:off x="603504" y="534924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자체 시험 자료 기준 — 검출 박스 76.11 → 74.11 (−2.00%p)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마스크 68.66 → 68.71 (+0.05%p, 개선으로 보지 않는다)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회복했지만 초기 모델을 끝내 넘지 못했다.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단계별 완료 epoch — 2차 13 · 3차 49 · 마지막 13.  검증 상승 · 평균 비하락 · 클래스별 AP 하락 1%p 이내를 모두 만족할 때만 다음 단계로 넘겼다.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전이학습 하락 원인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점수가 84.92에서 첫 에포크 69.56으로 떨어진 지점을 추적했다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84.92 → 69.56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val → 1차 첫 에포크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mAP50–95 (%) · 새 실험 최고도 79.92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1,000배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편향 학습률 / 본 학습률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warmup_bias_lr 0.1 vs lr0 0.0001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6,444장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재사용한 기존 객체 사진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약 4.7만 장 중 일부만 선별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후보와 대조 실험 결과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30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11055096" cy="2103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후보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편향 학습률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AdamW를 직접 지정하면 warmup_bias_lr이 보정되지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학습률만 낮춘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배치정규화 통계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통계가 새 분포로 덮였을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BN 통계만 복원한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분포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자료 일부만 재사용, 신규 plastic 비중이 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2차부터 기존 train 전체 53,103장 사용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· 증강 · optimizer · 학습률 · 손실 일정이 함께 바뀌었다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원인으로 확정하지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학습률이 1,000배 차이였던 것을 첫 지점으로 확인했지만, 대조 실험 2건이 모두 회복에 실패해 단일 원인으로 확정하지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2차부터는 warmup_bias_lr을 0으로 고정하고, 원본 모델의 고정 검증 성능을 비교 기준에 함께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재측정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기록의 80% 대는 공통 시험에서 55 ~ 66% 로 내려간다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같은 조건으로 다시 측정 · 2026. 09. 14.  /  시험 1,712장 · 3,677객체(배경 150장 포함)  /  imgsz 640 · conf 0.001 · NMS IoU 0.7 · FP32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25237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학습중 검증 최고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시험 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실사용 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11n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83.46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60.39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85.40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11n-seg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73.91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기록이 더 높은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실험이 자기 검증 자료로 잰 값이다. 공통 시험은 두 데이터셋의 교집합을 같은 정답으로 다시 쟀다.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값이 다른 이유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mAP는 신뢰도 0.001까지 포함한 곡선의 넓이이고, 사용자는 앱 기준을 넘긴 검출 한 점만 본다.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하나의 조건으로 다시 재자 학습 기록의 80%대가 55~66%로 내려갔다.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처리 시간은 데스크톱 RTX 4060 기준이다. 휴대폰과 젯슨에서는 더 느리다.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뒤 화면에 뜬 검출만으로 계산한 값이다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검출만 세면 F1은 75% 안팎으로 올라간다. mAP와 지표 정의가 다를 뿐 모순이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클래스별 신뢰도 기준(0.13~0.75, 없으면 0.45) · NMS IoU 0.5 · 판정 겹침 IoU 0.5 · 사진 한 장씩 처리.  정밀도 = 뜬 것 중 맞은 비율, 재현율 = 실제 물체 중 찾은 비율.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F1 — 검출 11n 75.5 · 26s 78.8 · 1차 74.9 · 2차 76.7 · 3차 77.9 · 최종 78.2  /  분할 초기 74.8 · 1차 73.0 · 2차 73.9 · 3차(최종) 73.9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비교 방법과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모델당 354개 입력을 동일 조건으로 비교했다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데이터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 · 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랜덤 탐지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160장 · 433객체 / 박스 mAP · P · 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클래스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110장 / 생활 품목 80 · 배터리 30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24개 배경 영역 / 오탐 이미지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변화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20장 × 3조건 = 60개 / 박스 mAP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비교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·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best.pt / 640×640 패딩, batch 1 / CPU FP32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클래스별 NMS IoU 0.7 · 최대 300개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mAP: conf ≥ 0.001 · P·R: conf ≥ 0.25, IoU ≥ 0.50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SEG는 마스크 제외, 박스만 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66928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26s가 가장 높지만 미탐지가 크다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66928" y="39959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4" name="Chart 0"/>
          <p:cNvGraphicFramePr/>
          <p:nvPr/>
        </p:nvGraphicFramePr>
        <p:xfrm>
          <a:off x="457200" y="4114800"/>
          <a:ext cx="6583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160520"/>
          <a:ext cx="4315968" cy="1828800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+4.83%p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36.49%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+2.54%p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44.48%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+3.33%p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미탐지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외부 입력 354개로 네 모델을 나란히 비교했고 DY 26s가 가장 좋았다.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7클래스 · 동일 외부 평가 · end2end=False.  재현율이 36%대에 그쳐 433개 중 275개를 놓쳤다.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환경 변화 시험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26s의 CPU 추론 시간은 AI 11n의 약 2.90배다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0" name="Chart 0"/>
          <p:cNvGraphicFramePr/>
          <p:nvPr/>
        </p:nvGraphicFramePr>
        <p:xfrm>
          <a:off x="502920" y="1600200"/>
          <a:ext cx="6309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708660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환경 변화 시험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44568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mAP50–95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 40%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44.98%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086600" y="384048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20장 · 59객체 / 흐림 조건에서 −31.29%p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66928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크기와 배경 오탐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66928" y="4773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56048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 noBG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CPU에서는 26s가 11n의 약 2.90배 느리고, 흐림 조건에서는 정확도가 31%p 넘게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클래스 : 66/110 정답(60%) · 배터리 30/30 · 플라스틱 1/16. 제품 사진 위주의 배터리 결과는 일반화에 제한이 있다.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추가 실험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26s가 앞서고 속도 · 용량은 11n이 앞선다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제약과 컴퓨터 다운에 따른 결과 소실로 학습 결과 1건만 확보했고, 모델 확대 비교 실험은 중단했다. 가중치와 로그는 보존했다.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5096" cy="29260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기준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확보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· 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epoch · 장치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CPU FP32 평가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90 epoch에서 최고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50.25%   (+3.19%p)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 · 재현율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  ·  33.95%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  ·  36.49%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 ·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102.8 ms  ·  5.49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298.0 ms  ·  20.33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  (1.54배)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 경위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모델로 유지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우선 — 26l → 26m → 26s 축소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074920"/>
            <a:ext cx="5385816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YOLO26을 시도한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후처리를 없앤 end-to-end 구조와 DFL 제거로 CPU 추론이 최대 43% 빨라졌다고 공개됐다 (2026. 01.).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5074920"/>
            <a:ext cx="5385816" cy="10515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측정의 한계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평가를 end2end=False로 돌려 NMS-free 이점이 빠졌고, 11n(2.6M)과 26s(9.5M)는 규모가 달라 직접 비교가 아니다.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26s가 +3.19%p 앞섰지만 규모가 3.8배 다르고 NMS-free 이점도 빠져 공정한 비교가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COCO 기준 — YOLO26s 9.5M · 20.7 GFLOPs · mAP50–95 48.6 / YOLO11s 9.4M · 21.5 GFLOPs · 47.0.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장면은 6/7 탐지, 혼합 장면은 0/6 탐지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가림이 있는 플라스틱 병</a:t>
            </a:r>
            <a:endParaRPr lang="en-US" sz="1300" dirty="0"/>
          </a:p>
        </p:txBody>
      </p:sp>
      <p:pic>
        <p:nvPicPr>
          <p:cNvPr id="11" name="Image 0" descr="/home/claude/work/ppt4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83664"/>
            <a:ext cx="4370832" cy="33801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재활용품</a:t>
            </a:r>
            <a:endParaRPr lang="en-US" sz="1300" dirty="0"/>
          </a:p>
        </p:txBody>
      </p:sp>
      <p:pic>
        <p:nvPicPr>
          <p:cNvPr id="13" name="Image 1" descr="/home/claude/work/ppt4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883664"/>
            <a:ext cx="4370832" cy="33801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5321808"/>
            <a:ext cx="5385816" cy="8229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68096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6개 · 미탐 1개  /  AI 11n 정답 4개 · 오탐 1개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45352" y="5321808"/>
            <a:ext cx="5385816" cy="8229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46520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장면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46520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0개 · 오탐 3개  /  플라스틱 · 종이 · 비닐을 서로 혼동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21792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가려진 장면은 대부분 찾았지만, 여러 품목이 섞인 장면에서는 재질을 서로 혼동했다.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5394960" cy="56692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5065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정답 885개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품목으로 봄 391(44.2%) · 아예 못 찾음 327(36.9%) · 점수 미달 167(18.9%)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536192"/>
            <a:ext cx="5413248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3" name="Text 10"/>
          <p:cNvSpPr/>
          <p:nvPr/>
        </p:nvSpPr>
        <p:spPr>
          <a:xfrm>
            <a:off x="6382512" y="1536192"/>
            <a:ext cx="5084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 674개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509(75.5%) · 배경을 물건으로 162(24.0%) · 같은 물건 중복 3(0.4%)</a:t>
            </a:r>
            <a:endParaRPr lang="en-US" sz="1050" dirty="0"/>
          </a:p>
        </p:txBody>
      </p:sp>
      <p:pic>
        <p:nvPicPr>
          <p:cNvPr id="14" name="Image 0" descr="/home/claude/work/fig/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240280"/>
            <a:ext cx="9372600" cy="3749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갈랐고, 작은 물체 검출률 36.9%가 가장 큰 몫이다.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모델 기준 · 앱 기준 · 시험 자료 1,712장 · 3,677객체.  그림은 비교한 모델 10종 전체를 보여준다.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미달 167건은 기준값만 낮춰도 건질 몫이고, 아예 못 찾음 327건은 모델·자료의 몫이다.  물체 크기별 검출률 — 아주 작음 36.9% · 작음 72.0% · 보통 82.5% · 큼 81.2%.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플라스틱↔유리가 양방향으로 가장 잦다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0" y="1554480"/>
            <a:ext cx="10517407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 혼동이 가장 크고 대부분 양방향이라 한쪽만 고쳐서는 해결되지 않는다.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= 실제 품목, 가로 = 모델이 그렇게 본 품목.  전체 모델 합산 혼동 순위 — 비닐→종이 1,208 · 플라스틱→유리 1,193 · 종이→비닐 910 · 비닐→플라스틱 826 · 유리→플라스틱 716 (건).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비닐과 종이는 모양 · 질감이 비슷하고 투명한 병은 사진만으로 재질을 가르기 어렵다. 상위 혼동이 대부분 양방향이라 한쪽 클래스만 고쳐서는 해결되지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· 전처리 · 추론 · NMS는 네이티브에서 처리하고, 앱은 배출 안내를 얹는다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 TFLite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임계값 · NMS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안내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문구 표시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구성과 설정값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7" name="Shape 24"/>
          <p:cNvSpPr/>
          <p:nvPr/>
        </p:nvSpPr>
        <p:spPr>
          <a:xfrm>
            <a:off x="566928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구성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6384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Flutter · Dart 단일 코드베이스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ultralytics_yolo 플러그인 사용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TFLite로 내보내 자산에 포함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배출 안내 문구는 별도 자산으로 분리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52544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53712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설정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0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 0.13 ~ 0.75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없는 모델은 전체 0.45 적용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IoU 0.5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겹침 IoU 0.5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138160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39328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처리 원칙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57615" y="4005072"/>
            <a:ext cx="3207851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비슷한 후보 둘이면 함께 표시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배경만 비친 화면에서는 안내하지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프레임이 아니라 여러 결과를 모아 판단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0건이면 재촬영 안내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55321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기준은 클래스마다 F1이 최대가 되는 지점을 측정해 정한 값이다. 유리처럼 놓치기 쉬운 품목은 낮게, 일반쓰레기처럼 잘못 잡기 쉬운 품목은 높게 잡혀 있다.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카메라부터 NMS까지는 플러그인이 네이티브에서 처리하고, 앱은 그 결과 위에 배출 안내를 얹는다.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출처 : 앱의 app_config.dart (classConfidenceThresholds · confidenceThreshold · iouThreshold).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현황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앱과 젯슨 검출이 모두 동작한다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촬영한 뒤 분석하는 기능을 구현했다 / 세부 조정과 기능 수정을 진행했다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모델부터 세그멘테이션 모델까지 적용해 비교했고, 최초 학습 모델이 가장 안정적이었다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 기반 검출에 성공했다 / .pt 실행에서 약 1~2 FPS, TensorRT 변환 후 15 FPS 안팎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최적화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.pt 모델을 TensorRT .engine 형식으로 변환해 적용했고, 그 구성으로 실시간 시연을 마쳤다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측정된 처리 속도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498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61772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~ 10 ms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66928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RTX 4060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 처리 · 모델 10종 공통 조건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52544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52544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 ~ 298 ms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352544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(FP32)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352544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 102.8 ms ~ DY 26s 298.0 ms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38160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~ 17 FPS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138160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138160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.engine · 모델 3종 캡처 21장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앱과 젯슨 검출이 모두 동작하며, TensorRT 변환으로 젯슨 속도가 1~2 FPS에서 9~17 FPS로 올라갔다.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수치는 장비가 모두 다르다 — 데스크톱 GPU / PC CPU / 젯슨 오린 나노.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① 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품목은 잘 잡지만, 재질이 헷갈리는 물체에서 오탐이 남는다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179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탐지</a:t>
            </a:r>
            <a:endParaRPr lang="en-US" sz="1200" dirty="0"/>
          </a:p>
        </p:txBody>
      </p:sp>
      <p:pic>
        <p:nvPicPr>
          <p:cNvPr id="11" name="Image 0" descr="/home/claude/work/fig/j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73936"/>
            <a:ext cx="3127248" cy="16685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— can 0.96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외곽선을 따라 마스크가 붙었다 · 13.0 FPS</a:t>
            </a:r>
            <a:endParaRPr lang="en-US" sz="950" dirty="0"/>
          </a:p>
        </p:txBody>
      </p:sp>
      <p:pic>
        <p:nvPicPr>
          <p:cNvPr id="14" name="Image 1" descr="/home/claude/work/fig/j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773936"/>
            <a:ext cx="3127248" cy="16685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5424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0.94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35424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비닐봉지를 한 덩어리로 잡았다 · 15.8 FPS</a:t>
            </a:r>
            <a:endParaRPr lang="en-US" sz="950" dirty="0"/>
          </a:p>
        </p:txBody>
      </p:sp>
      <p:pic>
        <p:nvPicPr>
          <p:cNvPr id="17" name="Image 2" descr="/home/claude/work/fig/j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73936"/>
            <a:ext cx="3127248" cy="16685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3920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paper 0.64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503920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바닥 위 종이 상자 · 14.9 FPS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66928" y="39502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— 같은 물체가 프레임마다 다른 품목으로 나온다</a:t>
            </a:r>
            <a:endParaRPr lang="en-US" sz="1200" dirty="0"/>
          </a:p>
        </p:txBody>
      </p:sp>
      <p:pic>
        <p:nvPicPr>
          <p:cNvPr id="21" name="Image 3" descr="/home/claude/work/fig/j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06240"/>
            <a:ext cx="3127248" cy="166857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battery 0.88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66928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마커펜을 배터리로 판정했다</a:t>
            </a:r>
            <a:endParaRPr lang="en-US" sz="950" dirty="0"/>
          </a:p>
        </p:txBody>
      </p:sp>
      <p:pic>
        <p:nvPicPr>
          <p:cNvPr id="24" name="Image 4" descr="/home/claude/work/fig/j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06240"/>
            <a:ext cx="3127248" cy="166857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35424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glass 0.57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535424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마커펜을 이번에는 유리로 판정했다</a:t>
            </a:r>
            <a:endParaRPr lang="en-US" sz="950" dirty="0"/>
          </a:p>
        </p:txBody>
      </p:sp>
      <p:pic>
        <p:nvPicPr>
          <p:cNvPr id="27" name="Image 5" descr="/home/claude/work/fig/j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06240"/>
            <a:ext cx="3127248" cy="166857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503920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0.93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8503920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가글액 병을 비닐로 판정했다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566928" y="638251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형태가 뚜렷한 품목은 안정적으로 잡히지만, 재질이 헷갈리는 물체는 프레임마다 다른 품목으로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②  모델 3종과 처리 속도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동작했다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j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3310128" cy="17661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15.6 FPS · can x1</a:t>
            </a:r>
            <a:endParaRPr lang="en-US" sz="950" dirty="0"/>
          </a:p>
        </p:txBody>
      </p:sp>
      <p:pic>
        <p:nvPicPr>
          <p:cNvPr id="13" name="Image 1" descr="/home/claude/work/fig/j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572768"/>
            <a:ext cx="3310128" cy="17661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443984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FPS · paper x1, can x1</a:t>
            </a:r>
            <a:endParaRPr lang="en-US" sz="950" dirty="0"/>
          </a:p>
        </p:txBody>
      </p:sp>
      <p:pic>
        <p:nvPicPr>
          <p:cNvPr id="16" name="Image 2" descr="/home/claude/work/fig/j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572768"/>
            <a:ext cx="3310128" cy="17661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321040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14.7 FPS · can x1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21장에서 읽은 값의 범위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 ~ 16.7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28.1 ~ 36.7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26.8 ~ 49.8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 ~ 16.5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21.7 ~ 39.9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38.9 ~ 87.9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14.6 ~ 15.8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33.4 ~ 38.3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19.9 ~ 39.1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566928" y="5815584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3" name="Text 16"/>
          <p:cNvSpPr/>
          <p:nvPr/>
        </p:nvSpPr>
        <p:spPr>
          <a:xfrm>
            <a:off x="731520" y="58155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CPU에서 2.90배 차이였던 11n과 26s의 추론 시간이 젯슨 + TensorRT 에서는 평균 33.4 ms 대 36.3 ms, 약 1.09배까지 좁혀졌다.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66928" y="627278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돌았고, CPU에서 벌어졌던 11n과 26s의 차이가 거의 사라졌다.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cuda:0 · FP32 · imgsz 640 · Conf 0.55 · IoU 0.70.  분할 모델의 FPS 편차는 마스크 표시 시간에서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시연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이 자리에서 직접 사용해 봅니다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17904"/>
            <a:ext cx="6903720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6642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깃허브 저장소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" y="19751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github.com/mulsineukkeut/yolo_trash_detection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1248" y="2505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  Flutter 안드로이드 앱     ml/  데이터 변환 · 학습 · TFLite 변환 스크립트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28346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 비공개 저장소입니다. 발표 직전 공개로 전환하고 위 주소와 QR을 최종 주소로 교체합니다.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17536" y="1517904"/>
            <a:ext cx="3913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pic>
        <p:nvPicPr>
          <p:cNvPr id="16" name="Image 0" descr="/home/claude/work/fig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627632"/>
            <a:ext cx="1682496" cy="1682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17536" y="331012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바로 접속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순서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0" name="Shape 16"/>
          <p:cNvSpPr/>
          <p:nvPr/>
        </p:nvSpPr>
        <p:spPr>
          <a:xfrm>
            <a:off x="566928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저장소 접속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또는 주소로 이동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564892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834640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34640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APK 내려받기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2834640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Releases 에서 설치 파일 받기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32604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102352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02352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설치 · 권한 허용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102352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권한 1회 허용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100316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370064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70064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촬영 후 분석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7370064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재활용품을 찍으면 품목 표시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368028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637776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배출 안내 확인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9637776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안내 문구 확인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66928" y="5504688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40" name="Text 36"/>
          <p:cNvSpPr/>
          <p:nvPr/>
        </p:nvSpPr>
        <p:spPr>
          <a:xfrm>
            <a:off x="731520" y="5504688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탐지가 0건이면 품목을 단정하지 않고 각도·거리를 바꿔 다시 찍도록 안내합니다. 신뢰도가 비슷한 후보가 둘이면 함께 보여 줍니다.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청중이 직접 촬영하고 배출 안내를 확인하는 순서로 진행한다.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내부에서 추론이 이뤄져 네트워크 없이 동작한다. 클래스별 신뢰도 기준 0.13 ~ 0.75, 없으면 0.45.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방향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 결과를 두 방향으로 넓힐 수 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— 보는 장치에서 분류하는 장치로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카메라로 보고 화면에 품목을 표시하는 데까지 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신호로 삼아 액추에이터를 움직이면 투입된 재활용품을 품목별 칸으로 자동으로 내려보낼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않아도 되는 자동 분리배출 장치로 이어진다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버리는 순간을 넘어 거리로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사용자가 찍은 사진으로 품목과 배출 방법을 안내한다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탐지로 잘못 버린 배출과 길에 떨어진 재활용품을 실시간으로 찾아낼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자리에서 바로 분류해 담을 수 있어 거리 청소 활동에 쓰인다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확장에 필요한 조건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05993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연동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액추에이터 제어 신호로 바꾸는 구간과, 오탐일 때 멈추는 안전 조건이 필요하다.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실내에서 촬영한 지금 자료로는 거리 장면을 담지 못한다. 노면·조명·거리에서 모은 자료가 필요하다.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보완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비슷한 품목의 혼동을 줄여야 자동 분류에서 잘못 내려보내는 일을 막을 수 있다.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6692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방향 모두 이번 프로젝트에서 검증한 범위를 넘어서는 계획이며, 현재 성능을 그대로 적용할 수 있다는 뜻은 아니다.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6928" y="6126480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젯슨은 자동 분류 장치로, 앱은 거리 재활용품 정리 서비스로 넓힐 수 있다. 다만 이번 검증 범위를 넘어선 계획이다.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잠정 결론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한 가지로는 고를 수 없다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공통 시험 mAP 64.12% · 실사용 F1 78.80% / 배경 150장 중 40장(26.7%)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적은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 F1 78.17% · 1/150장 / 분할 초기 F1 74.76% · 1/150장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 3,677객체 중 82개(2.2%)뿐이고 모든 모델이 10%대에 머물렀다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독립성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자료가 학습과 같은 수집 경로에서 나와 현장 성능으로 말할 수 없다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나노에서 TensorRT 변환 후 9~17 FPS로 동작했다 (변환 전 1~2 FPS)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074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용도별 선택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9145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박스만 필요한 경우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전이 — F1 78.17% · 배경 오탐 1/150장 · 한 장 8.7 ms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외곽선이 필요한 경우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초기 — F1 74.76% · 배경 오탐 1/150장 · 한 장 9.1 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정확도가 가장 높은 모델과 오탐이 가장 적은 모델이 서로 달라, 용도에 따라 골라야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사실과 원인 가설을 분리해 정리했다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관점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 · 분포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물체 검출률 36.9%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 · 해상도의 한계 — 640px에서 0.1%는 한 변 20픽셀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품질 · 배경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 → 종이 혼동 1,208건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 경계가 모호하고 라벨 기준이 한 줄로 서지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구조 · 규모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26s가 +3.73%p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연산량 3.5배를 쓴 대가이며 구조 개선이 아니다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· 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대비 −2.00%p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자료 분포 불일치와 시작 학습률 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71246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096512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187952"/>
            <a:ext cx="5385816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결론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YOLO26s, 속도와 경량성은 YOLO11n이 앞선다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 학습은 배경 오탐을 26.7%에서 3% 아래로 낮췄다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전이학습과 세그멘테이션은 이번 조건에서 이득이 없었다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변환으로 젯슨에서 실시간 동작을 확인했다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187952"/>
            <a:ext cx="5385816" cy="192024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수치가 나온 환경과 그 뜻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64808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사진이 학습과 같은 경로에서 모였다 → 같은 환경에서의 성능이며, 현장 수치로 옮겨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9~17 FPS는 시연 중 캡처에 찍힌 순간값이다 → 실시간 동작은 확인했으나 평균 성능으로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· 분할 모델은 클래스별 임계값을 정하지 않았다 → 실사용 F1 비교에서 불리했을 여지가 있다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이번 범위에서 확인한 것이고 오른쪽은 그 범위의 경계다. 두 상자를 함께 읽어야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622853-6DBF-42F7-B45F-D9BFA5193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4B8C830-8223-4399-9775-F6545BF35D5A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F2FB-FEB1-4ECD-AB92-3EA6E0B1F4B2}"/>
              </a:ext>
            </a:extLst>
          </p:cNvPr>
          <p:cNvSpPr txBox="1"/>
          <p:nvPr/>
        </p:nvSpPr>
        <p:spPr>
          <a:xfrm>
            <a:off x="2537012" y="2680447"/>
            <a:ext cx="68311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/>
              <a:t>감사합니다</a:t>
            </a:r>
            <a:endParaRPr lang="en-US" altLang="ko-KR" sz="4800" dirty="0"/>
          </a:p>
          <a:p>
            <a:pPr algn="ctr"/>
            <a:endParaRPr lang="en-US" altLang="ko-KR" sz="4800" dirty="0"/>
          </a:p>
          <a:p>
            <a:pPr algn="r"/>
            <a:r>
              <a:rPr lang="en-US" altLang="ko-KR" sz="1000" dirty="0"/>
              <a:t>Q&amp;A</a:t>
            </a:r>
            <a:r>
              <a:rPr lang="ko-KR" altLang="en-US" sz="1000" dirty="0"/>
              <a:t>는 메일로 받겠습니다</a:t>
            </a:r>
            <a:r>
              <a:rPr lang="en-US" altLang="ko-KR" sz="1000" dirty="0"/>
              <a:t>.</a:t>
            </a:r>
          </a:p>
          <a:p>
            <a:pPr algn="r"/>
            <a:r>
              <a:rPr lang="ko-KR" altLang="en-US" sz="1000" dirty="0"/>
              <a:t>구두질문은 안 받겠습니다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Mail : </a:t>
            </a:r>
            <a:r>
              <a:rPr lang="en-US" altLang="ko-KR" sz="1000" dirty="0">
                <a:hlinkClick r:id="rId3"/>
              </a:rPr>
              <a:t>nh24390@naver</a:t>
            </a:r>
            <a:r>
              <a:rPr lang="en-US" altLang="ko-KR" sz="1000">
                <a:hlinkClick r:id="rId3"/>
              </a:rPr>
              <a:t>.com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9866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4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xit" presetSubtype="4" fill="hold" grpId="1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7013</Words>
  <Application>Microsoft Office PowerPoint</Application>
  <PresentationFormat>와이드스크린</PresentationFormat>
  <Paragraphs>1079</Paragraphs>
  <Slides>38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이미지 기반 재활용품 분리배출 안내</dc:title>
  <dc:subject>PptxGenJS Presentation</dc:subject>
  <dc:creator>물시느끝</dc:creator>
  <cp:lastModifiedBy>USER</cp:lastModifiedBy>
  <cp:revision>7</cp:revision>
  <dcterms:created xsi:type="dcterms:W3CDTF">2026-09-15T23:49:32Z</dcterms:created>
  <dcterms:modified xsi:type="dcterms:W3CDTF">2026-09-16T02:03:16Z</dcterms:modified>
</cp:coreProperties>
</file>