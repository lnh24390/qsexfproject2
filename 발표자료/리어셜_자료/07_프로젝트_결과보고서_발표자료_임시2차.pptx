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xlsx" ContentType="application/vnd.openxmlformats-officedocument.spreadsheetml.sheet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1.xml" ContentType="application/vnd.openxmlformats-officedocument.drawingml.chart+xml"/>
  <Override PartName="/ppt/notesSlides/notesSlide28.xml" ContentType="application/vnd.openxmlformats-officedocument.presentationml.notesSlide+xml"/>
  <Override PartName="/ppt/charts/chart2.xml" ContentType="application/vnd.openxmlformats-officedocument.drawingml.chart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3C32"/>
                </a:solidFill>
                <a:latin typeface="맑은 고딕"/>
              </a:defRPr>
            </a:pPr>
            <a:r>
              <a:rPr sz="1300" b="0" i="0" u="none" strike="noStrike">
                <a:solidFill>
                  <a:srgbClr val="143C32"/>
                </a:solidFill>
                <a:latin typeface="맑은 고딕"/>
              </a:rPr>
              <a:t>박스 mAP 비교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mAP50</c:v>
                </c:pt>
              </c:strCache>
            </c:strRef>
          </c:tx>
          <c:spPr>
            <a:solidFill>
              <a:srgbClr val="8FB3A5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43C32"/>
                    </a:solidFill>
                    <a:latin typeface="맑은 고딕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AI 11n</c:v>
                </c:pt>
                <c:pt idx="1">
                  <c:v>DY 11n</c:v>
                </c:pt>
                <c:pt idx="2">
                  <c:v>DY SEG 11n</c:v>
                </c:pt>
                <c:pt idx="3">
                  <c:v>DY 26s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54.15</c:v>
                </c:pt>
                <c:pt idx="1">
                  <c:v>51.24</c:v>
                </c:pt>
                <c:pt idx="2">
                  <c:v>34.020000000000003</c:v>
                </c:pt>
                <c:pt idx="3">
                  <c:v>57.41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F2-49A7-B980-8336FBC81AF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mAP50–95</c:v>
                </c:pt>
              </c:strCache>
            </c:strRef>
          </c:tx>
          <c:spPr>
            <a:solidFill>
              <a:srgbClr val="1F5C4D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43C32"/>
                    </a:solidFill>
                    <a:latin typeface="맑은 고딕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AI 11n</c:v>
                </c:pt>
                <c:pt idx="1">
                  <c:v>DY 11n</c:v>
                </c:pt>
                <c:pt idx="2">
                  <c:v>DY SEG 11n</c:v>
                </c:pt>
                <c:pt idx="3">
                  <c:v>DY 26s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47.06</c:v>
                </c:pt>
                <c:pt idx="1">
                  <c:v>44.17</c:v>
                </c:pt>
                <c:pt idx="2">
                  <c:v>26.68</c:v>
                </c:pt>
                <c:pt idx="3">
                  <c:v>50.25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F2-49A7-B980-8336FBC81A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64"/>
                </a:solidFill>
                <a:latin typeface="맑은 고딕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B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64"/>
                </a:solidFill>
                <a:latin typeface="맑은 고딕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B64"/>
              </a:solidFill>
              <a:latin typeface="맑은 고딕"/>
              <a:cs typeface="맑은 고딕"/>
            </a:defRPr>
          </a:pPr>
          <a:endParaRPr lang="ko-K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3C32"/>
                </a:solidFill>
                <a:latin typeface="맑은 고딕"/>
              </a:defRPr>
            </a:pPr>
            <a:r>
              <a:rPr sz="1300" b="0" i="0" u="none" strike="noStrike">
                <a:solidFill>
                  <a:srgbClr val="143C32"/>
                </a:solidFill>
                <a:latin typeface="맑은 고딕"/>
              </a:rPr>
              <a:t>CPU 추론 중앙값 (ms)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CPU 추론 중앙값 (ms)</c:v>
                </c:pt>
              </c:strCache>
            </c:strRef>
          </c:tx>
          <c:spPr>
            <a:solidFill>
              <a:srgbClr val="1F5C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3C32"/>
                    </a:solidFill>
                    <a:latin typeface="맑은 고딕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AI 11n</c:v>
                </c:pt>
                <c:pt idx="1">
                  <c:v>DY 11n</c:v>
                </c:pt>
                <c:pt idx="2">
                  <c:v>DY SEG 11n</c:v>
                </c:pt>
                <c:pt idx="3">
                  <c:v>DY 26s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102.8</c:v>
                </c:pt>
                <c:pt idx="1">
                  <c:v>108.3</c:v>
                </c:pt>
                <c:pt idx="2">
                  <c:v>167.6</c:v>
                </c:pt>
                <c:pt idx="3">
                  <c:v>298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97-4432-A78D-5341B3AAE5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64"/>
                </a:solidFill>
                <a:latin typeface="맑은 고딕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4EB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64"/>
                </a:solidFill>
                <a:latin typeface="맑은 고딕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110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C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FD8CE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분석 3모듈 프로젝트  /  임시 2차 발표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16916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이미지 기반 쓰레기 분리배출 안내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7E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비교 · 전이학습 단계별 수치 · 오류 원인 분석 · 시제품 현황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3429000"/>
            <a:ext cx="1463040" cy="45720"/>
          </a:xfrm>
          <a:prstGeom prst="rect">
            <a:avLst/>
          </a:prstGeom>
          <a:solidFill>
            <a:srgbClr val="BFD8C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84048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팀명   </a:t>
            </a: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물시느끝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   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이남호(팀장) · 김아인 · 오승재 · 여동엽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   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09. 07. ~ 2026. 09. 16.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5760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2026. 09. 15.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8229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  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1536192"/>
            <a:ext cx="1280160" cy="4572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5" name="Shape 3"/>
          <p:cNvSpPr/>
          <p:nvPr/>
        </p:nvSpPr>
        <p:spPr>
          <a:xfrm>
            <a:off x="7086600" y="1965960"/>
            <a:ext cx="4343400" cy="39319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2212848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발표에서 보강한 것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0" y="2578608"/>
            <a:ext cx="91440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8" name="Text 6"/>
          <p:cNvSpPr/>
          <p:nvPr/>
        </p:nvSpPr>
        <p:spPr>
          <a:xfrm>
            <a:off x="7360920" y="2834640"/>
            <a:ext cx="3794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작업공간의 실측 기록을 전면 반영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 단계별 수치와 하락 원인 추적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10종을 같은 조건으로 재측정한 결과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클래스별 성능 · 오류 원인 · 품목 혼동 분석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 원본 그래프를 그대로 수록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1965960"/>
            <a:ext cx="658368" cy="621792"/>
          </a:xfrm>
          <a:prstGeom prst="rect">
            <a:avLst/>
          </a:prstGeom>
          <a:solidFill>
            <a:srgbClr val="DCE7E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965960"/>
            <a:ext cx="6583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37360" y="198424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37360" y="2295144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배경 · 접근 전환 · 시스템 흐름 · 평가 범위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2807208"/>
            <a:ext cx="658368" cy="621792"/>
          </a:xfrm>
          <a:prstGeom prst="rect">
            <a:avLst/>
          </a:prstGeom>
          <a:solidFill>
            <a:srgbClr val="DCE7E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807208"/>
            <a:ext cx="6583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37360" y="282549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팀 구성 및 역할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37360" y="3136392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팀원별 담당 업무와 공통 평가 기준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3648456"/>
            <a:ext cx="658368" cy="621792"/>
          </a:xfrm>
          <a:prstGeom prst="rect">
            <a:avLst/>
          </a:prstGeom>
          <a:solidFill>
            <a:srgbClr val="DCE7E2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648456"/>
            <a:ext cx="6583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37360" y="366674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37360" y="3977640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선정 · 구조 · 라벨링 · 데이터셋 · 학습 환경 · 전이학습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4489704"/>
            <a:ext cx="658368" cy="621792"/>
          </a:xfrm>
          <a:prstGeom prst="rect">
            <a:avLst/>
          </a:prstGeom>
          <a:solidFill>
            <a:srgbClr val="DCE7E2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489704"/>
            <a:ext cx="6583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737360" y="450799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737360" y="4818888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학습 · 클래스별 성능 · 전이학습 수치 · 오류 분석 · 시제품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68680" y="5330952"/>
            <a:ext cx="658368" cy="621792"/>
          </a:xfrm>
          <a:prstGeom prst="rect">
            <a:avLst/>
          </a:prstGeom>
          <a:solidFill>
            <a:srgbClr val="DCE7E2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330952"/>
            <a:ext cx="6583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1737360" y="534924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평가 의견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737360" y="5660136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차이의 원인 분석과 후속 계획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배경 및 접근 전환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불편했는가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600200"/>
            <a:ext cx="1076248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쓰레기 품목과 배출 기준을 각각 찾아야 해 정보 탐색이 번거롭다.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장에 한 품목만 확인하는 방식은 여러 품목을 한 번에 버리는 실제 상황과 맞지 않는다.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데이터셋은 해외 촬영 환경 위주여서 국내 생활 쓰레기의 조명 · 배경 조건과 차이가 있다.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2697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9월 11일 입력 방식 전환 — 카메라 연속 추론에서 사진 분석으로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308152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246120"/>
          <a:ext cx="11055096" cy="241401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0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계획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 방향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카메라 연속 추론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사진 촬영 후 분석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 객체 탐지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여러 품목의 위치 · 종류 표시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 중심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 계열 · YOLO26s 비교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자체 촬영 후 전이학습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외부 평가로 취약 장면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 환경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안드로이드 · 젯슨 오린 나노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연동 · 기기 성능 검증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품목별 재활용률 — 종이 47.7% · 플라스틱 55.8% · 유리 58.6% · 금속 74.5% (환경부 환경통계연감 2021, 2020년 기준).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흐름 및 평가 범위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한 장이 배출 안내가 되기까지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사진 입력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촬영 · 선택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64892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34640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전처리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834640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 · 정규화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32604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02352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02352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객체 검출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102352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종류 · 위치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100316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70064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70064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후처리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70064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신뢰도 · NMS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368028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37776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37776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표시 · 안내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637776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 · 배출법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2788920"/>
            <a:ext cx="11064240" cy="41148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278892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결과가 없으면 각도 · 거리를 바꿔 다시 촬영하도록 안내하며, 사진은 저장하거나 외부로 전송하지 않는다.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66928" y="3429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목표와 이번 평가 범위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66928" y="38130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2" name="Shape 30"/>
          <p:cNvSpPr/>
          <p:nvPr/>
        </p:nvSpPr>
        <p:spPr>
          <a:xfrm>
            <a:off x="566928" y="3977640"/>
            <a:ext cx="5385816" cy="201168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" y="414223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목표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86384" y="4507992"/>
            <a:ext cx="4946904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6종 분리배출 안내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· 플라스틱 · 비닐 · 캔 · 유리 · 배터리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안드로이드 앱 · 젯슨 오린 나노 설치형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45352" y="3977640"/>
            <a:ext cx="5385816" cy="201168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414223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평가 범위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64808" y="4507992"/>
            <a:ext cx="4946904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general을 포함한 7클래스로 학습된 모델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4종을 동일한 외부 입력으로 비교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CPU 측정, 실제 기기 성능은 별도 확인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확인 : 클래스 대응 · 앱 임계값 · 변환 모델 출력 · 실제 기기 지연 시간과 안정성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팀 구성 및 역할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팀원별 담당 업무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구성 : 물시느끝 (4인)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5096" cy="25603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2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 업무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이남호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일정 · 요구사항 · 통합 점검 · 발표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수행계획서 · 통합 점검 자료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김아인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수집 · 라벨 기준 · 품질 검수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데이터셋 · 라벨링 기준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오승재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학습 · 평가 · 변환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모델 · 성능 비교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여동엽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Flutter 앱 · SEG 시험 · 젯슨 연동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앱 시제품 · 모델 시험 기록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66928" y="4434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비교에 공통으로 적용한 기준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66928" y="481888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4937760"/>
            <a:ext cx="3493008" cy="132588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10235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8096" y="5468112"/>
            <a:ext cx="3090672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mAP50 · mAP50–95 · 정밀도 · 재현율을 같은 정의로 산출한다.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52544" y="4937760"/>
            <a:ext cx="3493008" cy="132588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53712" y="510235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53712" y="5468112"/>
            <a:ext cx="3090672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동일한 외부 입력과 후처리 설정을 네 모델에 똑같이 적용한다.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138160" y="4937760"/>
            <a:ext cx="3493008" cy="132588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39328" y="510235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장비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339328" y="5468112"/>
            <a:ext cx="3090672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CPU 측정값과 실제 기기 측정값을 구분해 기록한다.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 경과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준비에서 기기 검증까지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준비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9/7~9/9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64892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34640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학습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834640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9/10~9/11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32604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02352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02352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4종 외부 비교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102352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9/12~9/13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100316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70064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70064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· 라벨 보완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70064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9/14~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368028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37776" y="1645920"/>
            <a:ext cx="1993392" cy="960120"/>
          </a:xfrm>
          <a:prstGeom prst="roundRect">
            <a:avLst>
              <a:gd name="adj" fmla="val 5714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37776" y="1773936"/>
            <a:ext cx="199339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검증 · 최종 발표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637776" y="20848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~9/16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" y="2971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일자별 진행 상황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66928" y="33558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520440"/>
          <a:ext cx="11055096" cy="252374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8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9/7 ~ 9/9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수집 · 클래스 정리 · 라벨 기준 수립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기초 구축 완료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9/10 ~ 9/11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모델 시험, 사진 입력 방식으로 전환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회의 · 일지 기록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9/12 ~ 9/13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4종 · 배경 · 밝기 · 흐림 시험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확장 비교보고서 완료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9/14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임시 1차 발표, 단계별 전이학습 완료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중간 결과 공유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9/15 ~ 9/16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보완 학습 · 기기 검증 · 최종 발표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진행 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계획 기간 : 2026. 09. 07. ~ 09. 16.  (주말 09/12~09/13 포함 작업)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선정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YOLO는 이미지를 한 번만 본다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645920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73936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전체 입력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2084832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장을 통째로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76700" y="195681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46448" y="1645920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6448" y="1773936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번의 신경망 추론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346448" y="2084832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You Only Look Once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56220" y="195681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25968" y="1645920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25968" y="1773936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객체별 결과 출력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125968" y="2084832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 · 클래스 · 신뢰도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" y="2880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YOLO11n을 경량 검출의 기준으로 삼은 이유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66928" y="32644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22" name="Shape 20"/>
          <p:cNvSpPr/>
          <p:nvPr/>
        </p:nvSpPr>
        <p:spPr>
          <a:xfrm>
            <a:off x="566928" y="3291840"/>
            <a:ext cx="5385816" cy="21945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345643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요구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6384" y="3822192"/>
            <a:ext cx="4946904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품목을 한 장에서 인식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 · 젯슨에서 실행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8일의 짧은 개발 일정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라벨링 방식 비교 필요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45352" y="3291840"/>
            <a:ext cx="5385816" cy="21945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345643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 근거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64808" y="3822192"/>
            <a:ext cx="4946904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객체별 위치와 종류를 함께 출력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nano 규모로 계산 · 메모리 부담 완화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사전학습 가중치와 학습 · 변환 도구 활용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YOLO11n-seg와 같은 계열로 비교 가능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5623560"/>
            <a:ext cx="11064240" cy="411480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62356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YOLO11n은 파라미터 2,591,205개 · 6.5 GFLOPs · 가중치 5.5 MB다. 같은 계열의 YOLO11n-seg(2.84M · 9.8 GFLOPs)와 구조가 같아 비교 조건을 맞출 수 있다.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 = You Only Look Once.  공식 COCO 기준 YOLO11n은 mAP50–95 39.5% · CPU ONNX 56.1 ms (Ultralytics). 실제 기기 성능은 실험으로 확인한다.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구조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백본이 특징을 뽑고, 넥이 해상도를 합치고, 헤드가 세 해상도에서 동시에 예측한다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9" name="Image 0" descr="/home/claude/work/fig/f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8138160" cy="445338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823960" y="1600200"/>
            <a:ext cx="2807208" cy="43891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88552" y="1737360"/>
            <a:ext cx="2478024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읽는 법
</a:t>
            </a:r>
            <a:r>
              <a:rPr lang="en-US" sz="10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가로는 사진이 줄어드는 정도(1/2 → 1/32, 640px 기준 320 → 20px), 세로는 역할이다.
보라 = 백본(특징 뽑기)
파랑 = 넥(해상도 합치기)
초록 = 헤드(최종 예측)
주황 화살표 = 건너뛰는 연결
</a:t>
            </a:r>
            <a:r>
              <a:rPr lang="en-US" sz="10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헤드로 세 갈래가 들어간다. 작은 물체는 가장 촘촘한 1/8이 맡는다.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체크포인트에서 읽은 실제 구성. YOLO26s는 같은 자리의 층이 더 두껍고, YOLO11n-seg는 헤드만 0.43M → 0.68M으로 무겁다.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라벨링 방식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박스는 위치를, 마스크는 객체 영역을 표현한다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572768"/>
            <a:ext cx="5385816" cy="21031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바운딩 박스 (Bounding Box)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6384" y="2103120"/>
            <a:ext cx="4946904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 — 객체를 감싸는 사각형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 — 클래스 · 중심 · 너비 · 높이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 — 간단한 위치 · 종류 안내에 충분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 — 박스 안에 배경이 함께 들어감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— 배출 안내에 필요한 기본 정보를 모두 담는다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45352" y="1572768"/>
            <a:ext cx="5385816" cy="21031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인스턴스 세그멘테이션 (Segmentation)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64808" y="2103120"/>
            <a:ext cx="4946904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 — 객체별 윤곽 · 마스크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 — 클래스 · 다각형 좌표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 — 복잡한 윤곽과 겹침 영역을 표현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 — 세밀한 라벨과 추가 연산이 필요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— 영역 정보가 안내에 더하는 가치를 확인해야 한다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3886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크기(YOLO11n)에서 두 방식을 학습해 비교한 실측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42702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434840"/>
          <a:ext cx="11055096" cy="914400"/>
        </p:xfrm>
        <a:graphic>
          <a:graphicData uri="http://schemas.openxmlformats.org/drawingml/2006/table">
            <a:tbl>
              <a:tblPr/>
              <a:tblGrid>
                <a:gridCol w="3739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YOLO11n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YOLO11n-seg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mAP50–95 (자체 test)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0.7386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0.7562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마스크 mAP50–95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0.6951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학습 시간 · 배경 오탐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13시간 18분 · 5 / 150장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15시간 40분 (+18%) · 1 / 150장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라벨 90,423개 중 6,678개(7.4%)가 좌표 4점의 사각형이다(종이 31.7% · 배터리 11.6%). 마스크 성능 해석 시 함께 본다.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구성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클래스당 10,000장은 균형 · 다양성 · 자원을 함께 고려한 값이다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600200"/>
            <a:ext cx="3493008" cy="18745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7647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균형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6384" y="2130552"/>
            <a:ext cx="3054096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클래스별 수량 맞추기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특정 클래스 편중 완화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배터리 부족분은 증강으로 보완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52544" y="1600200"/>
            <a:ext cx="3493008" cy="18745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17647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 다양성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2130552"/>
            <a:ext cx="3054096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재질 · 각도 · 배경 · 조명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가림과 객체 크기 포함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배출 상황에 가까운 장면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600200"/>
            <a:ext cx="3493008" cy="18745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9328" y="176479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자원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57616" y="2130552"/>
            <a:ext cx="3054096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검수 범위와 학습 시간 관리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공간과 반복 학습 고려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8일 일정 안에서 처리 가능한 규모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3749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집계 기준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66928" y="413308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297680"/>
          <a:ext cx="11055096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43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클래스당 10,000장 × 6클래스 = 총 60,000장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선정 근거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제2차 회의에서 정한 클래스별 최소 1만 장 기준을 따랐고, 검수 범위와 학습 시간을 함께 고려했다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10,000장이 최적이라는 결론은 아니다. 한 이미지에 여러 클래스가 있을 수 있어 이미지 수와 객체 수는 구분해 집계한다.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데이터셋 실측 구성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학습에 실제로 들어간 자료는 62,236장이다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600200"/>
            <a:ext cx="3493008" cy="1417320"/>
          </a:xfrm>
          <a:prstGeom prst="rect">
            <a:avLst/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4650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62,236장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66928" y="238658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원본 이미지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265176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· 분할 두 데이터셋이 같은 사진에서 나왔다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52544" y="160020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2544" y="174650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3,000장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352544" y="238658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이미지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52544" y="265176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7개 클래스가 없는 COCO 사진 · 전체의 4.8%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38160" y="160020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174650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10.68 GB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138160" y="238658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640 변환 후 용량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138160" y="265176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21.21 GB → 10.68 GB, 부가정보 제거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3337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분할별 이미지 수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" y="3721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840480"/>
          <a:ext cx="11055096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854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train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val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test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(bbox)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49,874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9,628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2,734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62,236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(seg)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49,873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9,629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2,734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62,236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 중 배경 사진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2,400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450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3,000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566928" y="5623560"/>
            <a:ext cx="11064240" cy="411480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562356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640×640 재변환 · JPEG 품질 85 · EXIF · GPS · XMP · ICC 제거.  두 데이터셋의 5,786장은 서로 다른 분할에 있어 평가 자료를 교차 사용하지 않는다.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분할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대 2 대 1로 학습 · 모델 선택 · 최종 평가를 분리한다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600200"/>
            <a:ext cx="3493008" cy="1417320"/>
          </a:xfrm>
          <a:prstGeom prst="rect">
            <a:avLst/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4650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66928" y="238658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train — 학습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265176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가중치를 학습하는 데 사용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52544" y="160020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2544" y="174650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352544" y="238658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val — 모델 선택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52544" y="265176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설정과 모델을 고르는 데 사용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38160" y="160020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174650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138160" y="238658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 — 최종 평가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138160" y="265176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선택이 끝난 뒤 한 번만 사용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3337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데이터에서 확인된 클래스 편중과 재분할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" y="3721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840480"/>
          <a:ext cx="11055096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6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클래스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조정 전  train / val / test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조정 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평가용 박스 변화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battery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96.6 / 3.0 / 0.4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80.0 / 15.0 / 5.0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159개 → 642개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general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92.3 / 7.4 / 0.3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80.0 / 15.0 / 5.0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38개 → 537개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glass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82.8 / 14.8 / 2.4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80.0 / 15.0 / 5.0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566928" y="5532120"/>
            <a:ext cx="11064240" cy="41148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553212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계획은 7 : 2 : 1이었고, 실제 데이터에서는 평가 자료를 확보하기 위해 클래스마다 80 : 15 : 5로 다시 나눴다. 같은 원본 · 비슷한 장면 묶음 단위로만 옮겨 분할 간 누수를 막았다 (걸친 그룹 0개).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: 2 : 1로 잡은 이유 — 학습량을 최대한 확보하면서, 모델을 고를 검증 자료는 넉넉히 두고, 최종 평가는 한 번만 쓰는 소량으로 남기기 위한 배분이다.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 범위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서비스는 6종만 안내하고, 학습 · 평가는 general을 포함한 7클래스로 했다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572768"/>
            <a:ext cx="5385816" cy="16002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범위 — 6종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6384" y="2103120"/>
            <a:ext cx="4946904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· 플라스틱 · 비닐 · 캔 · 유리 · 배터리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분리배출 안내가 필요한 품목에 집중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45352" y="1572768"/>
            <a:ext cx="5385816" cy="160020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· 평가 — 7클래스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64808" y="2103120"/>
            <a:ext cx="4946904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general(일반쓰레기)을 포함한 상태로 학습했다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 평가에서 general을 뺀 것은 아니다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3337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general(일반쓰레기)을 서비스 범위에서 뺀 이유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3721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3749040"/>
            <a:ext cx="3493008" cy="111556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391363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범주가 넓다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8096" y="4279392"/>
            <a:ext cx="30906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재질이 아니라 "나머지"로 정의돼 라벨 기준을 한 줄로 잡기 어렵다.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52544" y="3749040"/>
            <a:ext cx="3493008" cy="111556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53712" y="391363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자료가 적다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53712" y="4279392"/>
            <a:ext cx="30906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자료 3,677객체 중 82개(2.2%)뿐이라 수치가 흔들린다.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38160" y="3749040"/>
            <a:ext cx="3493008" cy="1115568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9328" y="391363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성능이 가장 낮다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39328" y="4279392"/>
            <a:ext cx="3090672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모델 mAP50–95 10%대 · 실사용 재현율 9.76%로 최하위다.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4992624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탐지 결과가 없을 때는 이렇게 처리한다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5303520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5431536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없음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6928" y="5742432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결과 0건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076700" y="561441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46448" y="5303520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6448" y="5431536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일반쓰레기로 단정 금지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346448" y="5742432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미탐일 수 있음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856220" y="561441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125968" y="5303520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25968" y="5431536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· 재촬영 안내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8125968" y="5742432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각도 · 거리 변경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학습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객체가 없는 사진을 빈 라벨로 함께 학습해 오탐을 줄인다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572768"/>
            <a:ext cx="3493008" cy="18745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737360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 없는 배경 이미지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6384" y="2103120"/>
            <a:ext cx="3054096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대상 객체가 아예 없는 사진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라벨 파일로 학습에 사용한다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COCO 118,287장 → 후보 8,315장 → 3,000장 선별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52544" y="1572768"/>
            <a:ext cx="3493008" cy="187452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1737360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객체 라벨 누락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2103120"/>
            <a:ext cx="3054096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객체는 있는데 라벨이 빠진 경우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잘못된 학습 신호가 되어 성능을 떨어뜨린다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이미지와 혼동해서는 안 된다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1572768"/>
            <a:ext cx="3493008" cy="18745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9328" y="1737360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None 클래스 추가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57616" y="2103120"/>
            <a:ext cx="3054096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대상과 박스 정의가 따로 필요하다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전체 라벨로 자동 해결되지 않는다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학습에는 도입하지 않았다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3657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사진 150장에서의 오탐 실측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66928" y="40416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160520"/>
          <a:ext cx="11055096" cy="914400"/>
        </p:xfrm>
        <a:graphic>
          <a:graphicData uri="http://schemas.openxmlformats.org/drawingml/2006/table">
            <a:tbl>
              <a:tblPr/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6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구성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오탐이 난 배경 사진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포함 — 분할 YOLO11n-seg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포함 — 검출 YOLO11n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3.3%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제외 — 검출 YOLO26s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26.7%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제외 모델은 모델 크기도 함께 달라 배경 효과만으로 단정하지 않는다. 다만 실사용에서 가장 크게 드러난 차이는 이 항목이다.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환경과 속도 실측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GPU 학습으로 바꾼 것이 가장 큰 차이를 만들었다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600200"/>
            <a:ext cx="3493008" cy="1417320"/>
          </a:xfrm>
          <a:prstGeom prst="rect">
            <a:avLst/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4650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25.8배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66928" y="238658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CPU 대비 GPU 학습 속도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265176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소량 세트 에포크 550.7초 → 21.4초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52544" y="160020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2544" y="174650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71.5%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352544" y="238658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중 GPU 사용률 중앙값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52544" y="265176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92% · 메모리 3,650 / 8,188 MiB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38160" y="160020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174650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−15.3%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138160" y="238658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batch 8 → 16 에포크 시간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138160" y="265176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→ 24는 −1.6%p인데 메모리 +47%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3337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환경과 실제 학습 시간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" y="3721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840480"/>
          <a:ext cx="5349240" cy="91440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측정 환경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사양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GPU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NVIDIA GeForce RTX 4060 · 8 GB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CPU · RAM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Intel Core i7-13700 · 32 GB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소프트웨어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PyTorch 2.14 + CUDA 12.6 · Ultralytics 8.4.146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1928" y="3840480"/>
          <a:ext cx="5340096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학습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에포크 평균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학습 시간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YOLO11n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479초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13시간 18분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YOLO11n-seg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562초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15시간 40분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YOLO26s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739초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20시간 31분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워커 수(4 / 8 / 12) 차이는 1.4% 이내로 병목은 GPU 연산이다. 분할 학습은 PC 비정상 종료로 2회 중단되어 이어서 학습했다(전체 경과 17시간 42분).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 전략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학습한 특징을 가져와 취약 장면에 맞춰 조금씩 움직인다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572768"/>
            <a:ext cx="5385816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 (Transfer Learning)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8096" y="2103120"/>
            <a:ext cx="4983480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처음부터 배우지 않고, 우리 쓰레기 자료로 이미 학습한 가중치에서 출발한다. 앞부분이 뽑아내는 특징을 그대로 쓰므로 훨씬 적은 에포크로 수렴한다.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45352" y="1572768"/>
            <a:ext cx="5385816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37360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미세 조정 (Fine-tuning)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2103120"/>
            <a:ext cx="4983480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학습률을 크게 낮추고 증강을 줄여, 기존에 맞히던 것을 무너뜨리지 않는 범위에서 가중치를 조금씩 움직인다.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31546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실제 학습 설정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353872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703320"/>
          <a:ext cx="11055096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96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출발 가중치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최적화 · 학습률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Mosaic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층 고정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학습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yolo11n.pt · yolo26s.pt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auto (SGD) · lr0 0.01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전이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학습 best.pt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 · 1e-4 · cos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전이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선택 가중치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 · 3e-5 · cos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앞 10블록 고정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3차 전이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선택 가중치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 · 1e-5 · cos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 (전체 학습)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마지막 미세조정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3차 선택 가중치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 · 5e-6 · cos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없음 (전체 학습)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: 100 epoch 상한 · patience 10 · imgsz 640 · batch 16 · lrf 0.2 · warmup_bias_lr 0 · warmup 1 epoch.  3차에만 10% 확률로 약한 흐림(3픽셀)을 넣었다.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절차 및 방법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보완 데이터 확보 경로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자료에서 취약 장면 위주로 모으고, 직접 검수한 것만 학습에 넣었다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11055096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2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확보 · 확인 범위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정답 반영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TACO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후보 675장 (기존 중복 825장 별도)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300장 · 874객체 반영 / 375장 보류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WaRP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2,974장 → 중복 제거 2,965장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2,443장 / 출처 시험 522장 별도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건전지 자료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battery 포함 569장 추출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462장 / val 33 · test 40장 별도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Open Images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train 1,044 · val 121 · test 180장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수건 · 비닐봉지 · 모니터 후보 중 검수분만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Wikimedia Commons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73장 + 동전 · 단추 전지 22장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직접 라벨링한 13장 반영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Hub 71362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국내 폐기물 자료로 조사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이용 절차 필요 — 확보 수량에 미포함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66928" y="4434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오인식 사례를 보고 무엇을 채울지 정했다 — 기존 라벨도 검출 132개 · 분할 66개를 정정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66928" y="481888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4937760"/>
            <a:ext cx="2546604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102352"/>
            <a:ext cx="21442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수건 → 비닐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8096" y="5468112"/>
            <a:ext cx="2144268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 수건 · 걸레는 general, 종이 타월은 paper로 확정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406140" y="4937760"/>
            <a:ext cx="2546604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07308" y="5102352"/>
            <a:ext cx="21442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 오인식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607308" y="5468112"/>
            <a:ext cx="2144268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모니터는 7클래스 밖 — 배경 사례로 추가</a:t>
            </a:r>
            <a:endParaRPr lang="en-US" sz="1150" dirty="0"/>
          </a:p>
        </p:txBody>
      </p:sp>
      <p:sp>
        <p:nvSpPr>
          <p:cNvPr id="9" name="Shape 15"/>
          <p:cNvSpPr/>
          <p:nvPr/>
        </p:nvSpPr>
        <p:spPr>
          <a:xfrm>
            <a:off x="6245352" y="4937760"/>
            <a:ext cx="2546604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46520" y="5102352"/>
            <a:ext cx="21442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건전지 다양성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46520" y="5468112"/>
            <a:ext cx="2144268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AA · AAA · C · D · 9V와 동전 전지 우선 확보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9084564" y="4937760"/>
            <a:ext cx="2546604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285732" y="5102352"/>
            <a:ext cx="21442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코팅 종이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285732" y="5468112"/>
            <a:ext cx="2144268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기반 제품은 paper로 매핑 정책 반영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TACO — 야외 쓰레기 60개 세부 품목 · 주석 CC BY 4.0 / WaRP — 재활용 선별공장 컨베이어 28종.  외국 공개 자료를 한국 촬영 자료로 표시하지 않는다.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학습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학습은 오탐을 없앴고, 분할 모델은 박스 성능이 낮았다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554480"/>
            <a:ext cx="11064240" cy="411480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5448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클래스당 10,000장 · 공통 7클래스 / 100 epoch · batch 16      수치는 모델 4종 외부 평가 기준 (랜덤 160장 · 433객체)</a:t>
            </a:r>
            <a:endParaRPr lang="en-US" sz="11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94560"/>
          <a:ext cx="11055096" cy="9144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9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mAP50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mAP50–95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오탐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11n — 최초 학습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54.15%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47.06%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11n — 배경 포함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51.24%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44.17%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SEG 11n — 분할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34.02%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26.68%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66928" y="4343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모델을 비교해 확인한 것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66928" y="47274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4" name="Text 11"/>
          <p:cNvSpPr/>
          <p:nvPr/>
        </p:nvSpPr>
        <p:spPr>
          <a:xfrm>
            <a:off x="713232" y="4892040"/>
            <a:ext cx="1076248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이미지를 함께 학습한 모델은 배경 오탐이 3장에서 0장으로 줄었으나, 박스 mAP50–95는 2.89%p 낮았다.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세그멘테이션 모델은 박스 기준 성능이 가장 낮아, 이번 비교에서 검출 대비 우위를 확인하지 못했다.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시점의 검증 지표와 마스크 성능은 별도로 기록하며, 이 표의 수치와 구분한다.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학습 실측 기록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시험셋에서는 26s가 가장 정확했고 배경 오탐도 가장 많았다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554480"/>
            <a:ext cx="11064240" cy="411480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5448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작업공간 실측 · 2026. 09. 12. 기준 / 과제별 test 2,734장 (배경 150장 포함) / 100 epoch · batch 16 · imgsz 640</a:t>
            </a:r>
            <a:endParaRPr lang="en-US" sz="11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94560"/>
          <a:ext cx="11055096" cy="9144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67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mAP50–95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마스크 mAP50–95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오탐 150장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총 학습 시간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YOLO11n — 배경 포함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0.7386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5장 (3.3%)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13시간 18분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YOLO26s — 배경 제외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0.7803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40장 (26.7%)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20시간 31분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YOLO11n-seg — 배경 포함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0.7562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0.6951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 (0.7%)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15시간 40분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66928" y="41605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표에서 읽을 수 있는 것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66928" y="454456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4" name="Text 11"/>
          <p:cNvSpPr/>
          <p:nvPr/>
        </p:nvSpPr>
        <p:spPr>
          <a:xfrm>
            <a:off x="713232" y="4709160"/>
            <a:ext cx="107624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정확한 모델(26s)이 배경 사진 150장 중 40장에서 없는 쓰레기를 안내했다. 정확도만으로는 고를 수 없다.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모델의 박스 성능(0.7562)이 검출 전용 11n(0.7386)보다 높았으나, 두 시험 목록은 60.4%만 겹쳐 경향으로만 본다.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학습 모두 조기 종료 없이 100 epoch를 채웠고, 26s는 90 epoch에서 최고를 기록했다.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클래스별 성능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battery · can · paper는 높고, plastic · glass · general은 낮다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9" name="Image 0" descr="/home/claude/work/fig/f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897" y="1554480"/>
            <a:ext cx="9676015" cy="44348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28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시험 1,712장 · 3,677객체.  클래스별 정답 수 — plastic 821 · vinyl 788 · paper 664 · can 578 · glass 495 · battery 249 · general 82.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최종 선택 기준 mAP50–95 — paper 82.4 · can 81.7 · battery 73.1 · vinyl 67.4 · glass 56.7 · plastic 56.3 · general 11.0.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 결과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 모델은 최초 학습 모델의 성능을 넘지 못했다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보완 데이터 확보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취약 장면 위주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131820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0156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전이학습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0156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채택 판정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66460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3620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미세 조정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3620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학습률 5e-6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801100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7084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7084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시험셋 비교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07084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조건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2971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확인한 결과와 해석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66928" y="33558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520440"/>
          <a:ext cx="11055096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7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정리 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진행 방식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보완 데이터를 더해 3단계에 걸쳐 전이학습을 진행하고 마지막에 미세 조정했다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채택 기준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검증 점수 상승 · 과제 평균 비하락 · 클래스별 AP 하락 1%p 이내를 모두 만족할 때만 다음 단계로 넘겼다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모델 대비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박스 test mAP50–95 76.11 → 74.11 (−2.00%p), 분할 마스크 68.66 → 68.71 (+0.05%p)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 가설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보완 데이터의 장면 분포가 시험셋과 어긋났을 가능성과 추가 데이터의 규모 부족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분할의 +0.05%p는 개선으로 보지 않는다. 두 모델 모두 원본 검증 성능 회복 기준을 통과하지 못해 자동 배포하지 않았다.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 단계별 수치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1차에서 크게 떨어진 뒤 단계마다 회복했지만 초기 수준을 넘지 못했다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9" name="Image 0" descr="/home/claude/work/fig/f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72768"/>
            <a:ext cx="6355080" cy="36718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086600" y="1627632"/>
            <a:ext cx="4535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시험 재측정 (mAP50–95, %)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956816"/>
          <a:ext cx="4535424" cy="914400"/>
        </p:xfrm>
        <a:graphic>
          <a:graphicData uri="http://schemas.openxmlformats.org/drawingml/2006/table">
            <a:tbl>
              <a:tblPr/>
              <a:tblGrid>
                <a:gridCol w="1353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박스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박스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마스크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학습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64.1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66.2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61.4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전이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55.3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59.7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전이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57.2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64.9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3차 전이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59.5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64.6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59.9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마지막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61.2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7086600" y="4572000"/>
            <a:ext cx="4535424" cy="109728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251192" y="4645152"/>
            <a:ext cx="42062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분할은 3차가 최종 선택이다. 마지막 미세조정 후보는 마스크 mAP50–95 비하락 조건을 통과하지 못해 채택하지 않았다.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5349240"/>
            <a:ext cx="6355080" cy="731520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15" name="Text 11"/>
          <p:cNvSpPr/>
          <p:nvPr/>
        </p:nvSpPr>
        <p:spPr>
          <a:xfrm>
            <a:off x="603504" y="5349240"/>
            <a:ext cx="6062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대비 최종 — 검출 박스 −2.90%p · 분할 박스 −1.6%p · 분할 마스크 −1.5%p.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과제 자체 시험 자료(2,734장) 기록은 앞 장에 있으며, 평가 자료가 달라 섞지 않는다.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단계별 완료 epoch — 2차 13 · 3차 49 · 마지막 13.  에포크 평균 9.4 / 13.5 / 13.1분 (준비 에포크 제외, 검증 시간 포함).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전이학습 하락 원인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점수가 84.92에서 첫 에포크 69.56으로 떨어진 지점을 추적했다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600200"/>
            <a:ext cx="3493008" cy="1417320"/>
          </a:xfrm>
          <a:prstGeom prst="rect">
            <a:avLst/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4650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84.92 → 69.56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66928" y="238658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val → 1차 첫 에포크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265176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 mAP50–95 (%) · 새 실험 최고도 79.92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52544" y="160020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2544" y="174650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1,000배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352544" y="238658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편향 학습률 / 본 학습률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52544" y="265176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warmup_bias_lr 0.1 vs lr0 0.0001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38160" y="160020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174650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6,444장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138160" y="238658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재사용한 기존 객체 사진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138160" y="265176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약 4.7만 장 중 일부만 선별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3246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 후보와 대조 실험 결과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" y="363016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749040"/>
          <a:ext cx="11055096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27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 후보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결과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 편향 학습률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AdamW를 직접 지정하면 warmup_bias_lr이 보정되지 않는다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학습률만 낮춘 대조 → 회복 실패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배치정규화 통계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통계가 새 분포로 덮였을 가능성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BN 통계만 복원한 대조 → 회복 실패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분포 축소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기존 자료 일부만 재사용, 신규 plastic 비중이 컸다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2차부터 기존 train 전체 53,103장 사용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동시 변경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자료 · 증강 · optimizer · 학습률 · 손실 일정이 함께 바뀌었다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단일 원인으로 확정하지 않는다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Text 21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2차부터는 warmup_bias_lr을 0으로 고정하고, 원본 모델의 고정 검증 성능을 비교 기준에 함께 넣었다.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조건 재측정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기록의 80%대는 공통 시험에서 55 ~ 66%로 내려간다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554480"/>
            <a:ext cx="11064240" cy="411480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5448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10종을 같은 조건으로 다시 측정 · 2026. 09. 14.  /  시험 1,712장 · 3,677객체(배경 150장 포함)  /  imgsz 640 · conf 0.001 · NMS IoU 0.7 · FP32</a:t>
            </a:r>
            <a:endParaRPr lang="en-US" sz="11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48840"/>
          <a:ext cx="11055096" cy="9144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453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학습중 검증 최고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공통 시험 mAP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실사용 F1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오탐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 처리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11n — 초기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83.46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60.39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75.49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8.1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26s — 배경 제외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85.40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64.12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78.80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9.8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검출 최종 전이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84.07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61.22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78.17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8.7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11n-seg — 초기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85.22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66.18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74.76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9.1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분할 최종 전이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84.86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64.58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73.91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9.0 ms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66928" y="4846320"/>
            <a:ext cx="5385816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01091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기록이 더 높은 이유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8096" y="5376672"/>
            <a:ext cx="498348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실험이 자기 검증 자료로 잰 값이다. 공통 시험은 두 데이터셋의 교집합을 같은 정답으로 다시 쟀다.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45352" y="4846320"/>
            <a:ext cx="5385816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6520" y="501091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실사용 값이 다른 이유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46520" y="5376672"/>
            <a:ext cx="4983480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mAP는 신뢰도 0.001까지 포함한 곡선의 넓이이고, 사용자는 앱 기준을 넘긴 검출 한 점만 본다.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 처리 시간은 데스크톱 RTX 4060 기준이다. 휴대폰과 젯슨에서는 더 느리며 따로 측정해야 한다.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실사용 조건 성능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기준으로 걸러낸 뒤 화면에 뜬 검출만으로 계산한 값이다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9" name="Image 0" descr="/home/claude/work/fig/f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897" y="1554480"/>
            <a:ext cx="9676015" cy="44348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28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앱의 클래스별 신뢰도 기준(0.13~0.75, 없으면 0.45) · NMS IoU 0.5 · 판정 겹침 IoU 0.5 · 사진 한 장씩 처리.  정밀도 = 뜬 것 중 맞은 비율, 재현율 = 실제 물체 중 찾은 비율.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기준을 모두 0.25 또는 0.45로 통일해도 F1 차이는 1%p 안팎이다. 클래스별 기준이 측정된 모델은 초기 검출 2종뿐이다.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평가 방법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모델당 354개 입력을 동일 조건으로 비교했다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62763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데이터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65960"/>
          <a:ext cx="534924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규모 · 지표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랜덤 탐지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160장 · 433객체 / 박스 mAP · P · R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대표 클래스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110장 / 쓰레기 80 · 배터리 30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오탐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24개 배경 영역 / 오탐 이미지 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환경 변화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20장 × 3조건 = 60개 / 박스 mAP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309360" y="162763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비교 조건</a:t>
            </a:r>
            <a:endParaRPr lang="en-US" sz="130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965960"/>
          <a:ext cx="5321808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8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 · 실행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best.pt / 640×640 패딩, batch 1 / CPU FP32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후처리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클래스별 NMS IoU 0.7, 최대 300개 / end2end=False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mAP: conf ≥ 0.001 · P·R: conf ≥ 0.25, IoU ≥ 0.50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범위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SEG는 마스크 제외, 박스만 평가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566928" y="4480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구성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66928" y="4864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5" name="Shape 11"/>
          <p:cNvSpPr/>
          <p:nvPr/>
        </p:nvSpPr>
        <p:spPr>
          <a:xfrm>
            <a:off x="566928" y="4937760"/>
            <a:ext cx="3493008" cy="1417320"/>
          </a:xfrm>
          <a:prstGeom prst="rect">
            <a:avLst/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6928" y="508406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354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566928" y="572414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모델당 총 입력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66928" y="598932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 270장 + 파생 84개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352544" y="493776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352544" y="508406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239</a:t>
            </a:r>
            <a:endParaRPr lang="en-US" sz="3000" dirty="0"/>
          </a:p>
        </p:txBody>
      </p:sp>
      <p:sp>
        <p:nvSpPr>
          <p:cNvPr id="21" name="Text 17"/>
          <p:cNvSpPr/>
          <p:nvPr/>
        </p:nvSpPr>
        <p:spPr>
          <a:xfrm>
            <a:off x="4352544" y="572414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원본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4352544" y="598932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원본 31장 포함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8138160" y="493776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138160" y="508406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1"/>
          <p:cNvSpPr/>
          <p:nvPr/>
        </p:nvSpPr>
        <p:spPr>
          <a:xfrm>
            <a:off x="8138160" y="572414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 모델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8138160" y="598932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11n · DY 11n · DY SEG · DY 26s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 검출 성능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 26s가 가장 높지만 미탐지 개선이 필요하다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9" name="Chart 0"/>
          <p:cNvGraphicFramePr/>
          <p:nvPr/>
        </p:nvGraphicFramePr>
        <p:xfrm>
          <a:off x="502920" y="1600200"/>
          <a:ext cx="649224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1691640"/>
          <a:ext cx="4361688" cy="9144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11n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26s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차이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정밀도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64.47%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69.30%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+4.83%p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재현율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33.95%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36.49%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+2.54%p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44.48%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47.81%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+3.33%p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66928" y="4572000"/>
            <a:ext cx="5385816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68096" y="473659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박스 mAP50–95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68096" y="5047488"/>
            <a:ext cx="4983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+3.19%p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6245352" y="4572000"/>
            <a:ext cx="5385816" cy="11430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46520" y="473659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미탐지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446520" y="5047488"/>
            <a:ext cx="4983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275 / 433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7클래스 · 랜덤 이미지 160장 · 정답 객체 433개 · 네 모델에 동일한 외부 평가를 적용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속도와 추가 시험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 26s의 CPU 추론 시간은 AI 11n의 약 2.90배다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9" name="Chart 0"/>
          <p:cNvGraphicFramePr/>
          <p:nvPr/>
        </p:nvGraphicFramePr>
        <p:xfrm>
          <a:off x="502920" y="1600200"/>
          <a:ext cx="630936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7086600" y="1627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 26s 환경 변화 시험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965960"/>
          <a:ext cx="4544568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mAP50–95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47.82%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밝기 40%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44.98%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흐림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16.53%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7086600" y="3840480"/>
            <a:ext cx="4544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20장 · 59객체 / 흐림 조건에서 −31.29%p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66928" y="4434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크기와 배경 오탐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66928" y="481888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892040"/>
          <a:ext cx="11055096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854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SEG 11n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DY 26s noBG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 크기 MB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5.49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5.49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6.02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20.33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오탐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/ 24장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Text 11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클래스 : 66/110 정답(60%) · 배터리 30/30 · 플라스틱 1/16. 제품 사진 위주의 배터리 결과는 일반화에 제한이 있다.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YOLO26s 추가 실험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정확도는 26s가 앞서고 속도 · 용량은 11n이 앞선다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536192"/>
            <a:ext cx="11064240" cy="41148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36192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제약과 컴퓨터 다운에 따른 결과 소실로 학습 결과 1건만 확보했고, 모델 확대 비교 실험은 중단했다. 가중치와 로그는 보존했다.</a:t>
            </a:r>
            <a:endParaRPr lang="en-US" sz="11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57400"/>
          <a:ext cx="11055096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8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 기준 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YOLO26s 확보 모델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· 클래스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클래스당 10,000장 · 공통 7클래스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클래스당 10,000장 · 공통 7클래스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epoch · 장치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 epoch · CPU FP32 평가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 epoch · 90 epoch에서 최고 기록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박스 mAP50–95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47.06%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50.25%   (+3.19%p)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정밀도 · 재현율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64.47%  ·  33.95%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69.30%  ·  36.49%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추론 시간 · 크기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102.8 ms  ·  5.49 MB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298.0 ms  ·  20.33 MB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시간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13시간 18분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20시간 31분  (1.54배)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시도 경위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 모델로 유지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속도 우선 — 26l → 26m → 26s 축소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66928" y="5074920"/>
            <a:ext cx="5385816" cy="10515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23951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YOLO26을 시도한 이유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8096" y="5605272"/>
            <a:ext cx="498348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NMS 후처리를 없앤 end-to-end 구조와 DFL 제거로 CPU 추론이 최대 43% 빨라졌다고 공개됐다 (2026. 01.).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45352" y="5074920"/>
            <a:ext cx="5385816" cy="105156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6520" y="523951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측정의 한계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46520" y="5605272"/>
            <a:ext cx="4983480" cy="374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평가를 end2end=False로 돌려 NMS-free 이점이 빠졌고, 11n(2.6M)과 26s(9.5M)는 규모가 달라 직접 비교가 아니다.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공식 COCO 기준 — YOLO26s 9.5M · 20.7 GFLOPs · mAP50–95 48.6 / YOLO11s 9.4M · 21.5 GFLOPs · 47.0 (Ultralytics 문서).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규모와 성능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파라미터를 3.8배 늘려도 정확도는 3.73%p 올랐다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11055096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91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파라미터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GFLOPs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가중치 파일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백본 / 넥 / 헤드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 — 검출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2,591,205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6.5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5.5 MB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1.37M / 0.79M / 0.43M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YOLO11n-seg — 분할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2,843,973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6.0 MB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1.37M / 0.79M / 0.68M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YOLO26s — 검출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9,953,282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22.8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20.3 MB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5.44M / 3.57M / 0.94M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66928" y="3611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규모를 키운 대가와 이득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66928" y="399592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4114800"/>
            <a:ext cx="3493008" cy="1417320"/>
          </a:xfrm>
          <a:prstGeom prst="rect">
            <a:avLst/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426110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3.8배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566928" y="490118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파라미터 증가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66928" y="516636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2.59M → 9.95M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52544" y="411480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52544" y="426110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3.5배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4352544" y="490118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연산량 증가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352544" y="516636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6.5 → 22.8 GFLOPs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138160" y="4114800"/>
            <a:ext cx="3493008" cy="141732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38160" y="4261104"/>
            <a:ext cx="349300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+3.73%p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8138160" y="4901184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시험 mAP 이득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138160" y="516636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60.39% → 64.12%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66928" y="5715000"/>
            <a:ext cx="11064240" cy="411480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571500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분할 모델은 파라미터가 검출 26s의 29%인데 공통 시험 mAP는 66.18%로 더 높다. 규모보다 학습 자료와 과제 설정이 더 크게 작용했다.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전이학습은 구조를 바꾸지 않았다. 같은 계열 안의 성능 차이는 전부 학습 설정과 데이터 차이에서 나온 것이다.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규모 · 속도와 정확도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모델들이 왼쪽 위에 모여 있다 — 키운 만큼의 이득은 아니었다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9" name="Image 0" descr="/home/claude/work/fig/f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554480"/>
            <a:ext cx="10643616" cy="44348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28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파라미터 3.8배 · 연산량 3.5배를 쓰고 공통 시험 mAP는 +3.73%p였다. 배경 오탐은 오히려 크게 늘었고, 한 장 처리 시간도 8.05 ms → 9.78 ms로 길어졌다.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왼쪽은 공통 시험 mAP50–95, 오른쪽은 실사용 F1이다. 분할 yolo11n-seg는 파라미터가 검출 26s의 29%인데 두 지표 모두 작은 모델 쪽이 왼쪽 위에 모인다.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탐지 사례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가림 장면은 6/7 탐지, 혼합 장면은 0/6 탐지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57276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가림이 있는 플라스틱 병</a:t>
            </a:r>
            <a:endParaRPr lang="en-US" sz="1300" dirty="0"/>
          </a:p>
        </p:txBody>
      </p:sp>
      <p:pic>
        <p:nvPicPr>
          <p:cNvPr id="10" name="Image 0" descr="/home/claude/work/ppt4/image1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" y="1901952"/>
            <a:ext cx="5349240" cy="2697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281928" y="157276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혼합 쓰레기</a:t>
            </a:r>
            <a:endParaRPr lang="en-US" sz="1300" dirty="0"/>
          </a:p>
        </p:txBody>
      </p:sp>
      <p:pic>
        <p:nvPicPr>
          <p:cNvPr id="12" name="Image 1" descr="/home/claude/work/ppt4/image2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81928" y="1901952"/>
            <a:ext cx="5349240" cy="26974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66928" y="4754880"/>
            <a:ext cx="5385816" cy="123444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68096" y="491947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가림 장면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86384" y="5285232"/>
            <a:ext cx="4946904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 26s : 정답 6개 · 미탐 1개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11n : 정답 4개 · 오탐 1개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45352" y="4754880"/>
            <a:ext cx="5385816" cy="123444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46520" y="4919472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혼합 장면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464808" y="5285232"/>
            <a:ext cx="4946904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 26s : 정답 0개 · 오탐 3개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플라스틱 · 종이 · 비닐을 서로 혼동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찾은 사진과 어려운 사진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물체가 크고 배경이 단순하면 모델 간 차이도 거의 없다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53619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모델이 정답을 그대로 찾은 사진</a:t>
            </a:r>
            <a:endParaRPr lang="en-US" sz="1200" dirty="0"/>
          </a:p>
        </p:txBody>
      </p:sp>
      <p:pic>
        <p:nvPicPr>
          <p:cNvPr id="10" name="Image 0" descr="/home/claude/work/fig/f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47088"/>
            <a:ext cx="5349240" cy="420450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309360" y="153619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모델이 함께 놓치거나 틀린 사진</a:t>
            </a:r>
            <a:endParaRPr lang="en-US" sz="1200" dirty="0"/>
          </a:p>
        </p:txBody>
      </p:sp>
      <p:pic>
        <p:nvPicPr>
          <p:cNvPr id="12" name="Image 1" descr="/home/claude/work/fig/f1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847088"/>
            <a:ext cx="5349240" cy="42045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점선은 정답, 실선은 모델이 찾은 것이다. 어려운 사진은 작은 물체가 여러 개 흩어져 있고 재질이 비슷한 품목이 함께 있다 — 정답 54개 중 1개만 찾은 경우도 있다.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원인 분해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놓친 885개와 틀린 674개를 이유별로 갈랐다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536192"/>
            <a:ext cx="5394960" cy="566928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36192"/>
            <a:ext cx="50657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놓친 정답 885개 —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품목으로 봄 391(44.2%) · 아예 못 찾음 327(36.9%) · 점수 미달 167(18.9%)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536192"/>
            <a:ext cx="5413248" cy="566928"/>
          </a:xfrm>
          <a:prstGeom prst="rect">
            <a:avLst/>
          </a:prstGeom>
          <a:solidFill>
            <a:srgbClr val="FBF3E4"/>
          </a:solidFill>
          <a:ln/>
        </p:spPr>
      </p:sp>
      <p:sp>
        <p:nvSpPr>
          <p:cNvPr id="12" name="Text 10"/>
          <p:cNvSpPr/>
          <p:nvPr/>
        </p:nvSpPr>
        <p:spPr>
          <a:xfrm>
            <a:off x="6382512" y="1536192"/>
            <a:ext cx="50840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검출 674개 — </a:t>
            </a: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 혼동 509(75.5%) · 배경을 물건으로 162(24.0%) · 같은 물건 중복 3(0.4%)</a:t>
            </a:r>
            <a:endParaRPr lang="en-US" sz="1050" dirty="0"/>
          </a:p>
        </p:txBody>
      </p:sp>
      <p:pic>
        <p:nvPicPr>
          <p:cNvPr id="13" name="Image 0" descr="/home/claude/work/fig/f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04" y="2240280"/>
            <a:ext cx="9372600" cy="37490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66928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최종 선택 모델 기준 수치. 그림은 비교한 모델 10종 전체를 함께 보여준다 (앱 기준 · 시험 자료 1,712장 · 3,677객체).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미달 167건은 신뢰도 기준만 낮춰도 건질 수 있는 몫이고, 아예 못 찾음 327건은 모델이나 학습 자료를 손봐야 하는 몫이다.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 크기와 검출률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잘 찾는 모델도 아주 작은 물체는 37%만 찾는다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9" name="Image 0" descr="/home/claude/work/fig/f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7589520" cy="372576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0" y="1691640"/>
            <a:ext cx="3401568" cy="288036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94192" y="1792224"/>
            <a:ext cx="3072384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개수
</a:t>
            </a:r>
            <a:r>
              <a:rPr lang="en-US" sz="100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아주 작음 320 · 작음 814
보통 1,730 · 큼 813
640×640에서 0.1%는 한 변 약 20픽셀이다. 헤드로 들어가는 가장 촘촘한 층(1/8, 80px)에서도 두세 칸밖에 차지하지 못한다.
</a:t>
            </a:r>
            <a:r>
              <a:rPr lang="en-US" sz="1000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어려운 사진은 대부분 작은 물체가 여러 개 흩어진 장면이다. 모델 교체보다 가까이서 찍도록 안내하는 편이 효과가 크다.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66928" y="5440680"/>
            <a:ext cx="11064240" cy="411480"/>
          </a:xfrm>
          <a:prstGeom prst="rect">
            <a:avLst/>
          </a:prstGeom>
          <a:solidFill>
            <a:srgbClr val="F1F5F3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5440680"/>
            <a:ext cx="107350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최종 선택 기준 — 아주 작음 36.9% · 작음 72.0% · 보통 82.5% · 큼 81.2%.  초기 11n은 24.4% · 67.7% · 79.7% · 76.8%로, 단계별 전이학습이 가장 크게 개선한 구간은 아주 작은 물체다.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사진에서 물체가 차지하는 넓이 비율로 나눈 값이다. 앱 기준(클래스별 신뢰도 · NMS IoU 0.5)으로 판정했다.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 혼동 분석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비닐↔종이, 플라스틱↔유리가 양방향으로 가장 잦다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pic>
        <p:nvPicPr>
          <p:cNvPr id="9" name="Image 0" descr="/home/claude/work/fig/f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00" y="1554480"/>
            <a:ext cx="10517407" cy="44348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28" y="603504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 = 실제 품목, 가로 = 모델이 그렇게 본 품목.  전체 모델 합산 혼동 순위 — 비닐→종이 1,208 · 플라스틱→유리 1,193 · 종이→비닐 910 · 비닐→플라스틱 826 · 유리→플라스틱 716 (건).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혼동은 대부분 양방향이므로 한쪽 클래스만 고쳐서는 해결되지 않고, 라벨 기준과 학습 자료를 함께 손봐야 한다.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잠정 결론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선정은 정확도와 실제 기기 성능을 함께 본다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5096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1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항목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관찰 결과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다음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general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3,677객체 중 82개(2.2%) · 전 모델 10%대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라벨 정의 · 사례 보강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처리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제외 학습은 150장 중 40장 오탐 (26.7%)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배경 포함 재학습 · 임계값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 독립성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시험 자료가 학습과 같은 수집 경로에서 나왔다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 현장 독립 시험셋 확보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클래스 임계값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클래스별 기준이 측정된 모델은 초기 검출 2종뿐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전이 · 분할 모델 임계값 측정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기기 성능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젯슨 1~2 FPS 확인 (.pt 실행 구성)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TensorRT 변환 후 재측정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66928" y="4389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 절차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66928" y="477316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4892040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6928" y="5020056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우선 후보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66928" y="5330952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 26s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076700" y="520293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346448" y="4892040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46448" y="5020056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경량 실행 비교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346448" y="5330952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11n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856220" y="520293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125968" y="4892040"/>
            <a:ext cx="3505200" cy="914400"/>
          </a:xfrm>
          <a:prstGeom prst="roundRect">
            <a:avLst>
              <a:gd name="adj" fmla="val 6000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25968" y="5020056"/>
            <a:ext cx="350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 · 사용성 검증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125968" y="5330952"/>
            <a:ext cx="350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모델 선정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재측정 기준 배포 후보 : 박스만 필요하면 검출 최종 전이(F1 78.17% · 배경 오탐 1/150), 마스크가 필요하면 분할 초기(F1 74.76% · 1/150).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수행 경과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시제품 현황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앱과 젯슨 검출은 동작하고 속도 개선이 남았다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촬영 입력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앱에서 촬영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131820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0156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추론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0156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기기 내부 처리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66460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3620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배출 안내 표시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3620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품목별 안내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801100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7084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7084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젯슨 설치형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07084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 스트림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2971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09. 14. 기준 현황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66928" y="33558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520440"/>
          <a:ext cx="11055096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9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안드로이드 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사진을 촬영한 뒤 분석하는 기능을 추가했다 / 세부 조정과 기능 수정을 진행 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적용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전이학습 모델부터 세그멘테이션 모델까지 적용해 비교 / 최초 학습 모델이 가장 안정적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젯슨 오린 나노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스크립트 기반 검출에 성공 / 처리 속도는 약 1~2 FPS 수준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추론 최적화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.pt 모델을 TensorRT .engine 형식으로 변환 적용 / 변환 후 속도는 추가 측정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데스크톱 RTX 4060에서 한 장 처리 8~10 ms다. 휴대폰과 젯슨의 지연 · 발열은 아직 측정하지 않았다.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평가 의견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 차이의 원인 분석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사실과 원인 가설을 분리해 검증한다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5096" cy="252374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16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분석 관점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관찰 사실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 가설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 · 추가 실험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양 · 분포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작은 물체 검출률 36.9%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거리 · 해상도의 한계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근거리 촬영 안내 · imgsz 확대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라벨 품질 · 배경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비닐 → 종이 혼동 1,208건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재질 경계가 모호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라벨 기준 재정의 · 자료 보강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구조 · 규모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26s가 +3.73%p 우위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연산량 3.5배의 대가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규모(11s) 비교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전이학습 · 조정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초기 대비 −2.00%p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보완 자료 분포 불일치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단계별 수치 확보 완료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학습 · 평가 조건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train − test 차이 +24%p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 자료가 학습과 같은 경로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독립 현장 시험셋 확보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66928" y="437083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지금까지의 결론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66928" y="4754880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4882896"/>
            <a:ext cx="5385816" cy="1371600"/>
          </a:xfrm>
          <a:prstGeom prst="rect">
            <a:avLst/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5047488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확인된 결론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6384" y="5413248"/>
            <a:ext cx="494690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정확도는 YOLO26s, 속도와 경량성은 YOLO11n이 앞선다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이미지 학습은 배경 오탐을 26.7%에서 3% 아래로 낮췄다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전이학습과 세그멘테이션은 이번 조건에서 이득이 없었다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45352" y="4882896"/>
            <a:ext cx="5385816" cy="1371600"/>
          </a:xfrm>
          <a:prstGeom prst="rect">
            <a:avLst/>
          </a:prstGeom>
          <a:solidFill>
            <a:srgbClr val="FBF3E4"/>
          </a:solidFill>
          <a:ln w="6350">
            <a:solidFill>
              <a:srgbClr val="D9C89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6520" y="5047488"/>
            <a:ext cx="4983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6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불확실성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64808" y="5413248"/>
            <a:ext cx="4946904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시험 자료가 학습과 같은 수집 경로에서 나와 현장 성능으로 말할 수 없다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· 젯슨의 처리 시간과 발열은 아직 측정하지 않았다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 · 분할 모델의 클래스별 임계값이 아직 없다</a:t>
            </a:r>
            <a:endParaRPr lang="en-US" sz="11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"/>
            <a:ext cx="6858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FD8C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14630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평가 의견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577840" y="146304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후속 계획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비교를 실제 기기 검증과 시제품 완성으로 연결한다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43560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· 라벨 보완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혼동 상위 짝 우선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131820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0156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독립 재평가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0156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현장 시험셋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66460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3620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1F5F3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· 기기 검증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3620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 · 발열 · 사용성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801100" y="19796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5C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70848" y="164592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DCE7E2"/>
          </a:solidFill>
          <a:ln w="6350">
            <a:solidFill>
              <a:srgbClr val="A8BAB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70848" y="177393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시제품 완성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070848" y="20848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발표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" y="2971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C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작업과 확인할 결과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66928" y="3355848"/>
            <a:ext cx="1005840" cy="41148"/>
          </a:xfrm>
          <a:prstGeom prst="rect">
            <a:avLst/>
          </a:prstGeom>
          <a:solidFill>
            <a:srgbClr val="1F5C4D"/>
          </a:solidFill>
          <a:ln/>
        </p:spPr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520440"/>
          <a:ext cx="11055096" cy="22860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9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후속 작업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43C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확인할 결과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· 라벨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비닐↔종이 · 플라스틱↔유리 짝의 라벨 기준 재정의 / general 정의와 사례 보강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 평가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한국 현장 독립 시험셋 확보 / 배경 포함 YOLO26s 재학습으로 정확도와 오탐 동시 확보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임계값 · 앱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전이 · 분할 모델의 클래스별 신뢰도 기준 측정 / 사진 입력 흐름과 클래스 대응 점검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기기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휴대폰 · 젯슨 처리 시간과 발열 측정 / TensorRT 변환 후 속도 재측정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BA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566928" y="6199632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B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성능과 보완 학습 효과는 후속 검증 후 확정한다.  근거 : 모델 4종 확장 비교보고서(2026. 09. 13.) · 학습 결과 비교보고서(2026. 09. 14.)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6622853-6DBF-42F7-B45F-D9BFA51935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F5C4D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D4B8C830-8223-4399-9775-F6545BF35D5A}"/>
              </a:ext>
            </a:extLst>
          </p:cNvPr>
          <p:cNvSpPr>
            <a:spLocks noGrp="1"/>
          </p:cNvSpPr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1F5C4D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B9F2FB-FEB1-4ECD-AB92-3EA6E0B1F4B2}"/>
              </a:ext>
            </a:extLst>
          </p:cNvPr>
          <p:cNvSpPr txBox="1"/>
          <p:nvPr/>
        </p:nvSpPr>
        <p:spPr>
          <a:xfrm>
            <a:off x="2537012" y="2680447"/>
            <a:ext cx="6831106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dirty="0"/>
              <a:t>감사합니다</a:t>
            </a:r>
            <a:endParaRPr lang="en-US" altLang="ko-KR" sz="4800" dirty="0"/>
          </a:p>
          <a:p>
            <a:pPr algn="ctr"/>
            <a:endParaRPr lang="en-US" altLang="ko-KR" sz="4800" dirty="0"/>
          </a:p>
          <a:p>
            <a:pPr algn="r"/>
            <a:r>
              <a:rPr lang="en-US" altLang="ko-KR" sz="1000" dirty="0"/>
              <a:t>Q&amp;A</a:t>
            </a:r>
            <a:r>
              <a:rPr lang="ko-KR" altLang="en-US" sz="1000" dirty="0"/>
              <a:t>는 메일로 받겠습니다</a:t>
            </a:r>
            <a:r>
              <a:rPr lang="en-US" altLang="ko-KR" sz="1000" dirty="0"/>
              <a:t>.</a:t>
            </a:r>
          </a:p>
          <a:p>
            <a:pPr algn="r"/>
            <a:r>
              <a:rPr lang="ko-KR" altLang="en-US" sz="1000" dirty="0"/>
              <a:t>구두질문은 안 받겠습니다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ko-KR" altLang="en-US" sz="1000" dirty="0"/>
              <a:t>메일 본 발표일 공개 예정</a:t>
            </a:r>
            <a:endParaRPr lang="en-US" altLang="ko-KR" sz="1000" dirty="0"/>
          </a:p>
          <a:p>
            <a:pPr algn="r"/>
            <a:r>
              <a:rPr lang="ko-KR" altLang="en-US" sz="1000" dirty="0"/>
              <a:t>본 발표일에 </a:t>
            </a:r>
            <a:r>
              <a:rPr lang="en-US" altLang="ko-KR" sz="1000" dirty="0"/>
              <a:t>PPT </a:t>
            </a:r>
            <a:r>
              <a:rPr lang="ko-KR" altLang="en-US" sz="1000" dirty="0"/>
              <a:t>본발표용 </a:t>
            </a:r>
            <a:r>
              <a:rPr lang="en-US" altLang="ko-KR" sz="1000" dirty="0"/>
              <a:t>PPT</a:t>
            </a:r>
            <a:r>
              <a:rPr lang="ko-KR" altLang="en-US" sz="1000" dirty="0"/>
              <a:t>업로드 예정</a:t>
            </a:r>
            <a:endParaRPr lang="en-US" altLang="ko-KR" sz="1000" dirty="0"/>
          </a:p>
          <a:p>
            <a:pPr algn="r"/>
            <a:r>
              <a:rPr lang="ko-KR" altLang="en-US" sz="1000"/>
              <a:t>축약해서 </a:t>
            </a:r>
            <a:r>
              <a:rPr lang="ko-KR" altLang="en-US" sz="1000" dirty="0"/>
              <a:t>업로드 예정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98669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applause.wav"/>
          </p:stSnd>
        </p:sndAc>
      </p:transition>
    </mc:Choice>
    <mc:Fallback xmlns="">
      <p:transition spd="slow">
        <p:sndAc>
          <p:stSnd>
            <p:snd r:embed="rId3" name="applaus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xit" presetSubtype="4" fill="hold" grpId="1" nodeType="after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" presetClass="exit" presetSubtype="1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5663</Words>
  <Application>Microsoft Office PowerPoint</Application>
  <PresentationFormat>와이드스크린</PresentationFormat>
  <Paragraphs>1094</Paragraphs>
  <Slides>41</Slides>
  <Notes>40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5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이미지 기반 쓰레기 분리배출 안내</dc:title>
  <dc:subject>PptxGenJS Presentation</dc:subject>
  <dc:creator>물시느끝</dc:creator>
  <cp:lastModifiedBy>USER</cp:lastModifiedBy>
  <cp:revision>3</cp:revision>
  <dcterms:created xsi:type="dcterms:W3CDTF">2026-09-15T06:53:32Z</dcterms:created>
  <dcterms:modified xsi:type="dcterms:W3CDTF">2026-09-15T07:16:15Z</dcterms:modified>
</cp:coreProperties>
</file>