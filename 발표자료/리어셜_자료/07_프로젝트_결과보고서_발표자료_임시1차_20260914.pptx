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0" d="100"/>
          <a:sy n="60" d="100"/>
        </p:scale>
        <p:origin x="78" y="11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발표는 임시 1차 발표입니다. 기존 프로젝트 계획에 9월 13일 분리수거 모델 4종 확장 비교 결과를 반영했습니다. 아직 최종 모델 선정이나 앱 성능 검증을 완료한 단계는 아닙니다.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프로젝트 목적을 설명한 뒤 네 모델을 같은 조건으로 평가한 결과를 제시하겠습니다. 성능 수치와 함께 실패 사례, 앱 적용을 위해 남은 작업을 설명합니다.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사진 입력으로 바꾸더라도 이미지 전체를 한 종류로 분류하는 모델로 바꾸는 것은 아닙니다. 객체 탐지를 유지해 사진 안의 여러 쓰레기를 찾는 방향입니다. 외부 비교의 대표 클래스 정답률은 별도 분석 지표입니다. 출처: 2026년 9월 11일 회의록 및 프로젝트 수행계획서.</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계획서의 6종과 분석 모델의 7클래스는 범위가 다릅니다. 모델은 general을 포함하고 있으므로 앱 라벨과 출력 처리의 대응을 확인해야 합니다. 7클래스 평가 결과를 기존 6종 목표 달성으로 바로 해석하지 않습니다.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기존 역할 분담과 9월 11일 일지를 기준으로 팀 업무를 정리했습니다. 비교 보고서의 AI와 DY는 모델 식별자이며, 해당 약어만으로 개인별 기여를 추가로 단정하지 않았습니다.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기존 8영업일 계획은 유지하되 주말에 외부 비교를 추가했습니다. 9월 13일 보고서에는 기존 best.pt 네 개를 사용했으며 이번 비교를 위한 재학습은 수행하지 않았습니다. 후속 작업은 계획이며 완료 사실로 제시하지 않습니다.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총 354개는 독립된 새 사진 354장이 아닙니다. 원본 270장과 배경 크롭 24개, 변형 입력 60개입니다. 네 모델에 적용해 총 1,416회 모델-이미지 예측을 저장했습니다. 원 학습 이미지가 없어 학습/외부 평가 중복은 확인하지 못했습니다. 어려운 장면을 의도적으로 포함한 잠정 비교입니다.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mAP50–95는 여러 겹침 기준에서 측정한 탐지 지표이며 단순 정확도가 아닙니다. 가장 높은 DY 26s noBG도 재현율이 36.49%에 머뭅니다. TP 158, FP 70, FN 275입니다. 네 모델의 정밀도·재현율·F1은 객체 수 기준 micro 집계이며 mAP는 클래스 평균입니다. 모델 크기와 학습 데이터가 다르므로 차이를 배경 제거 또는 전이학습 효과로만 설명할 수 없습니다.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CPU는 Intel i5-8265U, 실제 7스레드, FP32, batch 1, 워밍업 3회 조건입니다. DY 26s의 추론은 AI 11n의 약 2.90배 시간이 걸렸습니다. 이 수치는 안드로이드 또는 젯슨 FPS가 아닙니다. 배경 오탐은 conf 0.25 기준이며 0/24도 무오탐을 보장하지 않습니다. 배터리 30장은 대표 클래스 시험이고 TACO 박스 배터리는 1개뿐입니다. 흐림 시험은 Gaussian sigma 2의 합성 변형입니다.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현재 외부 결과는 최종 평가가 아닙니다. 기존 목표 mAP50 0.75는 이번 7클래스 시험에서 달성하지 못했으나 데이터와 범위가 달라 최종 합격 판단에는 별도 시험이 필요합니다. conf를 0.25에서 0.5로 높이면 DY 26s FP는 70에서 38로 줄지만 TP도 158에서 141로 줄었습니다. 임계값은 별도 검증셋으로 조정해야 합니다. 내부 검증 데이터가 달라 내부 mAP와 외부 mAP 차이를 전이학습 효과로 해석하지 않습니다.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발표의 결론은 최종 모델을 선정했다는 것이 아니라 같은 외부 조건에서 네 후보의 장단점을 확인했다는 것입니다. DY 26s의 탐지 성능과 AI 11n의 경량성을 기준으로 실기기 적용성을 확인하겠습니다. 앱의 안내 내용과 클래스 매핑을 정리하고 최종 발표 자료에 실제 측정값을 반영할 계획입니다.</a:t>
            </a:r>
          </a:p>
          <a:p>
            <a:endParaRPr/>
          </a:p>
          <a:p>
            <a:r>
              <a:t>출처: C:/Users/pc/Desktop/ai분석/recycling_comparison_20260913/reports/분리수거_4종모델_확장비교보고서.md</a:t>
            </a:r>
          </a:p>
          <a:p>
            <a:r>
              <a:t>수치 원본: C:/Users/pc/Desktop/ai분석/recycling_comparison_20260913/analysis/comparison.csv</a:t>
            </a:r>
          </a:p>
          <a:p>
            <a:r>
              <a:t>프로젝트 문서: C:/Users/pc/Desktop/+프로젝트제출문서/완성/01_프로젝트_수행계획서.docx, 04_프로젝트_일지.docx, 05_프로젝트_회의록_20260911.docx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5C4D"/>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FA8D22B-4B88-4744-BEC5-1B9D8020D2E7}"/>
              </a:ext>
            </a:extLst>
          </p:cNvPr>
          <p:cNvSpPr>
            <a:spLocks noGrp="1"/>
          </p:cNvSpPr>
          <p:nvPr/>
        </p:nvSpPr>
        <p:spPr>
          <a:xfrm>
            <a:off x="0" y="0"/>
            <a:ext cx="256032" cy="6858000"/>
          </a:xfrm>
          <a:prstGeom prst="rect">
            <a:avLst/>
          </a:prstGeom>
          <a:solidFill>
            <a:srgbClr val="BFD8CE"/>
          </a:solidFill>
        </p:spPr>
        <p:txBody>
          <a:bodyPr/>
          <a:lstStyle/>
          <a:p>
            <a:endParaRPr lang="ko-KR" altLang="en-US"/>
          </a:p>
        </p:txBody>
      </p:sp>
      <p:sp>
        <p:nvSpPr>
          <p:cNvPr id="3" name="Text 1">
            <a:extLst>
              <a:ext uri="{FF2B5EF4-FFF2-40B4-BE49-F238E27FC236}">
                <a16:creationId xmlns:a16="http://schemas.microsoft.com/office/drawing/2014/main" id="{67C4F58D-1583-42A3-A5A4-91C3FB4A94DE}"/>
              </a:ext>
            </a:extLst>
          </p:cNvPr>
          <p:cNvSpPr>
            <a:spLocks noGrp="1"/>
          </p:cNvSpPr>
          <p:nvPr/>
        </p:nvSpPr>
        <p:spPr>
          <a:xfrm>
            <a:off x="1005840" y="1143000"/>
            <a:ext cx="10058400" cy="365760"/>
          </a:xfrm>
          <a:prstGeom prst="rect">
            <a:avLst/>
          </a:prstGeom>
          <a:noFill/>
        </p:spPr>
        <p:txBody>
          <a:bodyPr wrap="square" anchor="ctr"/>
          <a:lstStyle/>
          <a:p>
            <a:pPr marL="0" indent="0">
              <a:buNone/>
            </a:pPr>
            <a:r>
              <a:rPr sz="1400">
                <a:solidFill>
                  <a:srgbClr val="BFD8CE"/>
                </a:solidFill>
                <a:latin typeface="맑은 고딕"/>
                <a:ea typeface="맑은 고딕"/>
                <a:cs typeface="맑은 고딕"/>
              </a:rPr>
              <a:t>데이터 분석 3모듈 프로젝트  /  임시 1차 발표</a:t>
            </a:r>
            <a:endParaRPr sz="1400"/>
          </a:p>
        </p:txBody>
      </p:sp>
      <p:sp>
        <p:nvSpPr>
          <p:cNvPr id="4" name="Text 2">
            <a:extLst>
              <a:ext uri="{FF2B5EF4-FFF2-40B4-BE49-F238E27FC236}">
                <a16:creationId xmlns:a16="http://schemas.microsoft.com/office/drawing/2014/main" id="{55CA9521-E067-4908-B2EA-776E02AFA423}"/>
              </a:ext>
            </a:extLst>
          </p:cNvPr>
          <p:cNvSpPr>
            <a:spLocks noGrp="1"/>
          </p:cNvSpPr>
          <p:nvPr/>
        </p:nvSpPr>
        <p:spPr>
          <a:xfrm>
            <a:off x="1005840" y="1691640"/>
            <a:ext cx="10332720" cy="914400"/>
          </a:xfrm>
          <a:prstGeom prst="rect">
            <a:avLst/>
          </a:prstGeom>
          <a:noFill/>
        </p:spPr>
        <p:txBody>
          <a:bodyPr wrap="square" anchor="ctr"/>
          <a:lstStyle/>
          <a:p>
            <a:pPr marL="0" indent="0">
              <a:buNone/>
            </a:pPr>
            <a:r>
              <a:rPr sz="3800" b="1">
                <a:solidFill>
                  <a:srgbClr val="FFFFFF"/>
                </a:solidFill>
                <a:latin typeface="맑은 고딕"/>
                <a:ea typeface="맑은 고딕"/>
                <a:cs typeface="맑은 고딕"/>
              </a:rPr>
              <a:t>AI 이미지 기반 쓰레기 분리배출 안내</a:t>
            </a:r>
            <a:endParaRPr sz="3800"/>
          </a:p>
        </p:txBody>
      </p:sp>
      <p:sp>
        <p:nvSpPr>
          <p:cNvPr id="5" name="Text 3">
            <a:extLst>
              <a:ext uri="{FF2B5EF4-FFF2-40B4-BE49-F238E27FC236}">
                <a16:creationId xmlns:a16="http://schemas.microsoft.com/office/drawing/2014/main" id="{F765F46C-A586-4E2A-9ED1-CEFF53F494D9}"/>
              </a:ext>
            </a:extLst>
          </p:cNvPr>
          <p:cNvSpPr>
            <a:spLocks noGrp="1"/>
          </p:cNvSpPr>
          <p:nvPr/>
        </p:nvSpPr>
        <p:spPr>
          <a:xfrm>
            <a:off x="1005840" y="2651760"/>
            <a:ext cx="10058400" cy="457200"/>
          </a:xfrm>
          <a:prstGeom prst="rect">
            <a:avLst/>
          </a:prstGeom>
          <a:noFill/>
        </p:spPr>
        <p:txBody>
          <a:bodyPr wrap="square" anchor="ctr"/>
          <a:lstStyle/>
          <a:p>
            <a:pPr marL="0" indent="0">
              <a:buNone/>
            </a:pPr>
            <a:r>
              <a:rPr sz="1600">
                <a:solidFill>
                  <a:srgbClr val="DCE7E2"/>
                </a:solidFill>
                <a:latin typeface="맑은 고딕"/>
                <a:ea typeface="맑은 고딕"/>
                <a:cs typeface="맑은 고딕"/>
              </a:rPr>
              <a:t>분리수거 모델 4종 외부 평가와 시제품 개발 현황</a:t>
            </a:r>
            <a:endParaRPr sz="1600"/>
          </a:p>
        </p:txBody>
      </p:sp>
      <p:sp>
        <p:nvSpPr>
          <p:cNvPr id="6" name="Shape 4">
            <a:extLst>
              <a:ext uri="{FF2B5EF4-FFF2-40B4-BE49-F238E27FC236}">
                <a16:creationId xmlns:a16="http://schemas.microsoft.com/office/drawing/2014/main" id="{C5BB04E6-8C8A-4080-BA44-BC251D86C3FA}"/>
              </a:ext>
            </a:extLst>
          </p:cNvPr>
          <p:cNvSpPr>
            <a:spLocks noGrp="1"/>
          </p:cNvSpPr>
          <p:nvPr/>
        </p:nvSpPr>
        <p:spPr>
          <a:xfrm>
            <a:off x="1005840" y="3383280"/>
            <a:ext cx="2926080" cy="32004"/>
          </a:xfrm>
          <a:prstGeom prst="rect">
            <a:avLst/>
          </a:prstGeom>
          <a:solidFill>
            <a:srgbClr val="BFD8CE"/>
          </a:solidFill>
        </p:spPr>
        <p:txBody>
          <a:bodyPr/>
          <a:lstStyle/>
          <a:p>
            <a:endParaRPr lang="ko-KR" altLang="en-US"/>
          </a:p>
        </p:txBody>
      </p:sp>
      <p:sp>
        <p:nvSpPr>
          <p:cNvPr id="7" name="Text 5">
            <a:extLst>
              <a:ext uri="{FF2B5EF4-FFF2-40B4-BE49-F238E27FC236}">
                <a16:creationId xmlns:a16="http://schemas.microsoft.com/office/drawing/2014/main" id="{E78FF812-822C-4C8B-952B-ABB544B822E6}"/>
              </a:ext>
            </a:extLst>
          </p:cNvPr>
          <p:cNvSpPr>
            <a:spLocks noGrp="1"/>
          </p:cNvSpPr>
          <p:nvPr/>
        </p:nvSpPr>
        <p:spPr>
          <a:xfrm>
            <a:off x="1005840" y="3749040"/>
            <a:ext cx="7315200" cy="914400"/>
          </a:xfrm>
          <a:prstGeom prst="rect">
            <a:avLst/>
          </a:prstGeom>
          <a:noFill/>
        </p:spPr>
        <p:txBody>
          <a:bodyPr wrap="square" anchor="t"/>
          <a:lstStyle/>
          <a:p>
            <a:pPr marL="0" indent="0">
              <a:buNone/>
            </a:pPr>
            <a:r>
              <a:rPr sz="1700" b="1">
                <a:solidFill>
                  <a:srgbClr val="FFFFFF"/>
                </a:solidFill>
                <a:latin typeface="맑은 고딕"/>
                <a:ea typeface="맑은 고딕"/>
                <a:cs typeface="맑은 고딕"/>
              </a:rPr>
              <a:t>TEAM  물시느끝</a:t>
            </a:r>
            <a:endParaRPr sz="1700"/>
          </a:p>
          <a:p>
            <a:pPr marL="0" indent="0">
              <a:buNone/>
            </a:pPr>
            <a:r>
              <a:rPr sz="1400">
                <a:solidFill>
                  <a:srgbClr val="DCE7E2"/>
                </a:solidFill>
                <a:latin typeface="맑은 고딕"/>
                <a:ea typeface="맑은 고딕"/>
                <a:cs typeface="맑은 고딕"/>
              </a:rPr>
              <a:t>이남호 · 김아인 · 오승재 · 여동엽</a:t>
            </a:r>
            <a:endParaRPr sz="1700"/>
          </a:p>
        </p:txBody>
      </p:sp>
      <p:sp>
        <p:nvSpPr>
          <p:cNvPr id="8" name="Text 6">
            <a:extLst>
              <a:ext uri="{FF2B5EF4-FFF2-40B4-BE49-F238E27FC236}">
                <a16:creationId xmlns:a16="http://schemas.microsoft.com/office/drawing/2014/main" id="{983632CD-E3E9-47A9-BDD2-FDCBAC495F76}"/>
              </a:ext>
            </a:extLst>
          </p:cNvPr>
          <p:cNvSpPr>
            <a:spLocks noGrp="1"/>
          </p:cNvSpPr>
          <p:nvPr/>
        </p:nvSpPr>
        <p:spPr>
          <a:xfrm>
            <a:off x="1005840" y="5760720"/>
            <a:ext cx="8686800" cy="365760"/>
          </a:xfrm>
          <a:prstGeom prst="rect">
            <a:avLst/>
          </a:prstGeom>
          <a:noFill/>
        </p:spPr>
        <p:txBody>
          <a:bodyPr wrap="square" anchor="ctr"/>
          <a:lstStyle/>
          <a:p>
            <a:pPr marL="0" indent="0">
              <a:buNone/>
            </a:pPr>
            <a:r>
              <a:rPr sz="1200">
                <a:solidFill>
                  <a:srgbClr val="BFD8CE"/>
                </a:solidFill>
                <a:latin typeface="맑은 고딕"/>
                <a:ea typeface="맑은 고딕"/>
                <a:cs typeface="맑은 고딕"/>
              </a:rPr>
              <a:t>발표자 : 이남호      자료 기준 : 2026. 09. 14.      모델 평가 : 2026. 09. 13.</a:t>
            </a:r>
            <a:endParaRPr sz="1200"/>
          </a:p>
        </p:txBody>
      </p:sp>
    </p:spTree>
    <p:extLst>
      <p:ext uri="{BB962C8B-B14F-4D97-AF65-F5344CB8AC3E}">
        <p14:creationId xmlns:p14="http://schemas.microsoft.com/office/powerpoint/2010/main" val="125883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DCE276A-71CC-4D5E-A244-157EFE821F5A}"/>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2</a:t>
            </a:r>
            <a:endParaRPr sz="1000"/>
          </a:p>
        </p:txBody>
      </p:sp>
      <p:sp>
        <p:nvSpPr>
          <p:cNvPr id="3" name="Text 1">
            <a:extLst>
              <a:ext uri="{FF2B5EF4-FFF2-40B4-BE49-F238E27FC236}">
                <a16:creationId xmlns:a16="http://schemas.microsoft.com/office/drawing/2014/main" id="{64F5F60C-1D32-470A-BD04-B23760C83D10}"/>
              </a:ext>
            </a:extLst>
          </p:cNvPr>
          <p:cNvSpPr>
            <a:spLocks noGrp="1"/>
          </p:cNvSpPr>
          <p:nvPr/>
        </p:nvSpPr>
        <p:spPr>
          <a:xfrm>
            <a:off x="822960" y="822960"/>
            <a:ext cx="4572000" cy="640080"/>
          </a:xfrm>
          <a:prstGeom prst="rect">
            <a:avLst/>
          </a:prstGeom>
          <a:noFill/>
        </p:spPr>
        <p:txBody>
          <a:bodyPr wrap="square" anchor="ctr"/>
          <a:lstStyle/>
          <a:p>
            <a:pPr marL="0" indent="0">
              <a:buNone/>
            </a:pPr>
            <a:r>
              <a:rPr sz="3000" b="1">
                <a:solidFill>
                  <a:srgbClr val="143C32"/>
                </a:solidFill>
                <a:latin typeface="맑은 고딕"/>
                <a:ea typeface="맑은 고딕"/>
                <a:cs typeface="맑은 고딕"/>
              </a:rPr>
              <a:t>목  차</a:t>
            </a:r>
            <a:endParaRPr sz="3000"/>
          </a:p>
        </p:txBody>
      </p:sp>
      <p:sp>
        <p:nvSpPr>
          <p:cNvPr id="4" name="Shape 2">
            <a:extLst>
              <a:ext uri="{FF2B5EF4-FFF2-40B4-BE49-F238E27FC236}">
                <a16:creationId xmlns:a16="http://schemas.microsoft.com/office/drawing/2014/main" id="{E82DAE10-8897-42E3-B3DA-6170D7C31B2E}"/>
              </a:ext>
            </a:extLst>
          </p:cNvPr>
          <p:cNvSpPr>
            <a:spLocks noGrp="1"/>
          </p:cNvSpPr>
          <p:nvPr/>
        </p:nvSpPr>
        <p:spPr>
          <a:xfrm>
            <a:off x="868680" y="1536192"/>
            <a:ext cx="1280160" cy="45720"/>
          </a:xfrm>
          <a:prstGeom prst="rect">
            <a:avLst/>
          </a:prstGeom>
          <a:solidFill>
            <a:srgbClr val="1F5C4D"/>
          </a:solidFill>
        </p:spPr>
        <p:txBody>
          <a:bodyPr/>
          <a:lstStyle/>
          <a:p>
            <a:endParaRPr lang="ko-KR" altLang="en-US"/>
          </a:p>
        </p:txBody>
      </p:sp>
      <p:sp>
        <p:nvSpPr>
          <p:cNvPr id="5" name="Shape 3">
            <a:extLst>
              <a:ext uri="{FF2B5EF4-FFF2-40B4-BE49-F238E27FC236}">
                <a16:creationId xmlns:a16="http://schemas.microsoft.com/office/drawing/2014/main" id="{FFFCF4E5-20A4-4F92-8BC0-556565F4326D}"/>
              </a:ext>
            </a:extLst>
          </p:cNvPr>
          <p:cNvSpPr>
            <a:spLocks noGrp="1"/>
          </p:cNvSpPr>
          <p:nvPr/>
        </p:nvSpPr>
        <p:spPr>
          <a:xfrm>
            <a:off x="868680" y="1965960"/>
            <a:ext cx="658368" cy="621792"/>
          </a:xfrm>
          <a:prstGeom prst="rect">
            <a:avLst/>
          </a:prstGeom>
          <a:solidFill>
            <a:srgbClr val="DCE7E2"/>
          </a:solidFill>
        </p:spPr>
        <p:txBody>
          <a:bodyPr/>
          <a:lstStyle/>
          <a:p>
            <a:endParaRPr lang="ko-KR" altLang="en-US"/>
          </a:p>
        </p:txBody>
      </p:sp>
      <p:sp>
        <p:nvSpPr>
          <p:cNvPr id="6" name="Text 4">
            <a:extLst>
              <a:ext uri="{FF2B5EF4-FFF2-40B4-BE49-F238E27FC236}">
                <a16:creationId xmlns:a16="http://schemas.microsoft.com/office/drawing/2014/main" id="{CE72DACE-8F45-4116-BD09-D596E09F340B}"/>
              </a:ext>
            </a:extLst>
          </p:cNvPr>
          <p:cNvSpPr>
            <a:spLocks noGrp="1"/>
          </p:cNvSpPr>
          <p:nvPr/>
        </p:nvSpPr>
        <p:spPr>
          <a:xfrm>
            <a:off x="868680" y="1965960"/>
            <a:ext cx="658368" cy="621792"/>
          </a:xfrm>
          <a:prstGeom prst="rect">
            <a:avLst/>
          </a:prstGeom>
          <a:noFill/>
        </p:spPr>
        <p:txBody>
          <a:bodyPr wrap="square" anchor="ctr"/>
          <a:lstStyle/>
          <a:p>
            <a:pPr marL="0" indent="0" algn="ctr">
              <a:buNone/>
            </a:pPr>
            <a:r>
              <a:rPr sz="1900" b="1">
                <a:solidFill>
                  <a:srgbClr val="1F5C4D"/>
                </a:solidFill>
                <a:latin typeface="맑은 고딕"/>
                <a:ea typeface="맑은 고딕"/>
                <a:cs typeface="맑은 고딕"/>
              </a:rPr>
              <a:t>01</a:t>
            </a:r>
            <a:endParaRPr sz="1900"/>
          </a:p>
        </p:txBody>
      </p:sp>
      <p:sp>
        <p:nvSpPr>
          <p:cNvPr id="7" name="Text 5">
            <a:extLst>
              <a:ext uri="{FF2B5EF4-FFF2-40B4-BE49-F238E27FC236}">
                <a16:creationId xmlns:a16="http://schemas.microsoft.com/office/drawing/2014/main" id="{390E7E97-8C65-4DB6-AD46-AAE4046A6F67}"/>
              </a:ext>
            </a:extLst>
          </p:cNvPr>
          <p:cNvSpPr>
            <a:spLocks noGrp="1"/>
          </p:cNvSpPr>
          <p:nvPr/>
        </p:nvSpPr>
        <p:spPr>
          <a:xfrm>
            <a:off x="1737360" y="1984248"/>
            <a:ext cx="4937760" cy="347472"/>
          </a:xfrm>
          <a:prstGeom prst="rect">
            <a:avLst/>
          </a:prstGeom>
          <a:noFill/>
        </p:spPr>
        <p:txBody>
          <a:bodyPr wrap="square" anchor="ctr"/>
          <a:lstStyle/>
          <a:p>
            <a:pPr marL="0" indent="0">
              <a:buNone/>
            </a:pPr>
            <a:r>
              <a:rPr sz="1600" b="1">
                <a:solidFill>
                  <a:srgbClr val="143C32"/>
                </a:solidFill>
                <a:latin typeface="맑은 고딕"/>
                <a:ea typeface="맑은 고딕"/>
                <a:cs typeface="맑은 고딕"/>
              </a:rPr>
              <a:t>프로젝트 개요</a:t>
            </a:r>
            <a:endParaRPr sz="1600"/>
          </a:p>
        </p:txBody>
      </p:sp>
      <p:sp>
        <p:nvSpPr>
          <p:cNvPr id="8" name="Text 6">
            <a:extLst>
              <a:ext uri="{FF2B5EF4-FFF2-40B4-BE49-F238E27FC236}">
                <a16:creationId xmlns:a16="http://schemas.microsoft.com/office/drawing/2014/main" id="{ADED89A1-B222-4D4E-AD99-EA20CA4CDE9B}"/>
              </a:ext>
            </a:extLst>
          </p:cNvPr>
          <p:cNvSpPr>
            <a:spLocks noGrp="1"/>
          </p:cNvSpPr>
          <p:nvPr/>
        </p:nvSpPr>
        <p:spPr>
          <a:xfrm>
            <a:off x="1737360" y="2295144"/>
            <a:ext cx="8229600" cy="274320"/>
          </a:xfrm>
          <a:prstGeom prst="rect">
            <a:avLst/>
          </a:prstGeom>
          <a:noFill/>
        </p:spPr>
        <p:txBody>
          <a:bodyPr wrap="square" anchor="ctr"/>
          <a:lstStyle/>
          <a:p>
            <a:pPr marL="0" indent="0">
              <a:buNone/>
            </a:pPr>
            <a:r>
              <a:rPr sz="1150">
                <a:solidFill>
                  <a:srgbClr val="5A6B64"/>
                </a:solidFill>
                <a:latin typeface="맑은 고딕"/>
                <a:ea typeface="맑은 고딕"/>
                <a:cs typeface="맑은 고딕"/>
              </a:rPr>
              <a:t>분리배출 안내의 목적과 사진 입력 방식</a:t>
            </a:r>
            <a:endParaRPr sz="1150"/>
          </a:p>
        </p:txBody>
      </p:sp>
      <p:sp>
        <p:nvSpPr>
          <p:cNvPr id="9" name="Shape 7">
            <a:extLst>
              <a:ext uri="{FF2B5EF4-FFF2-40B4-BE49-F238E27FC236}">
                <a16:creationId xmlns:a16="http://schemas.microsoft.com/office/drawing/2014/main" id="{F4D61FF2-B849-46A6-8BB3-F091934D6D6B}"/>
              </a:ext>
            </a:extLst>
          </p:cNvPr>
          <p:cNvSpPr>
            <a:spLocks noGrp="1"/>
          </p:cNvSpPr>
          <p:nvPr/>
        </p:nvSpPr>
        <p:spPr>
          <a:xfrm>
            <a:off x="868680" y="2807208"/>
            <a:ext cx="658368" cy="621792"/>
          </a:xfrm>
          <a:prstGeom prst="rect">
            <a:avLst/>
          </a:prstGeom>
          <a:solidFill>
            <a:srgbClr val="DCE7E2"/>
          </a:solidFill>
        </p:spPr>
        <p:txBody>
          <a:bodyPr/>
          <a:lstStyle/>
          <a:p>
            <a:endParaRPr lang="ko-KR" altLang="en-US"/>
          </a:p>
        </p:txBody>
      </p:sp>
      <p:sp>
        <p:nvSpPr>
          <p:cNvPr id="10" name="Text 8">
            <a:extLst>
              <a:ext uri="{FF2B5EF4-FFF2-40B4-BE49-F238E27FC236}">
                <a16:creationId xmlns:a16="http://schemas.microsoft.com/office/drawing/2014/main" id="{EE4AEEBE-EC19-4389-BA76-D4033AA2E057}"/>
              </a:ext>
            </a:extLst>
          </p:cNvPr>
          <p:cNvSpPr>
            <a:spLocks noGrp="1"/>
          </p:cNvSpPr>
          <p:nvPr/>
        </p:nvSpPr>
        <p:spPr>
          <a:xfrm>
            <a:off x="868680" y="2807208"/>
            <a:ext cx="658368" cy="621792"/>
          </a:xfrm>
          <a:prstGeom prst="rect">
            <a:avLst/>
          </a:prstGeom>
          <a:noFill/>
        </p:spPr>
        <p:txBody>
          <a:bodyPr wrap="square" anchor="ctr"/>
          <a:lstStyle/>
          <a:p>
            <a:pPr marL="0" indent="0" algn="ctr">
              <a:buNone/>
            </a:pPr>
            <a:r>
              <a:rPr sz="1900" b="1">
                <a:solidFill>
                  <a:srgbClr val="1F5C4D"/>
                </a:solidFill>
                <a:latin typeface="맑은 고딕"/>
                <a:ea typeface="맑은 고딕"/>
                <a:cs typeface="맑은 고딕"/>
              </a:rPr>
              <a:t>02</a:t>
            </a:r>
            <a:endParaRPr sz="1900"/>
          </a:p>
        </p:txBody>
      </p:sp>
      <p:sp>
        <p:nvSpPr>
          <p:cNvPr id="11" name="Text 9">
            <a:extLst>
              <a:ext uri="{FF2B5EF4-FFF2-40B4-BE49-F238E27FC236}">
                <a16:creationId xmlns:a16="http://schemas.microsoft.com/office/drawing/2014/main" id="{037CFC93-F150-4391-96EF-E7219AC5528E}"/>
              </a:ext>
            </a:extLst>
          </p:cNvPr>
          <p:cNvSpPr>
            <a:spLocks noGrp="1"/>
          </p:cNvSpPr>
          <p:nvPr/>
        </p:nvSpPr>
        <p:spPr>
          <a:xfrm>
            <a:off x="1737360" y="2825496"/>
            <a:ext cx="4937760" cy="347472"/>
          </a:xfrm>
          <a:prstGeom prst="rect">
            <a:avLst/>
          </a:prstGeom>
          <a:noFill/>
        </p:spPr>
        <p:txBody>
          <a:bodyPr wrap="square" anchor="ctr"/>
          <a:lstStyle/>
          <a:p>
            <a:pPr marL="0" indent="0">
              <a:buNone/>
            </a:pPr>
            <a:r>
              <a:rPr sz="1600" b="1">
                <a:solidFill>
                  <a:srgbClr val="143C32"/>
                </a:solidFill>
                <a:latin typeface="맑은 고딕"/>
                <a:ea typeface="맑은 고딕"/>
                <a:cs typeface="맑은 고딕"/>
              </a:rPr>
              <a:t>팀 구성 및 역할</a:t>
            </a:r>
            <a:endParaRPr sz="1600"/>
          </a:p>
        </p:txBody>
      </p:sp>
      <p:sp>
        <p:nvSpPr>
          <p:cNvPr id="12" name="Text 10">
            <a:extLst>
              <a:ext uri="{FF2B5EF4-FFF2-40B4-BE49-F238E27FC236}">
                <a16:creationId xmlns:a16="http://schemas.microsoft.com/office/drawing/2014/main" id="{6667CC12-8A9A-4875-BF0E-F3E418894029}"/>
              </a:ext>
            </a:extLst>
          </p:cNvPr>
          <p:cNvSpPr>
            <a:spLocks noGrp="1"/>
          </p:cNvSpPr>
          <p:nvPr/>
        </p:nvSpPr>
        <p:spPr>
          <a:xfrm>
            <a:off x="1737360" y="3136392"/>
            <a:ext cx="8229600" cy="274320"/>
          </a:xfrm>
          <a:prstGeom prst="rect">
            <a:avLst/>
          </a:prstGeom>
          <a:noFill/>
        </p:spPr>
        <p:txBody>
          <a:bodyPr wrap="square" anchor="ctr"/>
          <a:lstStyle/>
          <a:p>
            <a:pPr marL="0" indent="0">
              <a:buNone/>
            </a:pPr>
            <a:r>
              <a:rPr sz="1150">
                <a:solidFill>
                  <a:srgbClr val="5A6B64"/>
                </a:solidFill>
                <a:latin typeface="맑은 고딕"/>
                <a:ea typeface="맑은 고딕"/>
                <a:cs typeface="맑은 고딕"/>
              </a:rPr>
              <a:t>팀원별 담당 업무와 협업</a:t>
            </a:r>
            <a:endParaRPr sz="1150"/>
          </a:p>
        </p:txBody>
      </p:sp>
      <p:sp>
        <p:nvSpPr>
          <p:cNvPr id="13" name="Shape 11">
            <a:extLst>
              <a:ext uri="{FF2B5EF4-FFF2-40B4-BE49-F238E27FC236}">
                <a16:creationId xmlns:a16="http://schemas.microsoft.com/office/drawing/2014/main" id="{73917404-5E22-49FF-8718-C1A94AE327A2}"/>
              </a:ext>
            </a:extLst>
          </p:cNvPr>
          <p:cNvSpPr>
            <a:spLocks noGrp="1"/>
          </p:cNvSpPr>
          <p:nvPr/>
        </p:nvSpPr>
        <p:spPr>
          <a:xfrm>
            <a:off x="868680" y="3648456"/>
            <a:ext cx="658368" cy="621792"/>
          </a:xfrm>
          <a:prstGeom prst="rect">
            <a:avLst/>
          </a:prstGeom>
          <a:solidFill>
            <a:srgbClr val="DCE7E2"/>
          </a:solidFill>
        </p:spPr>
        <p:txBody>
          <a:bodyPr/>
          <a:lstStyle/>
          <a:p>
            <a:endParaRPr lang="ko-KR" altLang="en-US"/>
          </a:p>
        </p:txBody>
      </p:sp>
      <p:sp>
        <p:nvSpPr>
          <p:cNvPr id="14" name="Text 12">
            <a:extLst>
              <a:ext uri="{FF2B5EF4-FFF2-40B4-BE49-F238E27FC236}">
                <a16:creationId xmlns:a16="http://schemas.microsoft.com/office/drawing/2014/main" id="{6E0B5F87-A65F-473B-A43F-7528E3E0861A}"/>
              </a:ext>
            </a:extLst>
          </p:cNvPr>
          <p:cNvSpPr>
            <a:spLocks noGrp="1"/>
          </p:cNvSpPr>
          <p:nvPr/>
        </p:nvSpPr>
        <p:spPr>
          <a:xfrm>
            <a:off x="868680" y="3648456"/>
            <a:ext cx="658368" cy="621792"/>
          </a:xfrm>
          <a:prstGeom prst="rect">
            <a:avLst/>
          </a:prstGeom>
          <a:noFill/>
        </p:spPr>
        <p:txBody>
          <a:bodyPr wrap="square" anchor="ctr"/>
          <a:lstStyle/>
          <a:p>
            <a:pPr marL="0" indent="0" algn="ctr">
              <a:buNone/>
            </a:pPr>
            <a:r>
              <a:rPr sz="1900" b="1">
                <a:solidFill>
                  <a:srgbClr val="1F5C4D"/>
                </a:solidFill>
                <a:latin typeface="맑은 고딕"/>
                <a:ea typeface="맑은 고딕"/>
                <a:cs typeface="맑은 고딕"/>
              </a:rPr>
              <a:t>03</a:t>
            </a:r>
            <a:endParaRPr sz="1900"/>
          </a:p>
        </p:txBody>
      </p:sp>
      <p:sp>
        <p:nvSpPr>
          <p:cNvPr id="15" name="Text 13">
            <a:extLst>
              <a:ext uri="{FF2B5EF4-FFF2-40B4-BE49-F238E27FC236}">
                <a16:creationId xmlns:a16="http://schemas.microsoft.com/office/drawing/2014/main" id="{7D4E6634-B859-4B70-A37C-62F176C9F1A7}"/>
              </a:ext>
            </a:extLst>
          </p:cNvPr>
          <p:cNvSpPr>
            <a:spLocks noGrp="1"/>
          </p:cNvSpPr>
          <p:nvPr/>
        </p:nvSpPr>
        <p:spPr>
          <a:xfrm>
            <a:off x="1737360" y="3666744"/>
            <a:ext cx="4937760" cy="347472"/>
          </a:xfrm>
          <a:prstGeom prst="rect">
            <a:avLst/>
          </a:prstGeom>
          <a:noFill/>
        </p:spPr>
        <p:txBody>
          <a:bodyPr wrap="square" anchor="ctr"/>
          <a:lstStyle/>
          <a:p>
            <a:pPr marL="0" indent="0">
              <a:buNone/>
            </a:pPr>
            <a:r>
              <a:rPr sz="1600" b="1">
                <a:solidFill>
                  <a:srgbClr val="143C32"/>
                </a:solidFill>
                <a:latin typeface="맑은 고딕"/>
                <a:ea typeface="맑은 고딕"/>
                <a:cs typeface="맑은 고딕"/>
              </a:rPr>
              <a:t>수행 경과 및 평가 방법</a:t>
            </a:r>
            <a:endParaRPr sz="1600"/>
          </a:p>
        </p:txBody>
      </p:sp>
      <p:sp>
        <p:nvSpPr>
          <p:cNvPr id="16" name="Text 14">
            <a:extLst>
              <a:ext uri="{FF2B5EF4-FFF2-40B4-BE49-F238E27FC236}">
                <a16:creationId xmlns:a16="http://schemas.microsoft.com/office/drawing/2014/main" id="{BC930457-A086-482E-A8DE-BAE2C500871C}"/>
              </a:ext>
            </a:extLst>
          </p:cNvPr>
          <p:cNvSpPr>
            <a:spLocks noGrp="1"/>
          </p:cNvSpPr>
          <p:nvPr/>
        </p:nvSpPr>
        <p:spPr>
          <a:xfrm>
            <a:off x="1737360" y="3977640"/>
            <a:ext cx="8229600" cy="274320"/>
          </a:xfrm>
          <a:prstGeom prst="rect">
            <a:avLst/>
          </a:prstGeom>
          <a:noFill/>
        </p:spPr>
        <p:txBody>
          <a:bodyPr wrap="square" anchor="ctr"/>
          <a:lstStyle/>
          <a:p>
            <a:pPr marL="0" indent="0">
              <a:buNone/>
            </a:pPr>
            <a:r>
              <a:rPr sz="1150">
                <a:solidFill>
                  <a:srgbClr val="5A6B64"/>
                </a:solidFill>
                <a:latin typeface="맑은 고딕"/>
                <a:ea typeface="맑은 고딕"/>
                <a:cs typeface="맑은 고딕"/>
              </a:rPr>
              <a:t>9월 13일까지의 진행 상황과 외부 평가 조건</a:t>
            </a:r>
            <a:endParaRPr sz="1150"/>
          </a:p>
        </p:txBody>
      </p:sp>
      <p:sp>
        <p:nvSpPr>
          <p:cNvPr id="17" name="Shape 15">
            <a:extLst>
              <a:ext uri="{FF2B5EF4-FFF2-40B4-BE49-F238E27FC236}">
                <a16:creationId xmlns:a16="http://schemas.microsoft.com/office/drawing/2014/main" id="{EF3E9111-1A2E-43DF-9D61-737CA572DCD0}"/>
              </a:ext>
            </a:extLst>
          </p:cNvPr>
          <p:cNvSpPr>
            <a:spLocks noGrp="1"/>
          </p:cNvSpPr>
          <p:nvPr/>
        </p:nvSpPr>
        <p:spPr>
          <a:xfrm>
            <a:off x="868680" y="4489704"/>
            <a:ext cx="658368" cy="621792"/>
          </a:xfrm>
          <a:prstGeom prst="rect">
            <a:avLst/>
          </a:prstGeom>
          <a:solidFill>
            <a:srgbClr val="DCE7E2"/>
          </a:solidFill>
        </p:spPr>
        <p:txBody>
          <a:bodyPr/>
          <a:lstStyle/>
          <a:p>
            <a:endParaRPr lang="ko-KR" altLang="en-US"/>
          </a:p>
        </p:txBody>
      </p:sp>
      <p:sp>
        <p:nvSpPr>
          <p:cNvPr id="18" name="Text 16">
            <a:extLst>
              <a:ext uri="{FF2B5EF4-FFF2-40B4-BE49-F238E27FC236}">
                <a16:creationId xmlns:a16="http://schemas.microsoft.com/office/drawing/2014/main" id="{42CB4ABC-653F-4C11-AA22-7E96DAFDC174}"/>
              </a:ext>
            </a:extLst>
          </p:cNvPr>
          <p:cNvSpPr>
            <a:spLocks noGrp="1"/>
          </p:cNvSpPr>
          <p:nvPr/>
        </p:nvSpPr>
        <p:spPr>
          <a:xfrm>
            <a:off x="868680" y="4489704"/>
            <a:ext cx="658368" cy="621792"/>
          </a:xfrm>
          <a:prstGeom prst="rect">
            <a:avLst/>
          </a:prstGeom>
          <a:noFill/>
        </p:spPr>
        <p:txBody>
          <a:bodyPr wrap="square" anchor="ctr"/>
          <a:lstStyle/>
          <a:p>
            <a:pPr marL="0" indent="0" algn="ctr">
              <a:buNone/>
            </a:pPr>
            <a:r>
              <a:rPr sz="1900" b="1">
                <a:solidFill>
                  <a:srgbClr val="1F5C4D"/>
                </a:solidFill>
                <a:latin typeface="맑은 고딕"/>
                <a:ea typeface="맑은 고딕"/>
                <a:cs typeface="맑은 고딕"/>
              </a:rPr>
              <a:t>04</a:t>
            </a:r>
            <a:endParaRPr sz="1900"/>
          </a:p>
        </p:txBody>
      </p:sp>
      <p:sp>
        <p:nvSpPr>
          <p:cNvPr id="19" name="Text 17">
            <a:extLst>
              <a:ext uri="{FF2B5EF4-FFF2-40B4-BE49-F238E27FC236}">
                <a16:creationId xmlns:a16="http://schemas.microsoft.com/office/drawing/2014/main" id="{DC1FABCE-A943-480B-8821-749B1A6610CA}"/>
              </a:ext>
            </a:extLst>
          </p:cNvPr>
          <p:cNvSpPr>
            <a:spLocks noGrp="1"/>
          </p:cNvSpPr>
          <p:nvPr/>
        </p:nvSpPr>
        <p:spPr>
          <a:xfrm>
            <a:off x="1737360" y="4507992"/>
            <a:ext cx="4937760" cy="347472"/>
          </a:xfrm>
          <a:prstGeom prst="rect">
            <a:avLst/>
          </a:prstGeom>
          <a:noFill/>
        </p:spPr>
        <p:txBody>
          <a:bodyPr wrap="square" anchor="ctr"/>
          <a:lstStyle/>
          <a:p>
            <a:pPr marL="0" indent="0">
              <a:buNone/>
            </a:pPr>
            <a:r>
              <a:rPr sz="1600" b="1">
                <a:solidFill>
                  <a:srgbClr val="143C32"/>
                </a:solidFill>
                <a:latin typeface="맑은 고딕"/>
                <a:ea typeface="맑은 고딕"/>
                <a:cs typeface="맑은 고딕"/>
              </a:rPr>
              <a:t>모델 4종 비교 결과</a:t>
            </a:r>
            <a:endParaRPr sz="1600"/>
          </a:p>
        </p:txBody>
      </p:sp>
      <p:sp>
        <p:nvSpPr>
          <p:cNvPr id="20" name="Text 18">
            <a:extLst>
              <a:ext uri="{FF2B5EF4-FFF2-40B4-BE49-F238E27FC236}">
                <a16:creationId xmlns:a16="http://schemas.microsoft.com/office/drawing/2014/main" id="{71B4325A-DC7F-46D7-946F-79A1D1786388}"/>
              </a:ext>
            </a:extLst>
          </p:cNvPr>
          <p:cNvSpPr>
            <a:spLocks noGrp="1"/>
          </p:cNvSpPr>
          <p:nvPr/>
        </p:nvSpPr>
        <p:spPr>
          <a:xfrm>
            <a:off x="1737360" y="4818888"/>
            <a:ext cx="8229600" cy="274320"/>
          </a:xfrm>
          <a:prstGeom prst="rect">
            <a:avLst/>
          </a:prstGeom>
          <a:noFill/>
        </p:spPr>
        <p:txBody>
          <a:bodyPr wrap="square" anchor="ctr"/>
          <a:lstStyle/>
          <a:p>
            <a:pPr marL="0" indent="0">
              <a:buNone/>
            </a:pPr>
            <a:r>
              <a:rPr sz="1150">
                <a:solidFill>
                  <a:srgbClr val="5A6B64"/>
                </a:solidFill>
                <a:latin typeface="맑은 고딕"/>
                <a:ea typeface="맑은 고딕"/>
                <a:cs typeface="맑은 고딕"/>
              </a:rPr>
              <a:t>탐지 성능, 처리 시간, 배경 오탐과 환경 변화</a:t>
            </a:r>
            <a:endParaRPr sz="1150"/>
          </a:p>
        </p:txBody>
      </p:sp>
      <p:sp>
        <p:nvSpPr>
          <p:cNvPr id="21" name="Shape 19">
            <a:extLst>
              <a:ext uri="{FF2B5EF4-FFF2-40B4-BE49-F238E27FC236}">
                <a16:creationId xmlns:a16="http://schemas.microsoft.com/office/drawing/2014/main" id="{9DE21722-0AFF-4010-AA2C-5F24D264EA3C}"/>
              </a:ext>
            </a:extLst>
          </p:cNvPr>
          <p:cNvSpPr>
            <a:spLocks noGrp="1"/>
          </p:cNvSpPr>
          <p:nvPr/>
        </p:nvSpPr>
        <p:spPr>
          <a:xfrm>
            <a:off x="868680" y="5330952"/>
            <a:ext cx="658368" cy="621792"/>
          </a:xfrm>
          <a:prstGeom prst="rect">
            <a:avLst/>
          </a:prstGeom>
          <a:solidFill>
            <a:srgbClr val="DCE7E2"/>
          </a:solidFill>
        </p:spPr>
        <p:txBody>
          <a:bodyPr/>
          <a:lstStyle/>
          <a:p>
            <a:endParaRPr lang="ko-KR" altLang="en-US"/>
          </a:p>
        </p:txBody>
      </p:sp>
      <p:sp>
        <p:nvSpPr>
          <p:cNvPr id="22" name="Text 20">
            <a:extLst>
              <a:ext uri="{FF2B5EF4-FFF2-40B4-BE49-F238E27FC236}">
                <a16:creationId xmlns:a16="http://schemas.microsoft.com/office/drawing/2014/main" id="{37D73F3B-18A3-4112-8FD4-CB9F2F98706D}"/>
              </a:ext>
            </a:extLst>
          </p:cNvPr>
          <p:cNvSpPr>
            <a:spLocks noGrp="1"/>
          </p:cNvSpPr>
          <p:nvPr/>
        </p:nvSpPr>
        <p:spPr>
          <a:xfrm>
            <a:off x="868680" y="5330952"/>
            <a:ext cx="658368" cy="621792"/>
          </a:xfrm>
          <a:prstGeom prst="rect">
            <a:avLst/>
          </a:prstGeom>
          <a:noFill/>
        </p:spPr>
        <p:txBody>
          <a:bodyPr wrap="square" anchor="ctr"/>
          <a:lstStyle/>
          <a:p>
            <a:pPr marL="0" indent="0" algn="ctr">
              <a:buNone/>
            </a:pPr>
            <a:r>
              <a:rPr sz="1900" b="1">
                <a:solidFill>
                  <a:srgbClr val="1F5C4D"/>
                </a:solidFill>
                <a:latin typeface="맑은 고딕"/>
                <a:ea typeface="맑은 고딕"/>
                <a:cs typeface="맑은 고딕"/>
              </a:rPr>
              <a:t>05</a:t>
            </a:r>
            <a:endParaRPr sz="1900"/>
          </a:p>
        </p:txBody>
      </p:sp>
      <p:sp>
        <p:nvSpPr>
          <p:cNvPr id="23" name="Text 21">
            <a:extLst>
              <a:ext uri="{FF2B5EF4-FFF2-40B4-BE49-F238E27FC236}">
                <a16:creationId xmlns:a16="http://schemas.microsoft.com/office/drawing/2014/main" id="{EC5B9F62-5D6C-4DB4-BE73-1DA179CBC5E3}"/>
              </a:ext>
            </a:extLst>
          </p:cNvPr>
          <p:cNvSpPr>
            <a:spLocks noGrp="1"/>
          </p:cNvSpPr>
          <p:nvPr/>
        </p:nvSpPr>
        <p:spPr>
          <a:xfrm>
            <a:off x="1737360" y="5349240"/>
            <a:ext cx="4937760" cy="347472"/>
          </a:xfrm>
          <a:prstGeom prst="rect">
            <a:avLst/>
          </a:prstGeom>
          <a:noFill/>
        </p:spPr>
        <p:txBody>
          <a:bodyPr wrap="square" anchor="ctr"/>
          <a:lstStyle/>
          <a:p>
            <a:pPr marL="0" indent="0">
              <a:buNone/>
            </a:pPr>
            <a:r>
              <a:rPr sz="1600" b="1">
                <a:solidFill>
                  <a:srgbClr val="143C32"/>
                </a:solidFill>
                <a:latin typeface="맑은 고딕"/>
                <a:ea typeface="맑은 고딕"/>
                <a:cs typeface="맑은 고딕"/>
              </a:rPr>
              <a:t>한계와 후속 계획</a:t>
            </a:r>
            <a:endParaRPr sz="1600"/>
          </a:p>
        </p:txBody>
      </p:sp>
      <p:sp>
        <p:nvSpPr>
          <p:cNvPr id="24" name="Text 22">
            <a:extLst>
              <a:ext uri="{FF2B5EF4-FFF2-40B4-BE49-F238E27FC236}">
                <a16:creationId xmlns:a16="http://schemas.microsoft.com/office/drawing/2014/main" id="{600CD6A3-FA29-4BEC-9E53-46540728280C}"/>
              </a:ext>
            </a:extLst>
          </p:cNvPr>
          <p:cNvSpPr>
            <a:spLocks noGrp="1"/>
          </p:cNvSpPr>
          <p:nvPr/>
        </p:nvSpPr>
        <p:spPr>
          <a:xfrm>
            <a:off x="1737360" y="5660136"/>
            <a:ext cx="8229600" cy="274320"/>
          </a:xfrm>
          <a:prstGeom prst="rect">
            <a:avLst/>
          </a:prstGeom>
          <a:noFill/>
        </p:spPr>
        <p:txBody>
          <a:bodyPr wrap="square" anchor="ctr"/>
          <a:lstStyle/>
          <a:p>
            <a:pPr marL="0" indent="0">
              <a:buNone/>
            </a:pPr>
            <a:r>
              <a:rPr sz="1150">
                <a:solidFill>
                  <a:srgbClr val="5A6B64"/>
                </a:solidFill>
                <a:latin typeface="맑은 고딕"/>
                <a:ea typeface="맑은 고딕"/>
                <a:cs typeface="맑은 고딕"/>
              </a:rPr>
              <a:t>실제 탐지 사례와 최종 발표 전 보완 항목</a:t>
            </a:r>
            <a:endParaRPr sz="1150"/>
          </a:p>
        </p:txBody>
      </p:sp>
    </p:spTree>
    <p:extLst>
      <p:ext uri="{BB962C8B-B14F-4D97-AF65-F5344CB8AC3E}">
        <p14:creationId xmlns:p14="http://schemas.microsoft.com/office/powerpoint/2010/main" val="1077564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917D493-81F0-43B1-8CB3-1D67E2A901FC}"/>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80D4D95D-EAE3-4945-864D-7A20DD461E71}"/>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01</a:t>
            </a:r>
            <a:endParaRPr sz="2600"/>
          </a:p>
        </p:txBody>
      </p:sp>
      <p:sp>
        <p:nvSpPr>
          <p:cNvPr id="4" name="Text 2">
            <a:extLst>
              <a:ext uri="{FF2B5EF4-FFF2-40B4-BE49-F238E27FC236}">
                <a16:creationId xmlns:a16="http://schemas.microsoft.com/office/drawing/2014/main" id="{6DC0493D-CB10-4BD3-9EFE-7E8AD6E21428}"/>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프로젝트 개요</a:t>
            </a:r>
            <a:endParaRPr sz="1500"/>
          </a:p>
        </p:txBody>
      </p:sp>
      <p:sp>
        <p:nvSpPr>
          <p:cNvPr id="5" name="Text 3">
            <a:extLst>
              <a:ext uri="{FF2B5EF4-FFF2-40B4-BE49-F238E27FC236}">
                <a16:creationId xmlns:a16="http://schemas.microsoft.com/office/drawing/2014/main" id="{E1E990D6-B2B2-416E-AC81-298331B42557}"/>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개발 목적과 입력 방식</a:t>
            </a:r>
            <a:endParaRPr sz="1900"/>
          </a:p>
        </p:txBody>
      </p:sp>
      <p:sp>
        <p:nvSpPr>
          <p:cNvPr id="6" name="Text 4">
            <a:extLst>
              <a:ext uri="{FF2B5EF4-FFF2-40B4-BE49-F238E27FC236}">
                <a16:creationId xmlns:a16="http://schemas.microsoft.com/office/drawing/2014/main" id="{115C04FB-60E8-4479-B28F-67D15F5619EC}"/>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3</a:t>
            </a:r>
            <a:endParaRPr sz="1000"/>
          </a:p>
        </p:txBody>
      </p:sp>
      <p:sp>
        <p:nvSpPr>
          <p:cNvPr id="7" name="Text 5">
            <a:extLst>
              <a:ext uri="{FF2B5EF4-FFF2-40B4-BE49-F238E27FC236}">
                <a16:creationId xmlns:a16="http://schemas.microsoft.com/office/drawing/2014/main" id="{E409362F-7287-45C1-8067-41629E4C370E}"/>
              </a:ext>
            </a:extLst>
          </p:cNvPr>
          <p:cNvSpPr>
            <a:spLocks noGrp="1"/>
          </p:cNvSpPr>
          <p:nvPr/>
        </p:nvSpPr>
        <p:spPr>
          <a:xfrm>
            <a:off x="548640" y="10515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분리배출 안내의 필요성</a:t>
            </a:r>
            <a:endParaRPr sz="1500"/>
          </a:p>
        </p:txBody>
      </p:sp>
      <p:sp>
        <p:nvSpPr>
          <p:cNvPr id="8" name="Shape 6">
            <a:extLst>
              <a:ext uri="{FF2B5EF4-FFF2-40B4-BE49-F238E27FC236}">
                <a16:creationId xmlns:a16="http://schemas.microsoft.com/office/drawing/2014/main" id="{A810E1FD-61E4-4D09-AC05-61944CAECAB7}"/>
              </a:ext>
            </a:extLst>
          </p:cNvPr>
          <p:cNvSpPr>
            <a:spLocks noGrp="1"/>
          </p:cNvSpPr>
          <p:nvPr/>
        </p:nvSpPr>
        <p:spPr>
          <a:xfrm>
            <a:off x="548640" y="1435608"/>
            <a:ext cx="1005840" cy="41148"/>
          </a:xfrm>
          <a:prstGeom prst="rect">
            <a:avLst/>
          </a:prstGeom>
          <a:solidFill>
            <a:srgbClr val="1F5C4D"/>
          </a:solidFill>
        </p:spPr>
        <p:txBody>
          <a:bodyPr/>
          <a:lstStyle/>
          <a:p>
            <a:endParaRPr lang="ko-KR" altLang="en-US"/>
          </a:p>
        </p:txBody>
      </p:sp>
      <p:sp>
        <p:nvSpPr>
          <p:cNvPr id="9" name="Text 7">
            <a:extLst>
              <a:ext uri="{FF2B5EF4-FFF2-40B4-BE49-F238E27FC236}">
                <a16:creationId xmlns:a16="http://schemas.microsoft.com/office/drawing/2014/main" id="{69BD56EC-92CE-4CE6-980A-A4A120219797}"/>
              </a:ext>
            </a:extLst>
          </p:cNvPr>
          <p:cNvSpPr>
            <a:spLocks noGrp="1"/>
          </p:cNvSpPr>
          <p:nvPr/>
        </p:nvSpPr>
        <p:spPr>
          <a:xfrm>
            <a:off x="685800" y="1600200"/>
            <a:ext cx="10817352" cy="1188720"/>
          </a:xfrm>
          <a:prstGeom prst="rect">
            <a:avLst/>
          </a:prstGeom>
          <a:noFill/>
        </p:spPr>
        <p:txBody>
          <a:bodyPr anchor="t">
            <a:noAutofit/>
          </a:bodyPr>
          <a:lstStyle/>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쓰레기 품목을 인식하고 해당 품목의 분리배출 안내를 제공하는 시제품을 개발한다.</a:t>
            </a:r>
            <a:endParaRPr sz="1300"/>
          </a:p>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한 장에 여러 품목이 있어도 경계상자로 각각의 위치와 종류를 표시한다.</a:t>
            </a:r>
            <a:endParaRPr sz="1300"/>
          </a:p>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9월 11일 회의에서 사진 입력 방식으로 전환하는 개발 방향을 정했다.</a:t>
            </a:r>
            <a:endParaRPr sz="1300"/>
          </a:p>
        </p:txBody>
      </p:sp>
      <p:sp>
        <p:nvSpPr>
          <p:cNvPr id="10" name="Text 8">
            <a:extLst>
              <a:ext uri="{FF2B5EF4-FFF2-40B4-BE49-F238E27FC236}">
                <a16:creationId xmlns:a16="http://schemas.microsoft.com/office/drawing/2014/main" id="{41C15AA7-3F57-4A32-AA5B-6A4E6D020EFA}"/>
              </a:ext>
            </a:extLst>
          </p:cNvPr>
          <p:cNvSpPr>
            <a:spLocks noGrp="1"/>
          </p:cNvSpPr>
          <p:nvPr/>
        </p:nvSpPr>
        <p:spPr>
          <a:xfrm>
            <a:off x="548640" y="278892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초기 계획과 현재 개발 방향</a:t>
            </a:r>
            <a:endParaRPr sz="1500"/>
          </a:p>
        </p:txBody>
      </p:sp>
      <p:sp>
        <p:nvSpPr>
          <p:cNvPr id="11" name="Shape 9">
            <a:extLst>
              <a:ext uri="{FF2B5EF4-FFF2-40B4-BE49-F238E27FC236}">
                <a16:creationId xmlns:a16="http://schemas.microsoft.com/office/drawing/2014/main" id="{4372135D-4780-400F-A73A-1EEC30F3DFB3}"/>
              </a:ext>
            </a:extLst>
          </p:cNvPr>
          <p:cNvSpPr>
            <a:spLocks noGrp="1"/>
          </p:cNvSpPr>
          <p:nvPr/>
        </p:nvSpPr>
        <p:spPr>
          <a:xfrm>
            <a:off x="548640" y="3172968"/>
            <a:ext cx="1005840" cy="41148"/>
          </a:xfrm>
          <a:prstGeom prst="rect">
            <a:avLst/>
          </a:prstGeom>
          <a:solidFill>
            <a:srgbClr val="1F5C4D"/>
          </a:solidFill>
        </p:spPr>
        <p:txBody>
          <a:bodyPr/>
          <a:lstStyle/>
          <a:p>
            <a:endParaRPr lang="ko-KR" altLang="en-US"/>
          </a:p>
        </p:txBody>
      </p:sp>
      <p:graphicFrame>
        <p:nvGraphicFramePr>
          <p:cNvPr id="23" name="Table 0"/>
          <p:cNvGraphicFramePr/>
          <p:nvPr/>
        </p:nvGraphicFramePr>
        <p:xfrm>
          <a:off x="548640" y="3337560"/>
          <a:ext cx="11087100" cy="2628900"/>
        </p:xfrm>
        <a:graphic>
          <a:graphicData uri="http://schemas.openxmlformats.org/drawingml/2006/table">
            <a:tbl>
              <a:tblPr/>
              <a:tblGrid>
                <a:gridCol w="161925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5276850">
                  <a:extLst>
                    <a:ext uri="{9D8B030D-6E8A-4147-A177-3AD203B41FA5}">
                      <a16:colId xmlns:a16="http://schemas.microsoft.com/office/drawing/2014/main" val="20002"/>
                    </a:ext>
                  </a:extLst>
                </a:gridCol>
              </a:tblGrid>
              <a:tr h="438150">
                <a:tc>
                  <a:txBody>
                    <a:bodyPr/>
                    <a:lstStyle/>
                    <a:p>
                      <a:pPr marL="0" indent="0" algn="ctr">
                        <a:buNone/>
                      </a:pPr>
                      <a:r>
                        <a:rPr sz="1388" b="1">
                          <a:solidFill>
                            <a:srgbClr val="173F35"/>
                          </a:solidFill>
                          <a:latin typeface="맑은 고딕"/>
                          <a:ea typeface="맑은 고딕"/>
                          <a:cs typeface="맑은 고딕"/>
                        </a:rPr>
                        <a:t>구분</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초기 계획</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현재 방향 / 진행 상태</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438150">
                <a:tc>
                  <a:txBody>
                    <a:bodyPr/>
                    <a:lstStyle/>
                    <a:p>
                      <a:pPr marL="0" indent="0" algn="ctr">
                        <a:buNone/>
                      </a:pPr>
                      <a:r>
                        <a:rPr sz="1388" b="1">
                          <a:solidFill>
                            <a:srgbClr val="202727"/>
                          </a:solidFill>
                          <a:latin typeface="맑은 고딕"/>
                          <a:ea typeface="맑은 고딕"/>
                          <a:cs typeface="맑은 고딕"/>
                        </a:rPr>
                        <a:t>입력</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카메라 영상의 연속 추론</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사진 촬영 후 추론하는 방식으로 전환</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438150">
                <a:tc>
                  <a:txBody>
                    <a:bodyPr/>
                    <a:lstStyle/>
                    <a:p>
                      <a:pPr marL="0" indent="0" algn="ctr">
                        <a:buNone/>
                      </a:pPr>
                      <a:r>
                        <a:rPr sz="1388" b="1">
                          <a:solidFill>
                            <a:srgbClr val="202727"/>
                          </a:solidFill>
                          <a:latin typeface="맑은 고딕"/>
                          <a:ea typeface="맑은 고딕"/>
                          <a:cs typeface="맑은 고딕"/>
                        </a:rPr>
                        <a:t>인식 방식</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YOLO 기반 객체 탐지</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객체 탐지 유지, 여러 품목의 위치 표시</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438150">
                <a:tc>
                  <a:txBody>
                    <a:bodyPr/>
                    <a:lstStyle/>
                    <a:p>
                      <a:pPr marL="0" indent="0" algn="ctr">
                        <a:buNone/>
                      </a:pPr>
                      <a:r>
                        <a:rPr sz="1388" b="1">
                          <a:solidFill>
                            <a:srgbClr val="202727"/>
                          </a:solidFill>
                          <a:latin typeface="맑은 고딕"/>
                          <a:ea typeface="맑은 고딕"/>
                          <a:cs typeface="맑은 고딕"/>
                        </a:rPr>
                        <a:t>모델</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YOLO11n 중심 개발</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YOLO11n 계열 및 YOLO26s, 4종 비교</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r h="438150">
                <a:tc>
                  <a:txBody>
                    <a:bodyPr/>
                    <a:lstStyle/>
                    <a:p>
                      <a:pPr marL="0" indent="0" algn="ctr">
                        <a:buNone/>
                      </a:pPr>
                      <a:r>
                        <a:rPr sz="1388" b="1">
                          <a:solidFill>
                            <a:srgbClr val="202727"/>
                          </a:solidFill>
                          <a:latin typeface="맑은 고딕"/>
                          <a:ea typeface="맑은 고딕"/>
                          <a:cs typeface="맑은 고딕"/>
                        </a:rPr>
                        <a:t>데이터 보완</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자체 촬영 후 전이학습</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외부 평가로 취약 장면 확인, 보완 학습 검토</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4"/>
                  </a:ext>
                </a:extLst>
              </a:tr>
              <a:tr h="438150">
                <a:tc>
                  <a:txBody>
                    <a:bodyPr/>
                    <a:lstStyle/>
                    <a:p>
                      <a:pPr marL="0" indent="0" algn="ctr">
                        <a:buNone/>
                      </a:pPr>
                      <a:r>
                        <a:rPr sz="1388" b="1">
                          <a:solidFill>
                            <a:srgbClr val="202727"/>
                          </a:solidFill>
                          <a:latin typeface="맑은 고딕"/>
                          <a:ea typeface="맑은 고딕"/>
                          <a:cs typeface="맑은 고딕"/>
                        </a:rPr>
                        <a:t>실행 환경</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안드로이드 및 젯슨 오린 나노</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앱 연동과 실제 기기 성능 확인 필요</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60988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3EB59E5-02FE-4DEC-BB31-46EE190AAF6C}"/>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6E5563AA-303C-441D-8638-2AB5DD7B8264}"/>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01</a:t>
            </a:r>
            <a:endParaRPr sz="2600"/>
          </a:p>
        </p:txBody>
      </p:sp>
      <p:sp>
        <p:nvSpPr>
          <p:cNvPr id="4" name="Text 2">
            <a:extLst>
              <a:ext uri="{FF2B5EF4-FFF2-40B4-BE49-F238E27FC236}">
                <a16:creationId xmlns:a16="http://schemas.microsoft.com/office/drawing/2014/main" id="{FAD37163-C9A2-49A7-816C-18DD8A0D5837}"/>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프로젝트 개요</a:t>
            </a:r>
            <a:endParaRPr sz="1500"/>
          </a:p>
        </p:txBody>
      </p:sp>
      <p:sp>
        <p:nvSpPr>
          <p:cNvPr id="5" name="Text 3">
            <a:extLst>
              <a:ext uri="{FF2B5EF4-FFF2-40B4-BE49-F238E27FC236}">
                <a16:creationId xmlns:a16="http://schemas.microsoft.com/office/drawing/2014/main" id="{1A0CCEC2-D0C3-4C15-B219-4657A671A404}"/>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시스템 흐름 및 개발 범위</a:t>
            </a:r>
            <a:endParaRPr sz="1900"/>
          </a:p>
        </p:txBody>
      </p:sp>
      <p:sp>
        <p:nvSpPr>
          <p:cNvPr id="6" name="Text 4">
            <a:extLst>
              <a:ext uri="{FF2B5EF4-FFF2-40B4-BE49-F238E27FC236}">
                <a16:creationId xmlns:a16="http://schemas.microsoft.com/office/drawing/2014/main" id="{0259AFFA-0CF0-4D59-A565-38034A6351A5}"/>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4</a:t>
            </a:r>
            <a:endParaRPr sz="1000"/>
          </a:p>
        </p:txBody>
      </p:sp>
      <p:sp>
        <p:nvSpPr>
          <p:cNvPr id="7" name="Text 5">
            <a:extLst>
              <a:ext uri="{FF2B5EF4-FFF2-40B4-BE49-F238E27FC236}">
                <a16:creationId xmlns:a16="http://schemas.microsoft.com/office/drawing/2014/main" id="{014797C1-0382-4BF3-BC96-B6DFBE75A5E3}"/>
              </a:ext>
            </a:extLst>
          </p:cNvPr>
          <p:cNvSpPr>
            <a:spLocks noGrp="1"/>
          </p:cNvSpPr>
          <p:nvPr/>
        </p:nvSpPr>
        <p:spPr>
          <a:xfrm>
            <a:off x="548640" y="10515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앱 처리 흐름 (개발 방향)</a:t>
            </a:r>
            <a:endParaRPr sz="1500"/>
          </a:p>
        </p:txBody>
      </p:sp>
      <p:sp>
        <p:nvSpPr>
          <p:cNvPr id="8" name="Shape 6">
            <a:extLst>
              <a:ext uri="{FF2B5EF4-FFF2-40B4-BE49-F238E27FC236}">
                <a16:creationId xmlns:a16="http://schemas.microsoft.com/office/drawing/2014/main" id="{D6FBE903-6083-4645-A850-DACDA74E7FF6}"/>
              </a:ext>
            </a:extLst>
          </p:cNvPr>
          <p:cNvSpPr>
            <a:spLocks noGrp="1"/>
          </p:cNvSpPr>
          <p:nvPr/>
        </p:nvSpPr>
        <p:spPr>
          <a:xfrm>
            <a:off x="548640" y="1435608"/>
            <a:ext cx="1005840" cy="41148"/>
          </a:xfrm>
          <a:prstGeom prst="rect">
            <a:avLst/>
          </a:prstGeom>
          <a:solidFill>
            <a:srgbClr val="1F5C4D"/>
          </a:solidFill>
        </p:spPr>
        <p:txBody>
          <a:bodyPr/>
          <a:lstStyle/>
          <a:p>
            <a:endParaRPr lang="ko-KR" altLang="en-US"/>
          </a:p>
        </p:txBody>
      </p:sp>
      <p:sp>
        <p:nvSpPr>
          <p:cNvPr id="9" name="Shape 7">
            <a:extLst>
              <a:ext uri="{FF2B5EF4-FFF2-40B4-BE49-F238E27FC236}">
                <a16:creationId xmlns:a16="http://schemas.microsoft.com/office/drawing/2014/main" id="{2DFB2189-C383-4E00-B734-D2705396F0F5}"/>
              </a:ext>
            </a:extLst>
          </p:cNvPr>
          <p:cNvSpPr>
            <a:spLocks noGrp="1"/>
          </p:cNvSpPr>
          <p:nvPr/>
        </p:nvSpPr>
        <p:spPr>
          <a:xfrm>
            <a:off x="566928" y="1645920"/>
            <a:ext cx="1965960" cy="1005840"/>
          </a:xfrm>
          <a:prstGeom prst="roundRect">
            <a:avLst>
              <a:gd name="adj" fmla="val 5455"/>
            </a:avLst>
          </a:prstGeom>
          <a:solidFill>
            <a:srgbClr val="DCE7E2"/>
          </a:solidFill>
          <a:ln w="6350">
            <a:solidFill>
              <a:srgbClr val="A8BAB3"/>
            </a:solidFill>
            <a:prstDash val="solid"/>
          </a:ln>
        </p:spPr>
        <p:txBody>
          <a:bodyPr/>
          <a:lstStyle/>
          <a:p>
            <a:endParaRPr lang="ko-KR" altLang="en-US"/>
          </a:p>
        </p:txBody>
      </p:sp>
      <p:sp>
        <p:nvSpPr>
          <p:cNvPr id="10" name="Text 8">
            <a:extLst>
              <a:ext uri="{FF2B5EF4-FFF2-40B4-BE49-F238E27FC236}">
                <a16:creationId xmlns:a16="http://schemas.microsoft.com/office/drawing/2014/main" id="{5455DFBC-17CE-4699-91F0-5FEF76A2A715}"/>
              </a:ext>
            </a:extLst>
          </p:cNvPr>
          <p:cNvSpPr>
            <a:spLocks noGrp="1"/>
          </p:cNvSpPr>
          <p:nvPr/>
        </p:nvSpPr>
        <p:spPr>
          <a:xfrm>
            <a:off x="566928" y="1709928"/>
            <a:ext cx="1965960" cy="301752"/>
          </a:xfrm>
          <a:prstGeom prst="rect">
            <a:avLst/>
          </a:prstGeom>
          <a:noFill/>
        </p:spPr>
        <p:txBody>
          <a:bodyPr wrap="square" anchor="ctr"/>
          <a:lstStyle/>
          <a:p>
            <a:pPr marL="0" indent="0" algn="ctr">
              <a:buNone/>
            </a:pPr>
            <a:r>
              <a:rPr sz="1250" b="1">
                <a:solidFill>
                  <a:srgbClr val="143C32"/>
                </a:solidFill>
                <a:latin typeface="맑은 고딕"/>
                <a:ea typeface="맑은 고딕"/>
                <a:cs typeface="맑은 고딕"/>
              </a:rPr>
              <a:t>① 사진 입력</a:t>
            </a:r>
            <a:endParaRPr sz="1250"/>
          </a:p>
        </p:txBody>
      </p:sp>
      <p:sp>
        <p:nvSpPr>
          <p:cNvPr id="11" name="Text 9">
            <a:extLst>
              <a:ext uri="{FF2B5EF4-FFF2-40B4-BE49-F238E27FC236}">
                <a16:creationId xmlns:a16="http://schemas.microsoft.com/office/drawing/2014/main" id="{A5692AAA-E4BC-4AA1-A4EE-E266478D580D}"/>
              </a:ext>
            </a:extLst>
          </p:cNvPr>
          <p:cNvSpPr>
            <a:spLocks noGrp="1"/>
          </p:cNvSpPr>
          <p:nvPr/>
        </p:nvSpPr>
        <p:spPr>
          <a:xfrm>
            <a:off x="566928" y="2029968"/>
            <a:ext cx="1965960" cy="548640"/>
          </a:xfrm>
          <a:prstGeom prst="rect">
            <a:avLst/>
          </a:prstGeom>
          <a:noFill/>
        </p:spPr>
        <p:txBody>
          <a:bodyPr anchor="t">
            <a:noAutofit/>
          </a:bodyPr>
          <a:lstStyle/>
          <a:p>
            <a:pPr marL="0" indent="0" algn="ctr">
              <a:buNone/>
              <a:defRPr sz="1275">
                <a:solidFill>
                  <a:srgbClr val="173F35"/>
                </a:solidFill>
                <a:latin typeface="맑은 고딕"/>
                <a:ea typeface="맑은 고딕"/>
                <a:cs typeface="맑은 고딕"/>
              </a:defRPr>
            </a:pPr>
            <a:r>
              <a:rPr sz="1275">
                <a:solidFill>
                  <a:srgbClr val="173F35"/>
                </a:solidFill>
                <a:latin typeface="맑은 고딕"/>
                <a:ea typeface="맑은 고딕"/>
                <a:cs typeface="맑은 고딕"/>
              </a:rPr>
              <a:t>사진 촬영</a:t>
            </a:r>
            <a:endParaRPr sz="1050"/>
          </a:p>
          <a:p>
            <a:pPr marL="0" indent="0" algn="ctr">
              <a:buNone/>
              <a:defRPr sz="1275">
                <a:solidFill>
                  <a:srgbClr val="173F35"/>
                </a:solidFill>
                <a:latin typeface="맑은 고딕"/>
                <a:ea typeface="맑은 고딕"/>
                <a:cs typeface="맑은 고딕"/>
              </a:defRPr>
            </a:pPr>
            <a:r>
              <a:rPr sz="1275">
                <a:solidFill>
                  <a:srgbClr val="173F35"/>
                </a:solidFill>
                <a:latin typeface="맑은 고딕"/>
                <a:ea typeface="맑은 고딕"/>
                <a:cs typeface="맑은 고딕"/>
              </a:rPr>
              <a:t>또는 선택</a:t>
            </a:r>
            <a:endParaRPr sz="1050"/>
          </a:p>
        </p:txBody>
      </p:sp>
      <p:sp>
        <p:nvSpPr>
          <p:cNvPr id="12" name="Text 10">
            <a:extLst>
              <a:ext uri="{FF2B5EF4-FFF2-40B4-BE49-F238E27FC236}">
                <a16:creationId xmlns:a16="http://schemas.microsoft.com/office/drawing/2014/main" id="{2DF2C6F9-6349-494B-99DE-0343550E261A}"/>
              </a:ext>
            </a:extLst>
          </p:cNvPr>
          <p:cNvSpPr>
            <a:spLocks noGrp="1"/>
          </p:cNvSpPr>
          <p:nvPr/>
        </p:nvSpPr>
        <p:spPr>
          <a:xfrm>
            <a:off x="2542032" y="1965960"/>
            <a:ext cx="274320" cy="274320"/>
          </a:xfrm>
          <a:prstGeom prst="rect">
            <a:avLst/>
          </a:prstGeom>
          <a:noFill/>
        </p:spPr>
        <p:txBody>
          <a:bodyPr wrap="square" anchor="ctr"/>
          <a:lstStyle/>
          <a:p>
            <a:pPr marL="0" indent="0" algn="ctr">
              <a:buNone/>
            </a:pPr>
            <a:r>
              <a:rPr sz="1200">
                <a:solidFill>
                  <a:srgbClr val="1F5C4D"/>
                </a:solidFill>
                <a:latin typeface="맑은 고딕"/>
                <a:ea typeface="맑은 고딕"/>
                <a:cs typeface="맑은 고딕"/>
              </a:rPr>
              <a:t>▶</a:t>
            </a:r>
            <a:endParaRPr sz="1200"/>
          </a:p>
        </p:txBody>
      </p:sp>
      <p:sp>
        <p:nvSpPr>
          <p:cNvPr id="13" name="Shape 11">
            <a:extLst>
              <a:ext uri="{FF2B5EF4-FFF2-40B4-BE49-F238E27FC236}">
                <a16:creationId xmlns:a16="http://schemas.microsoft.com/office/drawing/2014/main" id="{A6CE86E2-20CD-41D9-8A93-C5704109294E}"/>
              </a:ext>
            </a:extLst>
          </p:cNvPr>
          <p:cNvSpPr>
            <a:spLocks noGrp="1"/>
          </p:cNvSpPr>
          <p:nvPr/>
        </p:nvSpPr>
        <p:spPr>
          <a:xfrm>
            <a:off x="2807208" y="1645920"/>
            <a:ext cx="1965960" cy="1005840"/>
          </a:xfrm>
          <a:prstGeom prst="roundRect">
            <a:avLst>
              <a:gd name="adj" fmla="val 5455"/>
            </a:avLst>
          </a:prstGeom>
          <a:solidFill>
            <a:srgbClr val="F1F5F3"/>
          </a:solidFill>
          <a:ln w="6350">
            <a:solidFill>
              <a:srgbClr val="A8BAB3"/>
            </a:solidFill>
            <a:prstDash val="solid"/>
          </a:ln>
        </p:spPr>
        <p:txBody>
          <a:bodyPr/>
          <a:lstStyle/>
          <a:p>
            <a:endParaRPr lang="ko-KR" altLang="en-US"/>
          </a:p>
        </p:txBody>
      </p:sp>
      <p:sp>
        <p:nvSpPr>
          <p:cNvPr id="14" name="Text 12">
            <a:extLst>
              <a:ext uri="{FF2B5EF4-FFF2-40B4-BE49-F238E27FC236}">
                <a16:creationId xmlns:a16="http://schemas.microsoft.com/office/drawing/2014/main" id="{42157026-2881-4D18-9528-B635F15A8E25}"/>
              </a:ext>
            </a:extLst>
          </p:cNvPr>
          <p:cNvSpPr>
            <a:spLocks noGrp="1"/>
          </p:cNvSpPr>
          <p:nvPr/>
        </p:nvSpPr>
        <p:spPr>
          <a:xfrm>
            <a:off x="2807208" y="1709928"/>
            <a:ext cx="1965960" cy="301752"/>
          </a:xfrm>
          <a:prstGeom prst="rect">
            <a:avLst/>
          </a:prstGeom>
          <a:noFill/>
        </p:spPr>
        <p:txBody>
          <a:bodyPr wrap="square" anchor="ctr"/>
          <a:lstStyle/>
          <a:p>
            <a:pPr marL="0" indent="0" algn="ctr">
              <a:buNone/>
            </a:pPr>
            <a:r>
              <a:rPr sz="1250" b="1">
                <a:solidFill>
                  <a:srgbClr val="143C32"/>
                </a:solidFill>
                <a:latin typeface="맑은 고딕"/>
                <a:ea typeface="맑은 고딕"/>
                <a:cs typeface="맑은 고딕"/>
              </a:rPr>
              <a:t>② 전처리</a:t>
            </a:r>
            <a:endParaRPr sz="1250"/>
          </a:p>
        </p:txBody>
      </p:sp>
      <p:sp>
        <p:nvSpPr>
          <p:cNvPr id="15" name="Text 13">
            <a:extLst>
              <a:ext uri="{FF2B5EF4-FFF2-40B4-BE49-F238E27FC236}">
                <a16:creationId xmlns:a16="http://schemas.microsoft.com/office/drawing/2014/main" id="{29EB6C5F-FED9-4F93-9FF8-49D97DACF04A}"/>
              </a:ext>
            </a:extLst>
          </p:cNvPr>
          <p:cNvSpPr>
            <a:spLocks noGrp="1"/>
          </p:cNvSpPr>
          <p:nvPr/>
        </p:nvSpPr>
        <p:spPr>
          <a:xfrm>
            <a:off x="2807208" y="2029968"/>
            <a:ext cx="1965960" cy="548640"/>
          </a:xfrm>
          <a:prstGeom prst="rect">
            <a:avLst/>
          </a:prstGeom>
          <a:noFill/>
        </p:spPr>
        <p:txBody>
          <a:bodyPr anchor="t">
            <a:noAutofit/>
          </a:bodyPr>
          <a:lstStyle/>
          <a:p>
            <a:pPr marL="0" indent="0" algn="ctr">
              <a:buNone/>
              <a:defRPr sz="1275">
                <a:solidFill>
                  <a:srgbClr val="173F35"/>
                </a:solidFill>
                <a:latin typeface="맑은 고딕"/>
                <a:ea typeface="맑은 고딕"/>
                <a:cs typeface="맑은 고딕"/>
              </a:defRPr>
            </a:pPr>
            <a:r>
              <a:rPr sz="1275">
                <a:solidFill>
                  <a:srgbClr val="173F35"/>
                </a:solidFill>
                <a:latin typeface="맑은 고딕"/>
                <a:ea typeface="맑은 고딕"/>
                <a:cs typeface="맑은 고딕"/>
              </a:rPr>
              <a:t>입력 크기 조정</a:t>
            </a:r>
            <a:endParaRPr sz="1050"/>
          </a:p>
          <a:p>
            <a:pPr marL="0" indent="0" algn="ctr">
              <a:buNone/>
              <a:defRPr sz="1275">
                <a:solidFill>
                  <a:srgbClr val="173F35"/>
                </a:solidFill>
                <a:latin typeface="맑은 고딕"/>
                <a:ea typeface="맑은 고딕"/>
                <a:cs typeface="맑은 고딕"/>
              </a:defRPr>
            </a:pPr>
            <a:r>
              <a:rPr sz="1275">
                <a:solidFill>
                  <a:srgbClr val="173F35"/>
                </a:solidFill>
                <a:latin typeface="맑은 고딕"/>
                <a:ea typeface="맑은 고딕"/>
                <a:cs typeface="맑은 고딕"/>
              </a:rPr>
              <a:t>정규화</a:t>
            </a:r>
            <a:endParaRPr sz="1050"/>
          </a:p>
        </p:txBody>
      </p:sp>
      <p:sp>
        <p:nvSpPr>
          <p:cNvPr id="16" name="Text 14">
            <a:extLst>
              <a:ext uri="{FF2B5EF4-FFF2-40B4-BE49-F238E27FC236}">
                <a16:creationId xmlns:a16="http://schemas.microsoft.com/office/drawing/2014/main" id="{4046A192-7208-4938-B54F-3887E2F24978}"/>
              </a:ext>
            </a:extLst>
          </p:cNvPr>
          <p:cNvSpPr>
            <a:spLocks noGrp="1"/>
          </p:cNvSpPr>
          <p:nvPr/>
        </p:nvSpPr>
        <p:spPr>
          <a:xfrm>
            <a:off x="4782312" y="1965960"/>
            <a:ext cx="274320" cy="274320"/>
          </a:xfrm>
          <a:prstGeom prst="rect">
            <a:avLst/>
          </a:prstGeom>
          <a:noFill/>
        </p:spPr>
        <p:txBody>
          <a:bodyPr wrap="square" anchor="ctr"/>
          <a:lstStyle/>
          <a:p>
            <a:pPr marL="0" indent="0" algn="ctr">
              <a:buNone/>
            </a:pPr>
            <a:r>
              <a:rPr sz="1200">
                <a:solidFill>
                  <a:srgbClr val="1F5C4D"/>
                </a:solidFill>
                <a:latin typeface="맑은 고딕"/>
                <a:ea typeface="맑은 고딕"/>
                <a:cs typeface="맑은 고딕"/>
              </a:rPr>
              <a:t>▶</a:t>
            </a:r>
            <a:endParaRPr sz="1200"/>
          </a:p>
        </p:txBody>
      </p:sp>
      <p:sp>
        <p:nvSpPr>
          <p:cNvPr id="17" name="Shape 15">
            <a:extLst>
              <a:ext uri="{FF2B5EF4-FFF2-40B4-BE49-F238E27FC236}">
                <a16:creationId xmlns:a16="http://schemas.microsoft.com/office/drawing/2014/main" id="{66C4A8FB-83DB-4536-A0E8-D34C5F59B514}"/>
              </a:ext>
            </a:extLst>
          </p:cNvPr>
          <p:cNvSpPr>
            <a:spLocks noGrp="1"/>
          </p:cNvSpPr>
          <p:nvPr/>
        </p:nvSpPr>
        <p:spPr>
          <a:xfrm>
            <a:off x="5047488" y="1645920"/>
            <a:ext cx="1965960" cy="1005840"/>
          </a:xfrm>
          <a:prstGeom prst="roundRect">
            <a:avLst>
              <a:gd name="adj" fmla="val 5455"/>
            </a:avLst>
          </a:prstGeom>
          <a:solidFill>
            <a:srgbClr val="DCE7E2"/>
          </a:solidFill>
          <a:ln w="6350">
            <a:solidFill>
              <a:srgbClr val="A8BAB3"/>
            </a:solidFill>
            <a:prstDash val="solid"/>
          </a:ln>
        </p:spPr>
        <p:txBody>
          <a:bodyPr/>
          <a:lstStyle/>
          <a:p>
            <a:endParaRPr lang="ko-KR" altLang="en-US"/>
          </a:p>
        </p:txBody>
      </p:sp>
      <p:sp>
        <p:nvSpPr>
          <p:cNvPr id="18" name="Text 16">
            <a:extLst>
              <a:ext uri="{FF2B5EF4-FFF2-40B4-BE49-F238E27FC236}">
                <a16:creationId xmlns:a16="http://schemas.microsoft.com/office/drawing/2014/main" id="{29971C2A-FAE2-4B3E-8DDA-BFC1A8688315}"/>
              </a:ext>
            </a:extLst>
          </p:cNvPr>
          <p:cNvSpPr>
            <a:spLocks noGrp="1"/>
          </p:cNvSpPr>
          <p:nvPr/>
        </p:nvSpPr>
        <p:spPr>
          <a:xfrm>
            <a:off x="5047488" y="1709928"/>
            <a:ext cx="1965960" cy="301752"/>
          </a:xfrm>
          <a:prstGeom prst="rect">
            <a:avLst/>
          </a:prstGeom>
          <a:noFill/>
        </p:spPr>
        <p:txBody>
          <a:bodyPr wrap="square" anchor="ctr"/>
          <a:lstStyle/>
          <a:p>
            <a:pPr marL="0" indent="0" algn="ctr">
              <a:buNone/>
            </a:pPr>
            <a:r>
              <a:rPr sz="1250" b="1">
                <a:solidFill>
                  <a:srgbClr val="143C32"/>
                </a:solidFill>
                <a:latin typeface="맑은 고딕"/>
                <a:ea typeface="맑은 고딕"/>
                <a:cs typeface="맑은 고딕"/>
              </a:rPr>
              <a:t>③ 객체 탐지</a:t>
            </a:r>
            <a:endParaRPr sz="1250"/>
          </a:p>
        </p:txBody>
      </p:sp>
      <p:sp>
        <p:nvSpPr>
          <p:cNvPr id="19" name="Text 17">
            <a:extLst>
              <a:ext uri="{FF2B5EF4-FFF2-40B4-BE49-F238E27FC236}">
                <a16:creationId xmlns:a16="http://schemas.microsoft.com/office/drawing/2014/main" id="{81234172-CBDE-4497-9AFE-7D627DDA9B52}"/>
              </a:ext>
            </a:extLst>
          </p:cNvPr>
          <p:cNvSpPr>
            <a:spLocks noGrp="1"/>
          </p:cNvSpPr>
          <p:nvPr/>
        </p:nvSpPr>
        <p:spPr>
          <a:xfrm>
            <a:off x="5047488" y="2029968"/>
            <a:ext cx="1965960" cy="548640"/>
          </a:xfrm>
          <a:prstGeom prst="rect">
            <a:avLst/>
          </a:prstGeom>
          <a:noFill/>
        </p:spPr>
        <p:txBody>
          <a:bodyPr anchor="t">
            <a:noAutofit/>
          </a:bodyPr>
          <a:lstStyle/>
          <a:p>
            <a:pPr marL="0" indent="0" algn="ctr">
              <a:buNone/>
              <a:defRPr sz="1275">
                <a:solidFill>
                  <a:srgbClr val="173F35"/>
                </a:solidFill>
                <a:latin typeface="맑은 고딕"/>
                <a:ea typeface="맑은 고딕"/>
                <a:cs typeface="맑은 고딕"/>
              </a:defRPr>
            </a:pPr>
            <a:r>
              <a:rPr sz="1275">
                <a:solidFill>
                  <a:srgbClr val="173F35"/>
                </a:solidFill>
                <a:latin typeface="맑은 고딕"/>
                <a:ea typeface="맑은 고딕"/>
                <a:cs typeface="맑은 고딕"/>
              </a:rPr>
              <a:t>모델 후보 검토</a:t>
            </a:r>
            <a:endParaRPr sz="1050"/>
          </a:p>
          <a:p>
            <a:pPr marL="0" indent="0" algn="ctr">
              <a:buNone/>
              <a:defRPr sz="1275">
                <a:solidFill>
                  <a:srgbClr val="173F35"/>
                </a:solidFill>
                <a:latin typeface="맑은 고딕"/>
                <a:ea typeface="맑은 고딕"/>
                <a:cs typeface="맑은 고딕"/>
              </a:defRPr>
            </a:pPr>
            <a:r>
              <a:rPr sz="1275">
                <a:solidFill>
                  <a:srgbClr val="173F35"/>
                </a:solidFill>
                <a:latin typeface="맑은 고딕"/>
                <a:ea typeface="맑은 고딕"/>
                <a:cs typeface="맑은 고딕"/>
              </a:rPr>
              <a:t>종류와 위치</a:t>
            </a:r>
            <a:endParaRPr sz="1050"/>
          </a:p>
        </p:txBody>
      </p:sp>
      <p:sp>
        <p:nvSpPr>
          <p:cNvPr id="20" name="Text 18">
            <a:extLst>
              <a:ext uri="{FF2B5EF4-FFF2-40B4-BE49-F238E27FC236}">
                <a16:creationId xmlns:a16="http://schemas.microsoft.com/office/drawing/2014/main" id="{9D634634-BCC8-4A47-8126-F47987074DFF}"/>
              </a:ext>
            </a:extLst>
          </p:cNvPr>
          <p:cNvSpPr>
            <a:spLocks noGrp="1"/>
          </p:cNvSpPr>
          <p:nvPr/>
        </p:nvSpPr>
        <p:spPr>
          <a:xfrm>
            <a:off x="7022592" y="1965960"/>
            <a:ext cx="274320" cy="274320"/>
          </a:xfrm>
          <a:prstGeom prst="rect">
            <a:avLst/>
          </a:prstGeom>
          <a:noFill/>
        </p:spPr>
        <p:txBody>
          <a:bodyPr wrap="square" anchor="ctr"/>
          <a:lstStyle/>
          <a:p>
            <a:pPr marL="0" indent="0" algn="ctr">
              <a:buNone/>
            </a:pPr>
            <a:r>
              <a:rPr sz="1200">
                <a:solidFill>
                  <a:srgbClr val="1F5C4D"/>
                </a:solidFill>
                <a:latin typeface="맑은 고딕"/>
                <a:ea typeface="맑은 고딕"/>
                <a:cs typeface="맑은 고딕"/>
              </a:rPr>
              <a:t>▶</a:t>
            </a:r>
            <a:endParaRPr sz="1200"/>
          </a:p>
        </p:txBody>
      </p:sp>
      <p:sp>
        <p:nvSpPr>
          <p:cNvPr id="21" name="Shape 19">
            <a:extLst>
              <a:ext uri="{FF2B5EF4-FFF2-40B4-BE49-F238E27FC236}">
                <a16:creationId xmlns:a16="http://schemas.microsoft.com/office/drawing/2014/main" id="{EDA527E2-1E5F-4A73-BDFD-26E76588BDA8}"/>
              </a:ext>
            </a:extLst>
          </p:cNvPr>
          <p:cNvSpPr>
            <a:spLocks noGrp="1"/>
          </p:cNvSpPr>
          <p:nvPr/>
        </p:nvSpPr>
        <p:spPr>
          <a:xfrm>
            <a:off x="7287768" y="1645920"/>
            <a:ext cx="1965960" cy="1005840"/>
          </a:xfrm>
          <a:prstGeom prst="roundRect">
            <a:avLst>
              <a:gd name="adj" fmla="val 5455"/>
            </a:avLst>
          </a:prstGeom>
          <a:solidFill>
            <a:srgbClr val="F1F5F3"/>
          </a:solidFill>
          <a:ln w="6350">
            <a:solidFill>
              <a:srgbClr val="A8BAB3"/>
            </a:solidFill>
            <a:prstDash val="solid"/>
          </a:ln>
        </p:spPr>
        <p:txBody>
          <a:bodyPr/>
          <a:lstStyle/>
          <a:p>
            <a:endParaRPr lang="ko-KR" altLang="en-US"/>
          </a:p>
        </p:txBody>
      </p:sp>
      <p:sp>
        <p:nvSpPr>
          <p:cNvPr id="22" name="Text 20">
            <a:extLst>
              <a:ext uri="{FF2B5EF4-FFF2-40B4-BE49-F238E27FC236}">
                <a16:creationId xmlns:a16="http://schemas.microsoft.com/office/drawing/2014/main" id="{96FC725C-E7F9-4B3E-8C7C-A6680DF996B7}"/>
              </a:ext>
            </a:extLst>
          </p:cNvPr>
          <p:cNvSpPr>
            <a:spLocks noGrp="1"/>
          </p:cNvSpPr>
          <p:nvPr/>
        </p:nvSpPr>
        <p:spPr>
          <a:xfrm>
            <a:off x="7287768" y="1709928"/>
            <a:ext cx="1965960" cy="301752"/>
          </a:xfrm>
          <a:prstGeom prst="rect">
            <a:avLst/>
          </a:prstGeom>
          <a:noFill/>
        </p:spPr>
        <p:txBody>
          <a:bodyPr wrap="square" anchor="ctr"/>
          <a:lstStyle/>
          <a:p>
            <a:pPr marL="0" indent="0" algn="ctr">
              <a:buNone/>
            </a:pPr>
            <a:r>
              <a:rPr sz="1250" b="1">
                <a:solidFill>
                  <a:srgbClr val="143C32"/>
                </a:solidFill>
                <a:latin typeface="맑은 고딕"/>
                <a:ea typeface="맑은 고딕"/>
                <a:cs typeface="맑은 고딕"/>
              </a:rPr>
              <a:t>④ 후처리</a:t>
            </a:r>
            <a:endParaRPr sz="1250"/>
          </a:p>
        </p:txBody>
      </p:sp>
      <p:sp>
        <p:nvSpPr>
          <p:cNvPr id="23" name="Text 21">
            <a:extLst>
              <a:ext uri="{FF2B5EF4-FFF2-40B4-BE49-F238E27FC236}">
                <a16:creationId xmlns:a16="http://schemas.microsoft.com/office/drawing/2014/main" id="{2FDDA7D4-C681-4358-A3B8-DEBC518CBA2F}"/>
              </a:ext>
            </a:extLst>
          </p:cNvPr>
          <p:cNvSpPr>
            <a:spLocks noGrp="1"/>
          </p:cNvSpPr>
          <p:nvPr/>
        </p:nvSpPr>
        <p:spPr>
          <a:xfrm>
            <a:off x="7287768" y="2029968"/>
            <a:ext cx="1965960" cy="548640"/>
          </a:xfrm>
          <a:prstGeom prst="rect">
            <a:avLst/>
          </a:prstGeom>
          <a:noFill/>
        </p:spPr>
        <p:txBody>
          <a:bodyPr anchor="t">
            <a:noAutofit/>
          </a:bodyPr>
          <a:lstStyle/>
          <a:p>
            <a:pPr marL="0" indent="0" algn="ctr">
              <a:buNone/>
              <a:defRPr sz="1275">
                <a:solidFill>
                  <a:srgbClr val="173F35"/>
                </a:solidFill>
                <a:latin typeface="맑은 고딕"/>
                <a:ea typeface="맑은 고딕"/>
                <a:cs typeface="맑은 고딕"/>
              </a:defRPr>
            </a:pPr>
            <a:r>
              <a:rPr sz="1275">
                <a:solidFill>
                  <a:srgbClr val="173F35"/>
                </a:solidFill>
                <a:latin typeface="맑은 고딕"/>
                <a:ea typeface="맑은 고딕"/>
                <a:cs typeface="맑은 고딕"/>
              </a:rPr>
              <a:t>신뢰도 필터</a:t>
            </a:r>
            <a:endParaRPr sz="1050"/>
          </a:p>
          <a:p>
            <a:pPr marL="0" indent="0" algn="ctr">
              <a:buNone/>
              <a:defRPr sz="1275">
                <a:solidFill>
                  <a:srgbClr val="173F35"/>
                </a:solidFill>
                <a:latin typeface="맑은 고딕"/>
                <a:ea typeface="맑은 고딕"/>
                <a:cs typeface="맑은 고딕"/>
              </a:defRPr>
            </a:pPr>
            <a:r>
              <a:rPr sz="1275">
                <a:solidFill>
                  <a:srgbClr val="173F35"/>
                </a:solidFill>
                <a:latin typeface="맑은 고딕"/>
                <a:ea typeface="맑은 고딕"/>
                <a:cs typeface="맑은 고딕"/>
              </a:rPr>
              <a:t>중복 탐지 제거</a:t>
            </a:r>
            <a:endParaRPr sz="1050"/>
          </a:p>
        </p:txBody>
      </p:sp>
      <p:sp>
        <p:nvSpPr>
          <p:cNvPr id="24" name="Text 22">
            <a:extLst>
              <a:ext uri="{FF2B5EF4-FFF2-40B4-BE49-F238E27FC236}">
                <a16:creationId xmlns:a16="http://schemas.microsoft.com/office/drawing/2014/main" id="{7003F253-6EF8-40B4-947E-89C686CD8B05}"/>
              </a:ext>
            </a:extLst>
          </p:cNvPr>
          <p:cNvSpPr>
            <a:spLocks noGrp="1"/>
          </p:cNvSpPr>
          <p:nvPr/>
        </p:nvSpPr>
        <p:spPr>
          <a:xfrm>
            <a:off x="9262872" y="1965960"/>
            <a:ext cx="274320" cy="274320"/>
          </a:xfrm>
          <a:prstGeom prst="rect">
            <a:avLst/>
          </a:prstGeom>
          <a:noFill/>
        </p:spPr>
        <p:txBody>
          <a:bodyPr wrap="square" anchor="ctr"/>
          <a:lstStyle/>
          <a:p>
            <a:pPr marL="0" indent="0" algn="ctr">
              <a:buNone/>
            </a:pPr>
            <a:r>
              <a:rPr sz="1200">
                <a:solidFill>
                  <a:srgbClr val="1F5C4D"/>
                </a:solidFill>
                <a:latin typeface="맑은 고딕"/>
                <a:ea typeface="맑은 고딕"/>
                <a:cs typeface="맑은 고딕"/>
              </a:rPr>
              <a:t>▶</a:t>
            </a:r>
            <a:endParaRPr sz="1200"/>
          </a:p>
        </p:txBody>
      </p:sp>
      <p:sp>
        <p:nvSpPr>
          <p:cNvPr id="25" name="Shape 23">
            <a:extLst>
              <a:ext uri="{FF2B5EF4-FFF2-40B4-BE49-F238E27FC236}">
                <a16:creationId xmlns:a16="http://schemas.microsoft.com/office/drawing/2014/main" id="{91629C07-92A0-408B-BADB-A864968B17B7}"/>
              </a:ext>
            </a:extLst>
          </p:cNvPr>
          <p:cNvSpPr>
            <a:spLocks noGrp="1"/>
          </p:cNvSpPr>
          <p:nvPr/>
        </p:nvSpPr>
        <p:spPr>
          <a:xfrm>
            <a:off x="9528048" y="1645920"/>
            <a:ext cx="1965960" cy="1005840"/>
          </a:xfrm>
          <a:prstGeom prst="roundRect">
            <a:avLst>
              <a:gd name="adj" fmla="val 5455"/>
            </a:avLst>
          </a:prstGeom>
          <a:solidFill>
            <a:srgbClr val="DCE7E2"/>
          </a:solidFill>
          <a:ln w="6350">
            <a:solidFill>
              <a:srgbClr val="A8BAB3"/>
            </a:solidFill>
            <a:prstDash val="solid"/>
          </a:ln>
        </p:spPr>
        <p:txBody>
          <a:bodyPr/>
          <a:lstStyle/>
          <a:p>
            <a:endParaRPr lang="ko-KR" altLang="en-US"/>
          </a:p>
        </p:txBody>
      </p:sp>
      <p:sp>
        <p:nvSpPr>
          <p:cNvPr id="26" name="Text 24">
            <a:extLst>
              <a:ext uri="{FF2B5EF4-FFF2-40B4-BE49-F238E27FC236}">
                <a16:creationId xmlns:a16="http://schemas.microsoft.com/office/drawing/2014/main" id="{3047B169-C632-4882-9737-2AF642AFAF2C}"/>
              </a:ext>
            </a:extLst>
          </p:cNvPr>
          <p:cNvSpPr>
            <a:spLocks noGrp="1"/>
          </p:cNvSpPr>
          <p:nvPr/>
        </p:nvSpPr>
        <p:spPr>
          <a:xfrm>
            <a:off x="9528048" y="1709928"/>
            <a:ext cx="1965960" cy="301752"/>
          </a:xfrm>
          <a:prstGeom prst="rect">
            <a:avLst/>
          </a:prstGeom>
          <a:noFill/>
        </p:spPr>
        <p:txBody>
          <a:bodyPr wrap="square" anchor="ctr"/>
          <a:lstStyle/>
          <a:p>
            <a:pPr marL="0" indent="0" algn="ctr">
              <a:buNone/>
            </a:pPr>
            <a:r>
              <a:rPr sz="1250" b="1">
                <a:solidFill>
                  <a:srgbClr val="143C32"/>
                </a:solidFill>
                <a:latin typeface="맑은 고딕"/>
                <a:ea typeface="맑은 고딕"/>
                <a:cs typeface="맑은 고딕"/>
              </a:rPr>
              <a:t>⑤ 표시 · 안내</a:t>
            </a:r>
            <a:endParaRPr sz="1250"/>
          </a:p>
        </p:txBody>
      </p:sp>
      <p:sp>
        <p:nvSpPr>
          <p:cNvPr id="27" name="Text 25">
            <a:extLst>
              <a:ext uri="{FF2B5EF4-FFF2-40B4-BE49-F238E27FC236}">
                <a16:creationId xmlns:a16="http://schemas.microsoft.com/office/drawing/2014/main" id="{D5271B91-F98A-4C3B-BE9D-E7828C52FEA6}"/>
              </a:ext>
            </a:extLst>
          </p:cNvPr>
          <p:cNvSpPr>
            <a:spLocks noGrp="1"/>
          </p:cNvSpPr>
          <p:nvPr/>
        </p:nvSpPr>
        <p:spPr>
          <a:xfrm>
            <a:off x="9528048" y="2029968"/>
            <a:ext cx="1965960" cy="548640"/>
          </a:xfrm>
          <a:prstGeom prst="rect">
            <a:avLst/>
          </a:prstGeom>
          <a:noFill/>
        </p:spPr>
        <p:txBody>
          <a:bodyPr wrap="square" anchor="ctr"/>
          <a:lstStyle/>
          <a:p>
            <a:pPr marL="0" indent="0" algn="ctr">
              <a:buNone/>
            </a:pPr>
            <a:r>
              <a:rPr sz="1050">
                <a:solidFill>
                  <a:srgbClr val="5A6B64"/>
                </a:solidFill>
                <a:latin typeface="맑은 고딕"/>
                <a:ea typeface="맑은 고딕"/>
                <a:cs typeface="맑은 고딕"/>
              </a:rPr>
              <a:t>경계상자 ·</a:t>
            </a:r>
            <a:endParaRPr sz="1050"/>
          </a:p>
          <a:p>
            <a:pPr marL="0" indent="0" algn="ctr">
              <a:buNone/>
            </a:pPr>
            <a:r>
              <a:rPr sz="1050">
                <a:solidFill>
                  <a:srgbClr val="5A6B64"/>
                </a:solidFill>
                <a:latin typeface="맑은 고딕"/>
                <a:ea typeface="맑은 고딕"/>
                <a:cs typeface="맑은 고딕"/>
              </a:rPr>
              <a:t>배출 안내</a:t>
            </a:r>
            <a:endParaRPr sz="1050"/>
          </a:p>
        </p:txBody>
      </p:sp>
      <p:sp>
        <p:nvSpPr>
          <p:cNvPr id="28" name="Shape 26">
            <a:extLst>
              <a:ext uri="{FF2B5EF4-FFF2-40B4-BE49-F238E27FC236}">
                <a16:creationId xmlns:a16="http://schemas.microsoft.com/office/drawing/2014/main" id="{EDEA4076-9C0A-4C3F-8A1E-440E5B3AA7EB}"/>
              </a:ext>
            </a:extLst>
          </p:cNvPr>
          <p:cNvSpPr>
            <a:spLocks noGrp="1"/>
          </p:cNvSpPr>
          <p:nvPr/>
        </p:nvSpPr>
        <p:spPr>
          <a:xfrm>
            <a:off x="566928" y="2788920"/>
            <a:ext cx="11064240" cy="411480"/>
          </a:xfrm>
          <a:prstGeom prst="rect">
            <a:avLst/>
          </a:prstGeom>
          <a:solidFill>
            <a:srgbClr val="FBF3E4"/>
          </a:solidFill>
        </p:spPr>
        <p:txBody>
          <a:bodyPr/>
          <a:lstStyle/>
          <a:p>
            <a:endParaRPr lang="ko-KR" altLang="en-US"/>
          </a:p>
        </p:txBody>
      </p:sp>
      <p:sp>
        <p:nvSpPr>
          <p:cNvPr id="29" name="Text 27">
            <a:extLst>
              <a:ext uri="{FF2B5EF4-FFF2-40B4-BE49-F238E27FC236}">
                <a16:creationId xmlns:a16="http://schemas.microsoft.com/office/drawing/2014/main" id="{6234D51A-F11E-44EE-8780-60F4FE73B0E8}"/>
              </a:ext>
            </a:extLst>
          </p:cNvPr>
          <p:cNvSpPr>
            <a:spLocks noGrp="1"/>
          </p:cNvSpPr>
          <p:nvPr/>
        </p:nvSpPr>
        <p:spPr>
          <a:xfrm>
            <a:off x="566928" y="2788920"/>
            <a:ext cx="11064240" cy="411480"/>
          </a:xfrm>
          <a:prstGeom prst="rect">
            <a:avLst/>
          </a:prstGeom>
          <a:noFill/>
        </p:spPr>
        <p:txBody>
          <a:bodyPr wrap="square" anchor="ctr"/>
          <a:lstStyle/>
          <a:p>
            <a:pPr marL="0" indent="0" algn="ctr">
              <a:buNone/>
            </a:pPr>
            <a:r>
              <a:rPr sz="1150">
                <a:solidFill>
                  <a:srgbClr val="7A6A2E"/>
                </a:solidFill>
                <a:latin typeface="맑은 고딕"/>
                <a:ea typeface="맑은 고딕"/>
                <a:cs typeface="맑은 고딕"/>
              </a:rPr>
              <a:t>외부 평가 조건과 앱 적용 조건은 구분한다. 앱 임계값과 변환 모델 성능은 별도로 검증할 예정이다.</a:t>
            </a:r>
            <a:endParaRPr sz="1150"/>
          </a:p>
        </p:txBody>
      </p:sp>
      <p:sp>
        <p:nvSpPr>
          <p:cNvPr id="30" name="Text 28">
            <a:extLst>
              <a:ext uri="{FF2B5EF4-FFF2-40B4-BE49-F238E27FC236}">
                <a16:creationId xmlns:a16="http://schemas.microsoft.com/office/drawing/2014/main" id="{5051E5A9-FB0A-4AA6-8A2F-005A0E5C94C5}"/>
              </a:ext>
            </a:extLst>
          </p:cNvPr>
          <p:cNvSpPr>
            <a:spLocks noGrp="1"/>
          </p:cNvSpPr>
          <p:nvPr/>
        </p:nvSpPr>
        <p:spPr>
          <a:xfrm>
            <a:off x="548640" y="342900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개발 범위</a:t>
            </a:r>
            <a:endParaRPr sz="1500"/>
          </a:p>
        </p:txBody>
      </p:sp>
      <p:sp>
        <p:nvSpPr>
          <p:cNvPr id="31" name="Shape 29">
            <a:extLst>
              <a:ext uri="{FF2B5EF4-FFF2-40B4-BE49-F238E27FC236}">
                <a16:creationId xmlns:a16="http://schemas.microsoft.com/office/drawing/2014/main" id="{7A2F6D23-C902-479C-A881-5510B6872BE3}"/>
              </a:ext>
            </a:extLst>
          </p:cNvPr>
          <p:cNvSpPr>
            <a:spLocks noGrp="1"/>
          </p:cNvSpPr>
          <p:nvPr/>
        </p:nvSpPr>
        <p:spPr>
          <a:xfrm>
            <a:off x="548640" y="3813048"/>
            <a:ext cx="1005840" cy="41148"/>
          </a:xfrm>
          <a:prstGeom prst="rect">
            <a:avLst/>
          </a:prstGeom>
          <a:solidFill>
            <a:srgbClr val="1F5C4D"/>
          </a:solidFill>
        </p:spPr>
        <p:txBody>
          <a:bodyPr/>
          <a:lstStyle/>
          <a:p>
            <a:endParaRPr lang="ko-KR" altLang="en-US"/>
          </a:p>
        </p:txBody>
      </p:sp>
      <p:graphicFrame>
        <p:nvGraphicFramePr>
          <p:cNvPr id="63" name="Table 0"/>
          <p:cNvGraphicFramePr/>
          <p:nvPr/>
        </p:nvGraphicFramePr>
        <p:xfrm>
          <a:off x="548640" y="3977640"/>
          <a:ext cx="11087100" cy="2190750"/>
        </p:xfrm>
        <a:graphic>
          <a:graphicData uri="http://schemas.openxmlformats.org/drawingml/2006/table">
            <a:tbl>
              <a:tblPr/>
              <a:tblGrid>
                <a:gridCol w="1809750">
                  <a:extLst>
                    <a:ext uri="{9D8B030D-6E8A-4147-A177-3AD203B41FA5}">
                      <a16:colId xmlns:a16="http://schemas.microsoft.com/office/drawing/2014/main" val="20000"/>
                    </a:ext>
                  </a:extLst>
                </a:gridCol>
                <a:gridCol w="9277350">
                  <a:extLst>
                    <a:ext uri="{9D8B030D-6E8A-4147-A177-3AD203B41FA5}">
                      <a16:colId xmlns:a16="http://schemas.microsoft.com/office/drawing/2014/main" val="20001"/>
                    </a:ext>
                  </a:extLst>
                </a:gridCol>
              </a:tblGrid>
              <a:tr h="438150">
                <a:tc>
                  <a:txBody>
                    <a:bodyPr/>
                    <a:lstStyle/>
                    <a:p>
                      <a:pPr marL="0" indent="0" algn="ctr">
                        <a:buNone/>
                      </a:pPr>
                      <a:r>
                        <a:rPr sz="1388" b="1">
                          <a:solidFill>
                            <a:srgbClr val="173F35"/>
                          </a:solidFill>
                          <a:latin typeface="맑은 고딕"/>
                          <a:ea typeface="맑은 고딕"/>
                          <a:cs typeface="맑은 고딕"/>
                        </a:rPr>
                        <a:t>구분</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내용</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438150">
                <a:tc>
                  <a:txBody>
                    <a:bodyPr/>
                    <a:lstStyle/>
                    <a:p>
                      <a:pPr marL="0" indent="0" algn="ctr">
                        <a:buNone/>
                      </a:pPr>
                      <a:r>
                        <a:rPr sz="1388" b="1">
                          <a:solidFill>
                            <a:srgbClr val="202727"/>
                          </a:solidFill>
                          <a:latin typeface="맑은 고딕"/>
                          <a:ea typeface="맑은 고딕"/>
                          <a:cs typeface="맑은 고딕"/>
                        </a:rPr>
                        <a:t>프로젝트 목표</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6종: 종이, 플라스틱, 비닐, 캔, 유리, 배터리</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438150">
                <a:tc>
                  <a:txBody>
                    <a:bodyPr/>
                    <a:lstStyle/>
                    <a:p>
                      <a:pPr marL="0" indent="0" algn="ctr">
                        <a:buNone/>
                      </a:pPr>
                      <a:r>
                        <a:rPr sz="1388" b="1">
                          <a:solidFill>
                            <a:srgbClr val="202727"/>
                          </a:solidFill>
                          <a:latin typeface="맑은 고딕"/>
                          <a:ea typeface="맑은 고딕"/>
                          <a:cs typeface="맑은 고딕"/>
                        </a:rPr>
                        <a:t>이번 모델 평가</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7클래스: 목표 6종에 general(일반쓰레기)을 포함</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438150">
                <a:tc>
                  <a:txBody>
                    <a:bodyPr/>
                    <a:lstStyle/>
                    <a:p>
                      <a:pPr marL="0" indent="0" algn="ctr">
                        <a:buNone/>
                      </a:pPr>
                      <a:r>
                        <a:rPr sz="1388" b="1">
                          <a:solidFill>
                            <a:srgbClr val="202727"/>
                          </a:solidFill>
                          <a:latin typeface="맑은 고딕"/>
                          <a:ea typeface="맑은 고딕"/>
                          <a:cs typeface="맑은 고딕"/>
                        </a:rPr>
                        <a:t>개발 대상</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안드로이드 / 젯슨 오린 나노, 사진 탐지와 배출 안내 연결</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r h="438150">
                <a:tc>
                  <a:txBody>
                    <a:bodyPr/>
                    <a:lstStyle/>
                    <a:p>
                      <a:pPr marL="0" indent="0" algn="ctr">
                        <a:buNone/>
                      </a:pPr>
                      <a:r>
                        <a:rPr sz="1388" b="1">
                          <a:solidFill>
                            <a:srgbClr val="202727"/>
                          </a:solidFill>
                          <a:latin typeface="맑은 고딕"/>
                          <a:ea typeface="맑은 고딕"/>
                          <a:cs typeface="맑은 고딕"/>
                        </a:rPr>
                        <a:t>남은 확인</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앱과 모델의 클래스 대응 통일, 실제 기기 지연 시간 및 안정성 검증</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01312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C86B7F8-4E71-4194-B820-EDD8FB18DB46}"/>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23A9D4A3-494F-4001-9FE9-53D3475B7E10}"/>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02</a:t>
            </a:r>
            <a:endParaRPr sz="2600"/>
          </a:p>
        </p:txBody>
      </p:sp>
      <p:sp>
        <p:nvSpPr>
          <p:cNvPr id="4" name="Text 2">
            <a:extLst>
              <a:ext uri="{FF2B5EF4-FFF2-40B4-BE49-F238E27FC236}">
                <a16:creationId xmlns:a16="http://schemas.microsoft.com/office/drawing/2014/main" id="{FB56FE80-346B-4444-8172-AF1E607F32EA}"/>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프로젝트 팀 구성 및 역할</a:t>
            </a:r>
            <a:endParaRPr sz="1500"/>
          </a:p>
        </p:txBody>
      </p:sp>
      <p:sp>
        <p:nvSpPr>
          <p:cNvPr id="5" name="Text 3">
            <a:extLst>
              <a:ext uri="{FF2B5EF4-FFF2-40B4-BE49-F238E27FC236}">
                <a16:creationId xmlns:a16="http://schemas.microsoft.com/office/drawing/2014/main" id="{D8DE47A0-4DD4-4271-819F-9516FE191923}"/>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팀원별 담당 업무</a:t>
            </a:r>
            <a:endParaRPr sz="1900"/>
          </a:p>
        </p:txBody>
      </p:sp>
      <p:sp>
        <p:nvSpPr>
          <p:cNvPr id="6" name="Text 4">
            <a:extLst>
              <a:ext uri="{FF2B5EF4-FFF2-40B4-BE49-F238E27FC236}">
                <a16:creationId xmlns:a16="http://schemas.microsoft.com/office/drawing/2014/main" id="{1E0BE3AE-2C8C-42A3-942E-D037B8F1F0F1}"/>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5</a:t>
            </a:r>
            <a:endParaRPr sz="1000"/>
          </a:p>
        </p:txBody>
      </p:sp>
      <p:sp>
        <p:nvSpPr>
          <p:cNvPr id="7" name="Text 5">
            <a:extLst>
              <a:ext uri="{FF2B5EF4-FFF2-40B4-BE49-F238E27FC236}">
                <a16:creationId xmlns:a16="http://schemas.microsoft.com/office/drawing/2014/main" id="{F62A1996-D88D-498C-83F8-2308ABE835A3}"/>
              </a:ext>
            </a:extLst>
          </p:cNvPr>
          <p:cNvSpPr>
            <a:spLocks noGrp="1"/>
          </p:cNvSpPr>
          <p:nvPr/>
        </p:nvSpPr>
        <p:spPr>
          <a:xfrm>
            <a:off x="548640" y="10515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팀 구성 : 물시느끝 (4인)</a:t>
            </a:r>
            <a:endParaRPr sz="1500"/>
          </a:p>
        </p:txBody>
      </p:sp>
      <p:sp>
        <p:nvSpPr>
          <p:cNvPr id="8" name="Shape 6">
            <a:extLst>
              <a:ext uri="{FF2B5EF4-FFF2-40B4-BE49-F238E27FC236}">
                <a16:creationId xmlns:a16="http://schemas.microsoft.com/office/drawing/2014/main" id="{F532B426-8601-4CF0-993F-A7A775655C7D}"/>
              </a:ext>
            </a:extLst>
          </p:cNvPr>
          <p:cNvSpPr>
            <a:spLocks noGrp="1"/>
          </p:cNvSpPr>
          <p:nvPr/>
        </p:nvSpPr>
        <p:spPr>
          <a:xfrm>
            <a:off x="548640" y="1435608"/>
            <a:ext cx="1005840" cy="41148"/>
          </a:xfrm>
          <a:prstGeom prst="rect">
            <a:avLst/>
          </a:prstGeom>
          <a:solidFill>
            <a:srgbClr val="1F5C4D"/>
          </a:solidFill>
        </p:spPr>
        <p:txBody>
          <a:bodyPr/>
          <a:lstStyle/>
          <a:p>
            <a:endParaRPr lang="ko-KR" altLang="en-US"/>
          </a:p>
        </p:txBody>
      </p:sp>
      <p:graphicFrame>
        <p:nvGraphicFramePr>
          <p:cNvPr id="22" name="Table 0"/>
          <p:cNvGraphicFramePr/>
          <p:nvPr/>
        </p:nvGraphicFramePr>
        <p:xfrm>
          <a:off x="548640" y="1645920"/>
          <a:ext cx="11087100" cy="2619375"/>
        </p:xfrm>
        <a:graphic>
          <a:graphicData uri="http://schemas.openxmlformats.org/drawingml/2006/table">
            <a:tbl>
              <a:tblPr/>
              <a:tblGrid>
                <a:gridCol w="1276350">
                  <a:extLst>
                    <a:ext uri="{9D8B030D-6E8A-4147-A177-3AD203B41FA5}">
                      <a16:colId xmlns:a16="http://schemas.microsoft.com/office/drawing/2014/main" val="20000"/>
                    </a:ext>
                  </a:extLst>
                </a:gridCol>
                <a:gridCol w="1009650">
                  <a:extLst>
                    <a:ext uri="{9D8B030D-6E8A-4147-A177-3AD203B41FA5}">
                      <a16:colId xmlns:a16="http://schemas.microsoft.com/office/drawing/2014/main" val="20001"/>
                    </a:ext>
                  </a:extLst>
                </a:gridCol>
                <a:gridCol w="5429250">
                  <a:extLst>
                    <a:ext uri="{9D8B030D-6E8A-4147-A177-3AD203B41FA5}">
                      <a16:colId xmlns:a16="http://schemas.microsoft.com/office/drawing/2014/main" val="20002"/>
                    </a:ext>
                  </a:extLst>
                </a:gridCol>
                <a:gridCol w="3371850">
                  <a:extLst>
                    <a:ext uri="{9D8B030D-6E8A-4147-A177-3AD203B41FA5}">
                      <a16:colId xmlns:a16="http://schemas.microsoft.com/office/drawing/2014/main" val="20003"/>
                    </a:ext>
                  </a:extLst>
                </a:gridCol>
              </a:tblGrid>
              <a:tr h="523875">
                <a:tc>
                  <a:txBody>
                    <a:bodyPr/>
                    <a:lstStyle/>
                    <a:p>
                      <a:pPr marL="0" indent="0" algn="ctr">
                        <a:buNone/>
                      </a:pPr>
                      <a:r>
                        <a:rPr sz="1388" b="1">
                          <a:solidFill>
                            <a:srgbClr val="173F35"/>
                          </a:solidFill>
                          <a:latin typeface="맑은 고딕"/>
                          <a:ea typeface="맑은 고딕"/>
                          <a:cs typeface="맑은 고딕"/>
                        </a:rPr>
                        <a:t>팀원</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역할</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주요 담당 업무</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관련 산출물</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523875">
                <a:tc>
                  <a:txBody>
                    <a:bodyPr/>
                    <a:lstStyle/>
                    <a:p>
                      <a:pPr marL="0" indent="0" algn="ctr">
                        <a:buNone/>
                      </a:pPr>
                      <a:r>
                        <a:rPr sz="1388" b="1">
                          <a:solidFill>
                            <a:srgbClr val="202727"/>
                          </a:solidFill>
                          <a:latin typeface="맑은 고딕"/>
                          <a:ea typeface="맑은 고딕"/>
                          <a:cs typeface="맑은 고딕"/>
                        </a:rPr>
                        <a:t>이남호</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팀장</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일정 및 요구사항 관리, 통합 점검, 발표</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수행계획서, 통합 점검 자료</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523875">
                <a:tc>
                  <a:txBody>
                    <a:bodyPr/>
                    <a:lstStyle/>
                    <a:p>
                      <a:pPr marL="0" indent="0" algn="ctr">
                        <a:buNone/>
                      </a:pPr>
                      <a:r>
                        <a:rPr sz="1388" b="1">
                          <a:solidFill>
                            <a:srgbClr val="202727"/>
                          </a:solidFill>
                          <a:latin typeface="맑은 고딕"/>
                          <a:ea typeface="맑은 고딕"/>
                          <a:cs typeface="맑은 고딕"/>
                        </a:rPr>
                        <a:t>김아인</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팀원</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데이터 수집, 라벨 기준 수립, 품질 검수</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데이터셋, 라벨링 기준</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523875">
                <a:tc>
                  <a:txBody>
                    <a:bodyPr/>
                    <a:lstStyle/>
                    <a:p>
                      <a:pPr marL="0" indent="0" algn="ctr">
                        <a:buNone/>
                      </a:pPr>
                      <a:r>
                        <a:rPr sz="1388" b="1">
                          <a:solidFill>
                            <a:srgbClr val="202727"/>
                          </a:solidFill>
                          <a:latin typeface="맑은 고딕"/>
                          <a:ea typeface="맑은 고딕"/>
                          <a:cs typeface="맑은 고딕"/>
                        </a:rPr>
                        <a:t>오승재</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팀원</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객체 탐지 모델 학습 및 평가, 모델 변환</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학습 모델, 성능 비교 자료</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r h="523875">
                <a:tc>
                  <a:txBody>
                    <a:bodyPr/>
                    <a:lstStyle/>
                    <a:p>
                      <a:pPr marL="0" indent="0" algn="ctr">
                        <a:buNone/>
                      </a:pPr>
                      <a:r>
                        <a:rPr sz="1388" b="1">
                          <a:solidFill>
                            <a:srgbClr val="202727"/>
                          </a:solidFill>
                          <a:latin typeface="맑은 고딕"/>
                          <a:ea typeface="맑은 고딕"/>
                          <a:cs typeface="맑은 고딕"/>
                        </a:rPr>
                        <a:t>여동엽</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팀원</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Flutter 앱 개발, SEG 모델 시험, 젯슨 연동</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앱 시제품, 모델 시험 기록</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4"/>
                  </a:ext>
                </a:extLst>
              </a:tr>
            </a:tbl>
          </a:graphicData>
        </a:graphic>
      </p:graphicFrame>
      <p:sp>
        <p:nvSpPr>
          <p:cNvPr id="10" name="Text 7">
            <a:extLst>
              <a:ext uri="{FF2B5EF4-FFF2-40B4-BE49-F238E27FC236}">
                <a16:creationId xmlns:a16="http://schemas.microsoft.com/office/drawing/2014/main" id="{2939CD90-E626-4A45-93F9-CA078478E7AC}"/>
              </a:ext>
            </a:extLst>
          </p:cNvPr>
          <p:cNvSpPr>
            <a:spLocks noGrp="1"/>
          </p:cNvSpPr>
          <p:nvPr/>
        </p:nvSpPr>
        <p:spPr>
          <a:xfrm>
            <a:off x="548640" y="443484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공통 평가 원칙</a:t>
            </a:r>
            <a:endParaRPr sz="1500"/>
          </a:p>
        </p:txBody>
      </p:sp>
      <p:sp>
        <p:nvSpPr>
          <p:cNvPr id="11" name="Shape 8">
            <a:extLst>
              <a:ext uri="{FF2B5EF4-FFF2-40B4-BE49-F238E27FC236}">
                <a16:creationId xmlns:a16="http://schemas.microsoft.com/office/drawing/2014/main" id="{6B84F0EC-5D68-462B-B4DF-C86203AEE732}"/>
              </a:ext>
            </a:extLst>
          </p:cNvPr>
          <p:cNvSpPr>
            <a:spLocks noGrp="1"/>
          </p:cNvSpPr>
          <p:nvPr/>
        </p:nvSpPr>
        <p:spPr>
          <a:xfrm>
            <a:off x="548640" y="4818888"/>
            <a:ext cx="1005840" cy="41148"/>
          </a:xfrm>
          <a:prstGeom prst="rect">
            <a:avLst/>
          </a:prstGeom>
          <a:solidFill>
            <a:srgbClr val="1F5C4D"/>
          </a:solidFill>
        </p:spPr>
        <p:txBody>
          <a:bodyPr/>
          <a:lstStyle/>
          <a:p>
            <a:endParaRPr lang="ko-KR" altLang="en-US"/>
          </a:p>
        </p:txBody>
      </p:sp>
      <p:sp>
        <p:nvSpPr>
          <p:cNvPr id="12" name="Shape 9">
            <a:extLst>
              <a:ext uri="{FF2B5EF4-FFF2-40B4-BE49-F238E27FC236}">
                <a16:creationId xmlns:a16="http://schemas.microsoft.com/office/drawing/2014/main" id="{9C45BB05-1F4E-46A0-AF59-7E2BE8C26F16}"/>
              </a:ext>
            </a:extLst>
          </p:cNvPr>
          <p:cNvSpPr>
            <a:spLocks noGrp="1"/>
          </p:cNvSpPr>
          <p:nvPr/>
        </p:nvSpPr>
        <p:spPr>
          <a:xfrm>
            <a:off x="566928" y="4892040"/>
            <a:ext cx="11064240" cy="1371600"/>
          </a:xfrm>
          <a:prstGeom prst="rect">
            <a:avLst/>
          </a:prstGeom>
          <a:solidFill>
            <a:srgbClr val="F1F5F3"/>
          </a:solidFill>
          <a:ln w="6350">
            <a:solidFill>
              <a:srgbClr val="A8BAB3"/>
            </a:solidFill>
            <a:prstDash val="solid"/>
          </a:ln>
        </p:spPr>
        <p:txBody>
          <a:bodyPr/>
          <a:lstStyle/>
          <a:p>
            <a:endParaRPr lang="ko-KR" altLang="en-US"/>
          </a:p>
        </p:txBody>
      </p:sp>
      <p:sp>
        <p:nvSpPr>
          <p:cNvPr id="13" name="Text 10">
            <a:extLst>
              <a:ext uri="{FF2B5EF4-FFF2-40B4-BE49-F238E27FC236}">
                <a16:creationId xmlns:a16="http://schemas.microsoft.com/office/drawing/2014/main" id="{ACC5F4E4-440B-423F-949B-64D5E811E53B}"/>
              </a:ext>
            </a:extLst>
          </p:cNvPr>
          <p:cNvSpPr>
            <a:spLocks noGrp="1"/>
          </p:cNvSpPr>
          <p:nvPr/>
        </p:nvSpPr>
        <p:spPr>
          <a:xfrm>
            <a:off x="868680" y="5029200"/>
            <a:ext cx="10515600" cy="1097280"/>
          </a:xfrm>
          <a:prstGeom prst="rect">
            <a:avLst/>
          </a:prstGeom>
          <a:noFill/>
        </p:spPr>
        <p:txBody>
          <a:bodyPr anchor="t">
            <a:noAutofit/>
          </a:bodyPr>
          <a:lstStyle/>
          <a:p>
            <a:pPr marL="0" indent="0" algn="l">
              <a:spcAft>
                <a:spcPts val="600"/>
              </a:spcAft>
              <a:buNone/>
              <a:defRPr sz="1500">
                <a:solidFill>
                  <a:srgbClr val="173F35"/>
                </a:solidFill>
                <a:latin typeface="맑은 고딕"/>
                <a:ea typeface="맑은 고딕"/>
                <a:cs typeface="맑은 고딕"/>
              </a:defRPr>
            </a:pPr>
            <a:r>
              <a:rPr sz="1500" i="1">
                <a:solidFill>
                  <a:srgbClr val="173F35"/>
                </a:solidFill>
                <a:latin typeface="맑은 고딕"/>
                <a:ea typeface="맑은 고딕"/>
                <a:cs typeface="맑은 고딕"/>
              </a:rPr>
              <a:t>객체 탐지는 mAP, 정밀도, 재현율을 함께 확인한다.</a:t>
            </a:r>
            <a:endParaRPr sz="1250"/>
          </a:p>
          <a:p>
            <a:pPr marL="0" indent="0" algn="l">
              <a:buNone/>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모델 4종은 동일한 외부 입력과 후처리 조건으로 비교했다.</a:t>
            </a:r>
            <a:endParaRPr sz="1250"/>
          </a:p>
          <a:p>
            <a:pPr marL="0" indent="0" algn="l">
              <a:buNone/>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CPU 측정값과 실제 안드로이드 / 젯슨 성능은 별도로 보고한다.</a:t>
            </a:r>
            <a:endParaRPr sz="1250"/>
          </a:p>
        </p:txBody>
      </p:sp>
    </p:spTree>
    <p:extLst>
      <p:ext uri="{BB962C8B-B14F-4D97-AF65-F5344CB8AC3E}">
        <p14:creationId xmlns:p14="http://schemas.microsoft.com/office/powerpoint/2010/main" val="1228424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354BDCD-27F9-4076-84B0-C9A2DEDEFB06}"/>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8F2FC92E-BE6A-4F1C-9E1F-43D18C58AEFC}"/>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03</a:t>
            </a:r>
            <a:endParaRPr sz="2600"/>
          </a:p>
        </p:txBody>
      </p:sp>
      <p:sp>
        <p:nvSpPr>
          <p:cNvPr id="4" name="Text 2">
            <a:extLst>
              <a:ext uri="{FF2B5EF4-FFF2-40B4-BE49-F238E27FC236}">
                <a16:creationId xmlns:a16="http://schemas.microsoft.com/office/drawing/2014/main" id="{1739EB83-55D9-4652-8C70-6D99CEA74ABC}"/>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프로젝트 수행 절차 및 방법</a:t>
            </a:r>
            <a:endParaRPr sz="1500"/>
          </a:p>
        </p:txBody>
      </p:sp>
      <p:sp>
        <p:nvSpPr>
          <p:cNvPr id="5" name="Text 3">
            <a:extLst>
              <a:ext uri="{FF2B5EF4-FFF2-40B4-BE49-F238E27FC236}">
                <a16:creationId xmlns:a16="http://schemas.microsoft.com/office/drawing/2014/main" id="{550B8E29-4BB1-4E47-ABE1-1B2C4D5CAEDD}"/>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수행 경과 및 남은 일정</a:t>
            </a:r>
            <a:endParaRPr sz="1900"/>
          </a:p>
        </p:txBody>
      </p:sp>
      <p:sp>
        <p:nvSpPr>
          <p:cNvPr id="6" name="Text 4">
            <a:extLst>
              <a:ext uri="{FF2B5EF4-FFF2-40B4-BE49-F238E27FC236}">
                <a16:creationId xmlns:a16="http://schemas.microsoft.com/office/drawing/2014/main" id="{C926FB07-0842-4344-B3C5-594956B307AD}"/>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6</a:t>
            </a:r>
            <a:endParaRPr sz="1000"/>
          </a:p>
        </p:txBody>
      </p:sp>
      <p:sp>
        <p:nvSpPr>
          <p:cNvPr id="7" name="Text 5">
            <a:extLst>
              <a:ext uri="{FF2B5EF4-FFF2-40B4-BE49-F238E27FC236}">
                <a16:creationId xmlns:a16="http://schemas.microsoft.com/office/drawing/2014/main" id="{56521FF4-EE3F-4778-A210-B83B2116FAE1}"/>
              </a:ext>
            </a:extLst>
          </p:cNvPr>
          <p:cNvSpPr>
            <a:spLocks noGrp="1"/>
          </p:cNvSpPr>
          <p:nvPr/>
        </p:nvSpPr>
        <p:spPr>
          <a:xfrm>
            <a:off x="548640" y="10515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계획 기간 : 2026. 09. 07. ~ 09. 16. / 09. 12.~13. 추가 모델 비교 수행</a:t>
            </a:r>
            <a:endParaRPr sz="1500"/>
          </a:p>
        </p:txBody>
      </p:sp>
      <p:sp>
        <p:nvSpPr>
          <p:cNvPr id="8" name="Shape 6">
            <a:extLst>
              <a:ext uri="{FF2B5EF4-FFF2-40B4-BE49-F238E27FC236}">
                <a16:creationId xmlns:a16="http://schemas.microsoft.com/office/drawing/2014/main" id="{81D666B4-34ED-4A6D-A7FF-B897FA81A093}"/>
              </a:ext>
            </a:extLst>
          </p:cNvPr>
          <p:cNvSpPr>
            <a:spLocks noGrp="1"/>
          </p:cNvSpPr>
          <p:nvPr/>
        </p:nvSpPr>
        <p:spPr>
          <a:xfrm>
            <a:off x="548640" y="1435608"/>
            <a:ext cx="1005840" cy="41148"/>
          </a:xfrm>
          <a:prstGeom prst="rect">
            <a:avLst/>
          </a:prstGeom>
          <a:solidFill>
            <a:srgbClr val="1F5C4D"/>
          </a:solidFill>
        </p:spPr>
        <p:txBody>
          <a:bodyPr/>
          <a:lstStyle/>
          <a:p>
            <a:endParaRPr lang="ko-KR" altLang="en-US"/>
          </a:p>
        </p:txBody>
      </p:sp>
      <p:graphicFrame>
        <p:nvGraphicFramePr>
          <p:cNvPr id="34" name="Table 0"/>
          <p:cNvGraphicFramePr/>
          <p:nvPr>
            <p:extLst>
              <p:ext uri="{D42A27DB-BD31-4B8C-83A1-F6EECF244321}">
                <p14:modId xmlns:p14="http://schemas.microsoft.com/office/powerpoint/2010/main" val="847448880"/>
              </p:ext>
            </p:extLst>
          </p:nvPr>
        </p:nvGraphicFramePr>
        <p:xfrm>
          <a:off x="548640" y="1645920"/>
          <a:ext cx="11087100" cy="3067050"/>
        </p:xfrm>
        <a:graphic>
          <a:graphicData uri="http://schemas.openxmlformats.org/drawingml/2006/table">
            <a:tbl>
              <a:tblPr/>
              <a:tblGrid>
                <a:gridCol w="169545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550545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38150">
                <a:tc>
                  <a:txBody>
                    <a:bodyPr/>
                    <a:lstStyle/>
                    <a:p>
                      <a:pPr marL="0" indent="0" algn="ctr">
                        <a:buNone/>
                      </a:pPr>
                      <a:r>
                        <a:rPr sz="1388" b="1">
                          <a:solidFill>
                            <a:srgbClr val="173F35"/>
                          </a:solidFill>
                          <a:latin typeface="맑은 고딕"/>
                          <a:ea typeface="맑은 고딕"/>
                          <a:cs typeface="맑은 고딕"/>
                        </a:rPr>
                        <a:t>단계</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기간</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주요 작업</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상태</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438150">
                <a:tc>
                  <a:txBody>
                    <a:bodyPr/>
                    <a:lstStyle/>
                    <a:p>
                      <a:pPr marL="0" indent="0" algn="ctr">
                        <a:buNone/>
                      </a:pPr>
                      <a:r>
                        <a:rPr sz="1388" b="1">
                          <a:solidFill>
                            <a:srgbClr val="202727"/>
                          </a:solidFill>
                          <a:latin typeface="맑은 고딕"/>
                          <a:ea typeface="맑은 고딕"/>
                          <a:cs typeface="맑은 고딕"/>
                        </a:rPr>
                        <a:t>데이터 준비</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9/7 ~ 9/9</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수집, 클래스 및 라벨링 기준 정리</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기초 구축</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438150">
                <a:tc>
                  <a:txBody>
                    <a:bodyPr/>
                    <a:lstStyle/>
                    <a:p>
                      <a:pPr marL="0" indent="0" algn="ctr">
                        <a:buNone/>
                      </a:pPr>
                      <a:r>
                        <a:rPr sz="1388" b="1">
                          <a:solidFill>
                            <a:srgbClr val="202727"/>
                          </a:solidFill>
                          <a:latin typeface="맑은 고딕"/>
                          <a:ea typeface="맑은 고딕"/>
                          <a:cs typeface="맑은 고딕"/>
                        </a:rPr>
                        <a:t>초기 모델 시험</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9/10 ~ 9/11</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학습 모델 시험, 사진 입력 전환 논의</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회의 및 일지 기록</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438150">
                <a:tc>
                  <a:txBody>
                    <a:bodyPr/>
                    <a:lstStyle/>
                    <a:p>
                      <a:pPr marL="0" indent="0" algn="ctr">
                        <a:buNone/>
                      </a:pPr>
                      <a:r>
                        <a:rPr sz="1388" b="1">
                          <a:solidFill>
                            <a:srgbClr val="202727"/>
                          </a:solidFill>
                          <a:latin typeface="맑은 고딕"/>
                          <a:ea typeface="맑은 고딕"/>
                          <a:cs typeface="맑은 고딕"/>
                        </a:rPr>
                        <a:t>외부 비교</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9/12 ~ 9/13</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4종 모델, 배경과 밝기·흐림 시험</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확장 비교보고서 완료</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r h="438150">
                <a:tc>
                  <a:txBody>
                    <a:bodyPr/>
                    <a:lstStyle/>
                    <a:p>
                      <a:pPr marL="0" indent="0" algn="ctr">
                        <a:buNone/>
                      </a:pPr>
                      <a:r>
                        <a:rPr sz="1388" b="1">
                          <a:solidFill>
                            <a:srgbClr val="202727"/>
                          </a:solidFill>
                          <a:latin typeface="맑은 고딕"/>
                          <a:ea typeface="맑은 고딕"/>
                          <a:cs typeface="맑은 고딕"/>
                        </a:rPr>
                        <a:t>임시 1차 발표</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9/14</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중간 결과 공유, 우선 개선 항목 정리</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현재 단계</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4"/>
                  </a:ext>
                </a:extLst>
              </a:tr>
              <a:tr h="438150">
                <a:tc>
                  <a:txBody>
                    <a:bodyPr/>
                    <a:lstStyle/>
                    <a:p>
                      <a:pPr marL="0" indent="0" algn="ctr">
                        <a:buNone/>
                      </a:pPr>
                      <a:endParaRPr sz="11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endParaRPr sz="11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endParaRPr sz="11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endParaRPr sz="11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5"/>
                  </a:ext>
                </a:extLst>
              </a:tr>
              <a:tr h="438150">
                <a:tc>
                  <a:txBody>
                    <a:bodyPr/>
                    <a:lstStyle/>
                    <a:p>
                      <a:pPr marL="0" indent="0" algn="ctr">
                        <a:buNone/>
                      </a:pP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endParaRPr sz="11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endParaRPr sz="11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endParaRPr sz="11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6"/>
                  </a:ext>
                </a:extLst>
              </a:tr>
            </a:tbl>
          </a:graphicData>
        </a:graphic>
      </p:graphicFrame>
      <p:sp>
        <p:nvSpPr>
          <p:cNvPr id="10" name="Text 7">
            <a:extLst>
              <a:ext uri="{FF2B5EF4-FFF2-40B4-BE49-F238E27FC236}">
                <a16:creationId xmlns:a16="http://schemas.microsoft.com/office/drawing/2014/main" id="{01D82059-7096-454B-8FF8-3692A06D593D}"/>
              </a:ext>
            </a:extLst>
          </p:cNvPr>
          <p:cNvSpPr>
            <a:spLocks noGrp="1"/>
          </p:cNvSpPr>
          <p:nvPr/>
        </p:nvSpPr>
        <p:spPr>
          <a:xfrm>
            <a:off x="548640" y="512064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현재까지 확인한 단계와 후속 작업</a:t>
            </a:r>
            <a:endParaRPr sz="1500"/>
          </a:p>
        </p:txBody>
      </p:sp>
      <p:sp>
        <p:nvSpPr>
          <p:cNvPr id="11" name="Shape 8">
            <a:extLst>
              <a:ext uri="{FF2B5EF4-FFF2-40B4-BE49-F238E27FC236}">
                <a16:creationId xmlns:a16="http://schemas.microsoft.com/office/drawing/2014/main" id="{8652314F-5D36-4CFF-B4FF-51DBD38FB1B3}"/>
              </a:ext>
            </a:extLst>
          </p:cNvPr>
          <p:cNvSpPr>
            <a:spLocks noGrp="1"/>
          </p:cNvSpPr>
          <p:nvPr/>
        </p:nvSpPr>
        <p:spPr>
          <a:xfrm>
            <a:off x="548640" y="5504688"/>
            <a:ext cx="1005840" cy="41148"/>
          </a:xfrm>
          <a:prstGeom prst="rect">
            <a:avLst/>
          </a:prstGeom>
          <a:solidFill>
            <a:srgbClr val="1F5C4D"/>
          </a:solidFill>
        </p:spPr>
        <p:txBody>
          <a:bodyPr/>
          <a:lstStyle/>
          <a:p>
            <a:endParaRPr lang="ko-KR" altLang="en-US"/>
          </a:p>
        </p:txBody>
      </p:sp>
      <p:sp>
        <p:nvSpPr>
          <p:cNvPr id="12" name="Shape 9">
            <a:extLst>
              <a:ext uri="{FF2B5EF4-FFF2-40B4-BE49-F238E27FC236}">
                <a16:creationId xmlns:a16="http://schemas.microsoft.com/office/drawing/2014/main" id="{C5E43045-D397-4357-806F-EA75D14FA32A}"/>
              </a:ext>
            </a:extLst>
          </p:cNvPr>
          <p:cNvSpPr>
            <a:spLocks noGrp="1"/>
          </p:cNvSpPr>
          <p:nvPr/>
        </p:nvSpPr>
        <p:spPr>
          <a:xfrm>
            <a:off x="566928" y="5623560"/>
            <a:ext cx="1965960" cy="548640"/>
          </a:xfrm>
          <a:prstGeom prst="rect">
            <a:avLst/>
          </a:prstGeom>
          <a:solidFill>
            <a:srgbClr val="F1F5F3"/>
          </a:solidFill>
          <a:ln w="6350">
            <a:solidFill>
              <a:srgbClr val="A8BAB3"/>
            </a:solidFill>
            <a:prstDash val="solid"/>
          </a:ln>
        </p:spPr>
        <p:txBody>
          <a:bodyPr/>
          <a:lstStyle/>
          <a:p>
            <a:endParaRPr lang="ko-KR" altLang="en-US"/>
          </a:p>
        </p:txBody>
      </p:sp>
      <p:sp>
        <p:nvSpPr>
          <p:cNvPr id="13" name="Text 10">
            <a:extLst>
              <a:ext uri="{FF2B5EF4-FFF2-40B4-BE49-F238E27FC236}">
                <a16:creationId xmlns:a16="http://schemas.microsoft.com/office/drawing/2014/main" id="{E21D4DC2-8986-4675-A042-B8FD1025A0EE}"/>
              </a:ext>
            </a:extLst>
          </p:cNvPr>
          <p:cNvSpPr>
            <a:spLocks noGrp="1"/>
          </p:cNvSpPr>
          <p:nvPr/>
        </p:nvSpPr>
        <p:spPr>
          <a:xfrm>
            <a:off x="566928" y="5623560"/>
            <a:ext cx="1965960" cy="548640"/>
          </a:xfrm>
          <a:prstGeom prst="rect">
            <a:avLst/>
          </a:prstGeom>
          <a:noFill/>
        </p:spPr>
        <p:txBody>
          <a:bodyPr wrap="square" anchor="ctr"/>
          <a:lstStyle/>
          <a:p>
            <a:pPr marL="0" indent="0" algn="ctr">
              <a:buNone/>
            </a:pPr>
            <a:r>
              <a:rPr sz="1100">
                <a:solidFill>
                  <a:srgbClr val="143C32"/>
                </a:solidFill>
                <a:latin typeface="맑은 고딕"/>
                <a:ea typeface="맑은 고딕"/>
                <a:cs typeface="맑은 고딕"/>
              </a:rPr>
              <a:t>데이터 준비</a:t>
            </a:r>
            <a:endParaRPr sz="1100"/>
          </a:p>
        </p:txBody>
      </p:sp>
      <p:sp>
        <p:nvSpPr>
          <p:cNvPr id="14" name="Text 11">
            <a:extLst>
              <a:ext uri="{FF2B5EF4-FFF2-40B4-BE49-F238E27FC236}">
                <a16:creationId xmlns:a16="http://schemas.microsoft.com/office/drawing/2014/main" id="{036C4FB0-2B34-4A92-9C60-81673E88809A}"/>
              </a:ext>
            </a:extLst>
          </p:cNvPr>
          <p:cNvSpPr>
            <a:spLocks noGrp="1"/>
          </p:cNvSpPr>
          <p:nvPr/>
        </p:nvSpPr>
        <p:spPr>
          <a:xfrm>
            <a:off x="2542032" y="5733288"/>
            <a:ext cx="274320" cy="274320"/>
          </a:xfrm>
          <a:prstGeom prst="rect">
            <a:avLst/>
          </a:prstGeom>
          <a:noFill/>
        </p:spPr>
        <p:txBody>
          <a:bodyPr wrap="square" anchor="ctr"/>
          <a:lstStyle/>
          <a:p>
            <a:pPr marL="0" indent="0" algn="ctr">
              <a:buNone/>
            </a:pPr>
            <a:r>
              <a:rPr sz="1200">
                <a:solidFill>
                  <a:srgbClr val="1F5C4D"/>
                </a:solidFill>
                <a:latin typeface="맑은 고딕"/>
                <a:ea typeface="맑은 고딕"/>
                <a:cs typeface="맑은 고딕"/>
              </a:rPr>
              <a:t>▶</a:t>
            </a:r>
            <a:endParaRPr sz="1200"/>
          </a:p>
        </p:txBody>
      </p:sp>
      <p:sp>
        <p:nvSpPr>
          <p:cNvPr id="15" name="Shape 12">
            <a:extLst>
              <a:ext uri="{FF2B5EF4-FFF2-40B4-BE49-F238E27FC236}">
                <a16:creationId xmlns:a16="http://schemas.microsoft.com/office/drawing/2014/main" id="{F04100AF-0507-4B00-96F9-3B17F3DD281A}"/>
              </a:ext>
            </a:extLst>
          </p:cNvPr>
          <p:cNvSpPr>
            <a:spLocks noGrp="1"/>
          </p:cNvSpPr>
          <p:nvPr/>
        </p:nvSpPr>
        <p:spPr>
          <a:xfrm>
            <a:off x="2807208" y="5623560"/>
            <a:ext cx="1965960" cy="548640"/>
          </a:xfrm>
          <a:prstGeom prst="rect">
            <a:avLst/>
          </a:prstGeom>
          <a:solidFill>
            <a:srgbClr val="F1F5F3"/>
          </a:solidFill>
          <a:ln w="6350">
            <a:solidFill>
              <a:srgbClr val="A8BAB3"/>
            </a:solidFill>
            <a:prstDash val="solid"/>
          </a:ln>
        </p:spPr>
        <p:txBody>
          <a:bodyPr/>
          <a:lstStyle/>
          <a:p>
            <a:endParaRPr lang="ko-KR" altLang="en-US"/>
          </a:p>
        </p:txBody>
      </p:sp>
      <p:sp>
        <p:nvSpPr>
          <p:cNvPr id="16" name="Text 13">
            <a:extLst>
              <a:ext uri="{FF2B5EF4-FFF2-40B4-BE49-F238E27FC236}">
                <a16:creationId xmlns:a16="http://schemas.microsoft.com/office/drawing/2014/main" id="{049F600E-3109-494E-864F-D0AA3AD5FB77}"/>
              </a:ext>
            </a:extLst>
          </p:cNvPr>
          <p:cNvSpPr>
            <a:spLocks noGrp="1"/>
          </p:cNvSpPr>
          <p:nvPr/>
        </p:nvSpPr>
        <p:spPr>
          <a:xfrm>
            <a:off x="2807208" y="5623560"/>
            <a:ext cx="1965960" cy="548640"/>
          </a:xfrm>
          <a:prstGeom prst="rect">
            <a:avLst/>
          </a:prstGeom>
          <a:noFill/>
        </p:spPr>
        <p:txBody>
          <a:bodyPr wrap="square" anchor="ctr"/>
          <a:lstStyle/>
          <a:p>
            <a:pPr marL="0" indent="0" algn="ctr">
              <a:buNone/>
            </a:pPr>
            <a:r>
              <a:rPr sz="1100">
                <a:solidFill>
                  <a:srgbClr val="143C32"/>
                </a:solidFill>
                <a:latin typeface="맑은 고딕"/>
                <a:ea typeface="맑은 고딕"/>
                <a:cs typeface="맑은 고딕"/>
              </a:rPr>
              <a:t>모델 학습</a:t>
            </a:r>
            <a:endParaRPr sz="1100"/>
          </a:p>
        </p:txBody>
      </p:sp>
      <p:sp>
        <p:nvSpPr>
          <p:cNvPr id="17" name="Text 14">
            <a:extLst>
              <a:ext uri="{FF2B5EF4-FFF2-40B4-BE49-F238E27FC236}">
                <a16:creationId xmlns:a16="http://schemas.microsoft.com/office/drawing/2014/main" id="{C4DD5784-5BA6-469B-AAF9-0767AB9C0F1C}"/>
              </a:ext>
            </a:extLst>
          </p:cNvPr>
          <p:cNvSpPr>
            <a:spLocks noGrp="1"/>
          </p:cNvSpPr>
          <p:nvPr/>
        </p:nvSpPr>
        <p:spPr>
          <a:xfrm>
            <a:off x="4782312" y="5733288"/>
            <a:ext cx="274320" cy="274320"/>
          </a:xfrm>
          <a:prstGeom prst="rect">
            <a:avLst/>
          </a:prstGeom>
          <a:noFill/>
        </p:spPr>
        <p:txBody>
          <a:bodyPr wrap="square" anchor="ctr"/>
          <a:lstStyle/>
          <a:p>
            <a:pPr marL="0" indent="0" algn="ctr">
              <a:buNone/>
            </a:pPr>
            <a:r>
              <a:rPr sz="1200">
                <a:solidFill>
                  <a:srgbClr val="1F5C4D"/>
                </a:solidFill>
                <a:latin typeface="맑은 고딕"/>
                <a:ea typeface="맑은 고딕"/>
                <a:cs typeface="맑은 고딕"/>
              </a:rPr>
              <a:t>▶</a:t>
            </a:r>
            <a:endParaRPr sz="1200"/>
          </a:p>
        </p:txBody>
      </p:sp>
      <p:sp>
        <p:nvSpPr>
          <p:cNvPr id="18" name="Shape 15">
            <a:extLst>
              <a:ext uri="{FF2B5EF4-FFF2-40B4-BE49-F238E27FC236}">
                <a16:creationId xmlns:a16="http://schemas.microsoft.com/office/drawing/2014/main" id="{5C84A152-5D73-42F5-8DB4-0DB6ECA4ADD0}"/>
              </a:ext>
            </a:extLst>
          </p:cNvPr>
          <p:cNvSpPr>
            <a:spLocks noGrp="1"/>
          </p:cNvSpPr>
          <p:nvPr/>
        </p:nvSpPr>
        <p:spPr>
          <a:xfrm>
            <a:off x="5047488" y="5623560"/>
            <a:ext cx="1965960" cy="548640"/>
          </a:xfrm>
          <a:prstGeom prst="rect">
            <a:avLst/>
          </a:prstGeom>
          <a:solidFill>
            <a:srgbClr val="F1F5F3"/>
          </a:solidFill>
          <a:ln w="6350">
            <a:solidFill>
              <a:srgbClr val="A8BAB3"/>
            </a:solidFill>
            <a:prstDash val="solid"/>
          </a:ln>
        </p:spPr>
        <p:txBody>
          <a:bodyPr/>
          <a:lstStyle/>
          <a:p>
            <a:endParaRPr lang="ko-KR" altLang="en-US"/>
          </a:p>
        </p:txBody>
      </p:sp>
      <p:sp>
        <p:nvSpPr>
          <p:cNvPr id="19" name="Text 16">
            <a:extLst>
              <a:ext uri="{FF2B5EF4-FFF2-40B4-BE49-F238E27FC236}">
                <a16:creationId xmlns:a16="http://schemas.microsoft.com/office/drawing/2014/main" id="{8170AC80-2C98-4907-80DF-4D3DF0C8E798}"/>
              </a:ext>
            </a:extLst>
          </p:cNvPr>
          <p:cNvSpPr>
            <a:spLocks noGrp="1"/>
          </p:cNvSpPr>
          <p:nvPr/>
        </p:nvSpPr>
        <p:spPr>
          <a:xfrm>
            <a:off x="5047488" y="5623560"/>
            <a:ext cx="1965960" cy="548640"/>
          </a:xfrm>
          <a:prstGeom prst="rect">
            <a:avLst/>
          </a:prstGeom>
          <a:noFill/>
        </p:spPr>
        <p:txBody>
          <a:bodyPr wrap="square" anchor="ctr"/>
          <a:lstStyle/>
          <a:p>
            <a:pPr marL="0" indent="0" algn="ctr">
              <a:buNone/>
            </a:pPr>
            <a:r>
              <a:rPr sz="1100">
                <a:solidFill>
                  <a:srgbClr val="143C32"/>
                </a:solidFill>
                <a:latin typeface="맑은 고딕"/>
                <a:ea typeface="맑은 고딕"/>
                <a:cs typeface="맑은 고딕"/>
              </a:rPr>
              <a:t>4종 외부 비교</a:t>
            </a:r>
            <a:endParaRPr sz="1100"/>
          </a:p>
        </p:txBody>
      </p:sp>
      <p:sp>
        <p:nvSpPr>
          <p:cNvPr id="20" name="Text 17">
            <a:extLst>
              <a:ext uri="{FF2B5EF4-FFF2-40B4-BE49-F238E27FC236}">
                <a16:creationId xmlns:a16="http://schemas.microsoft.com/office/drawing/2014/main" id="{FE13FF48-5247-4745-9871-72AFBA767731}"/>
              </a:ext>
            </a:extLst>
          </p:cNvPr>
          <p:cNvSpPr>
            <a:spLocks noGrp="1"/>
          </p:cNvSpPr>
          <p:nvPr/>
        </p:nvSpPr>
        <p:spPr>
          <a:xfrm>
            <a:off x="7022592" y="5733288"/>
            <a:ext cx="274320" cy="274320"/>
          </a:xfrm>
          <a:prstGeom prst="rect">
            <a:avLst/>
          </a:prstGeom>
          <a:noFill/>
        </p:spPr>
        <p:txBody>
          <a:bodyPr wrap="square" anchor="ctr"/>
          <a:lstStyle/>
          <a:p>
            <a:pPr marL="0" indent="0" algn="ctr">
              <a:buNone/>
            </a:pPr>
            <a:r>
              <a:rPr sz="1200">
                <a:solidFill>
                  <a:srgbClr val="1F5C4D"/>
                </a:solidFill>
                <a:latin typeface="맑은 고딕"/>
                <a:ea typeface="맑은 고딕"/>
                <a:cs typeface="맑은 고딕"/>
              </a:rPr>
              <a:t>▶</a:t>
            </a:r>
            <a:endParaRPr sz="1200"/>
          </a:p>
        </p:txBody>
      </p:sp>
      <p:sp>
        <p:nvSpPr>
          <p:cNvPr id="21" name="Shape 18">
            <a:extLst>
              <a:ext uri="{FF2B5EF4-FFF2-40B4-BE49-F238E27FC236}">
                <a16:creationId xmlns:a16="http://schemas.microsoft.com/office/drawing/2014/main" id="{8C8376AA-BB54-4984-8586-C3E7C1FCB1F3}"/>
              </a:ext>
            </a:extLst>
          </p:cNvPr>
          <p:cNvSpPr>
            <a:spLocks noGrp="1"/>
          </p:cNvSpPr>
          <p:nvPr/>
        </p:nvSpPr>
        <p:spPr>
          <a:xfrm>
            <a:off x="7287768" y="5623560"/>
            <a:ext cx="1965960" cy="548640"/>
          </a:xfrm>
          <a:prstGeom prst="rect">
            <a:avLst/>
          </a:prstGeom>
          <a:solidFill>
            <a:srgbClr val="F1F5F3"/>
          </a:solidFill>
          <a:ln w="6350">
            <a:solidFill>
              <a:srgbClr val="A8BAB3"/>
            </a:solidFill>
            <a:prstDash val="solid"/>
          </a:ln>
        </p:spPr>
        <p:txBody>
          <a:bodyPr/>
          <a:lstStyle/>
          <a:p>
            <a:endParaRPr lang="ko-KR" altLang="en-US"/>
          </a:p>
        </p:txBody>
      </p:sp>
      <p:sp>
        <p:nvSpPr>
          <p:cNvPr id="22" name="Text 19">
            <a:extLst>
              <a:ext uri="{FF2B5EF4-FFF2-40B4-BE49-F238E27FC236}">
                <a16:creationId xmlns:a16="http://schemas.microsoft.com/office/drawing/2014/main" id="{31B17F16-2A7B-4A3C-B253-ACA0F1219490}"/>
              </a:ext>
            </a:extLst>
          </p:cNvPr>
          <p:cNvSpPr>
            <a:spLocks noGrp="1"/>
          </p:cNvSpPr>
          <p:nvPr/>
        </p:nvSpPr>
        <p:spPr>
          <a:xfrm>
            <a:off x="7287768" y="5623560"/>
            <a:ext cx="1965960" cy="548640"/>
          </a:xfrm>
          <a:prstGeom prst="rect">
            <a:avLst/>
          </a:prstGeom>
          <a:noFill/>
        </p:spPr>
        <p:txBody>
          <a:bodyPr wrap="square" anchor="ctr"/>
          <a:lstStyle/>
          <a:p>
            <a:pPr marL="0" indent="0" algn="ctr">
              <a:buNone/>
            </a:pPr>
            <a:r>
              <a:rPr sz="1100">
                <a:solidFill>
                  <a:srgbClr val="143C32"/>
                </a:solidFill>
                <a:latin typeface="맑은 고딕"/>
                <a:ea typeface="맑은 고딕"/>
                <a:cs typeface="맑은 고딕"/>
              </a:rPr>
              <a:t>오류·라벨 보완</a:t>
            </a:r>
            <a:endParaRPr sz="1100"/>
          </a:p>
        </p:txBody>
      </p:sp>
      <p:sp>
        <p:nvSpPr>
          <p:cNvPr id="23" name="Text 20">
            <a:extLst>
              <a:ext uri="{FF2B5EF4-FFF2-40B4-BE49-F238E27FC236}">
                <a16:creationId xmlns:a16="http://schemas.microsoft.com/office/drawing/2014/main" id="{13319A8D-F3D0-41CE-B421-BDAEA4D69BCC}"/>
              </a:ext>
            </a:extLst>
          </p:cNvPr>
          <p:cNvSpPr>
            <a:spLocks noGrp="1"/>
          </p:cNvSpPr>
          <p:nvPr/>
        </p:nvSpPr>
        <p:spPr>
          <a:xfrm>
            <a:off x="9262872" y="5733288"/>
            <a:ext cx="274320" cy="274320"/>
          </a:xfrm>
          <a:prstGeom prst="rect">
            <a:avLst/>
          </a:prstGeom>
          <a:noFill/>
        </p:spPr>
        <p:txBody>
          <a:bodyPr wrap="square" anchor="ctr"/>
          <a:lstStyle/>
          <a:p>
            <a:pPr marL="0" indent="0" algn="ctr">
              <a:buNone/>
            </a:pPr>
            <a:r>
              <a:rPr sz="1200">
                <a:solidFill>
                  <a:srgbClr val="1F5C4D"/>
                </a:solidFill>
                <a:latin typeface="맑은 고딕"/>
                <a:ea typeface="맑은 고딕"/>
                <a:cs typeface="맑은 고딕"/>
              </a:rPr>
              <a:t>▶</a:t>
            </a:r>
            <a:endParaRPr sz="1200"/>
          </a:p>
        </p:txBody>
      </p:sp>
      <p:sp>
        <p:nvSpPr>
          <p:cNvPr id="24" name="Shape 21">
            <a:extLst>
              <a:ext uri="{FF2B5EF4-FFF2-40B4-BE49-F238E27FC236}">
                <a16:creationId xmlns:a16="http://schemas.microsoft.com/office/drawing/2014/main" id="{6D05BBEA-8B98-4F9A-A2FF-25B683F1ED65}"/>
              </a:ext>
            </a:extLst>
          </p:cNvPr>
          <p:cNvSpPr>
            <a:spLocks noGrp="1"/>
          </p:cNvSpPr>
          <p:nvPr/>
        </p:nvSpPr>
        <p:spPr>
          <a:xfrm>
            <a:off x="9528048" y="5623560"/>
            <a:ext cx="1965960" cy="548640"/>
          </a:xfrm>
          <a:prstGeom prst="rect">
            <a:avLst/>
          </a:prstGeom>
          <a:solidFill>
            <a:srgbClr val="DCE7E2"/>
          </a:solidFill>
          <a:ln w="6350">
            <a:solidFill>
              <a:srgbClr val="A8BAB3"/>
            </a:solidFill>
            <a:prstDash val="solid"/>
          </a:ln>
        </p:spPr>
        <p:txBody>
          <a:bodyPr/>
          <a:lstStyle/>
          <a:p>
            <a:endParaRPr lang="ko-KR" altLang="en-US"/>
          </a:p>
        </p:txBody>
      </p:sp>
      <p:sp>
        <p:nvSpPr>
          <p:cNvPr id="25" name="Text 22">
            <a:extLst>
              <a:ext uri="{FF2B5EF4-FFF2-40B4-BE49-F238E27FC236}">
                <a16:creationId xmlns:a16="http://schemas.microsoft.com/office/drawing/2014/main" id="{7F3B8727-AF5C-4198-A98E-5028F4616A9B}"/>
              </a:ext>
            </a:extLst>
          </p:cNvPr>
          <p:cNvSpPr>
            <a:spLocks noGrp="1"/>
          </p:cNvSpPr>
          <p:nvPr/>
        </p:nvSpPr>
        <p:spPr>
          <a:xfrm>
            <a:off x="9528048" y="5623560"/>
            <a:ext cx="1965960" cy="548640"/>
          </a:xfrm>
          <a:prstGeom prst="rect">
            <a:avLst/>
          </a:prstGeom>
          <a:noFill/>
        </p:spPr>
        <p:txBody>
          <a:bodyPr wrap="square" anchor="ctr"/>
          <a:lstStyle/>
          <a:p>
            <a:pPr marL="0" indent="0" algn="ctr">
              <a:buNone/>
            </a:pPr>
            <a:r>
              <a:rPr sz="1100">
                <a:solidFill>
                  <a:srgbClr val="143C32"/>
                </a:solidFill>
                <a:latin typeface="맑은 고딕"/>
                <a:ea typeface="맑은 고딕"/>
                <a:cs typeface="맑은 고딕"/>
              </a:rPr>
              <a:t>앱 검증·최종 발표</a:t>
            </a:r>
            <a:endParaRPr sz="1100"/>
          </a:p>
        </p:txBody>
      </p:sp>
    </p:spTree>
    <p:extLst>
      <p:ext uri="{BB962C8B-B14F-4D97-AF65-F5344CB8AC3E}">
        <p14:creationId xmlns:p14="http://schemas.microsoft.com/office/powerpoint/2010/main" val="1330096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8479A10-E910-4011-A3D2-4F8CA2B42C1F}"/>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28CF4354-FCCE-44AE-B5EE-C9C58A4B4D30}"/>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04</a:t>
            </a:r>
            <a:endParaRPr sz="2600"/>
          </a:p>
        </p:txBody>
      </p:sp>
      <p:sp>
        <p:nvSpPr>
          <p:cNvPr id="4" name="Text 2">
            <a:extLst>
              <a:ext uri="{FF2B5EF4-FFF2-40B4-BE49-F238E27FC236}">
                <a16:creationId xmlns:a16="http://schemas.microsoft.com/office/drawing/2014/main" id="{D86C6C74-BD2D-428F-80FA-42BBCDCC779A}"/>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프로젝트 수행 경과</a:t>
            </a:r>
            <a:endParaRPr sz="1500"/>
          </a:p>
        </p:txBody>
      </p:sp>
      <p:sp>
        <p:nvSpPr>
          <p:cNvPr id="5" name="Text 3">
            <a:extLst>
              <a:ext uri="{FF2B5EF4-FFF2-40B4-BE49-F238E27FC236}">
                <a16:creationId xmlns:a16="http://schemas.microsoft.com/office/drawing/2014/main" id="{FB077485-378C-4D9C-96E5-289704CB4F35}"/>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외부 평가 데이터와 조건</a:t>
            </a:r>
            <a:endParaRPr sz="1900"/>
          </a:p>
        </p:txBody>
      </p:sp>
      <p:sp>
        <p:nvSpPr>
          <p:cNvPr id="6" name="Text 4">
            <a:extLst>
              <a:ext uri="{FF2B5EF4-FFF2-40B4-BE49-F238E27FC236}">
                <a16:creationId xmlns:a16="http://schemas.microsoft.com/office/drawing/2014/main" id="{F81161EC-F3EE-432F-98D8-1E54DF34B3F2}"/>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7</a:t>
            </a:r>
            <a:endParaRPr sz="1000"/>
          </a:p>
        </p:txBody>
      </p:sp>
      <p:sp>
        <p:nvSpPr>
          <p:cNvPr id="7" name="Text 5">
            <a:extLst>
              <a:ext uri="{FF2B5EF4-FFF2-40B4-BE49-F238E27FC236}">
                <a16:creationId xmlns:a16="http://schemas.microsoft.com/office/drawing/2014/main" id="{9D883C39-23C9-47D9-918F-C3DD1717000D}"/>
              </a:ext>
            </a:extLst>
          </p:cNvPr>
          <p:cNvSpPr>
            <a:spLocks noGrp="1"/>
          </p:cNvSpPr>
          <p:nvPr/>
        </p:nvSpPr>
        <p:spPr>
          <a:xfrm>
            <a:off x="548640" y="10515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원본 270장 + 파생 입력 84개 = 모델당 354개 입력</a:t>
            </a:r>
            <a:endParaRPr sz="1500"/>
          </a:p>
        </p:txBody>
      </p:sp>
      <p:sp>
        <p:nvSpPr>
          <p:cNvPr id="8" name="Shape 6">
            <a:extLst>
              <a:ext uri="{FF2B5EF4-FFF2-40B4-BE49-F238E27FC236}">
                <a16:creationId xmlns:a16="http://schemas.microsoft.com/office/drawing/2014/main" id="{6DA6352A-A6AB-47F3-B04D-BB59F8769361}"/>
              </a:ext>
            </a:extLst>
          </p:cNvPr>
          <p:cNvSpPr>
            <a:spLocks noGrp="1"/>
          </p:cNvSpPr>
          <p:nvPr/>
        </p:nvSpPr>
        <p:spPr>
          <a:xfrm>
            <a:off x="548640" y="1435608"/>
            <a:ext cx="1005840" cy="41148"/>
          </a:xfrm>
          <a:prstGeom prst="rect">
            <a:avLst/>
          </a:prstGeom>
          <a:solidFill>
            <a:srgbClr val="1F5C4D"/>
          </a:solidFill>
        </p:spPr>
        <p:txBody>
          <a:bodyPr/>
          <a:lstStyle/>
          <a:p>
            <a:endParaRPr lang="ko-KR" altLang="en-US"/>
          </a:p>
        </p:txBody>
      </p:sp>
      <p:graphicFrame>
        <p:nvGraphicFramePr>
          <p:cNvPr id="21" name="Table 0"/>
          <p:cNvGraphicFramePr/>
          <p:nvPr>
            <p:extLst>
              <p:ext uri="{D42A27DB-BD31-4B8C-83A1-F6EECF244321}">
                <p14:modId xmlns:p14="http://schemas.microsoft.com/office/powerpoint/2010/main" val="4246519703"/>
              </p:ext>
            </p:extLst>
          </p:nvPr>
        </p:nvGraphicFramePr>
        <p:xfrm>
          <a:off x="548640" y="1600200"/>
          <a:ext cx="11087100" cy="2095500"/>
        </p:xfrm>
        <a:graphic>
          <a:graphicData uri="http://schemas.openxmlformats.org/drawingml/2006/table">
            <a:tbl>
              <a:tblPr/>
              <a:tblGrid>
                <a:gridCol w="1657350">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gridCol w="4762500">
                  <a:extLst>
                    <a:ext uri="{9D8B030D-6E8A-4147-A177-3AD203B41FA5}">
                      <a16:colId xmlns:a16="http://schemas.microsoft.com/office/drawing/2014/main" val="20002"/>
                    </a:ext>
                  </a:extLst>
                </a:gridCol>
                <a:gridCol w="2714625">
                  <a:extLst>
                    <a:ext uri="{9D8B030D-6E8A-4147-A177-3AD203B41FA5}">
                      <a16:colId xmlns:a16="http://schemas.microsoft.com/office/drawing/2014/main" val="20003"/>
                    </a:ext>
                  </a:extLst>
                </a:gridCol>
              </a:tblGrid>
              <a:tr h="419100">
                <a:tc>
                  <a:txBody>
                    <a:bodyPr/>
                    <a:lstStyle/>
                    <a:p>
                      <a:pPr marL="0" indent="0" algn="ctr">
                        <a:buNone/>
                      </a:pPr>
                      <a:r>
                        <a:rPr sz="1388" b="1">
                          <a:solidFill>
                            <a:srgbClr val="173F35"/>
                          </a:solidFill>
                          <a:latin typeface="맑은 고딕"/>
                          <a:ea typeface="맑은 고딕"/>
                          <a:cs typeface="맑은 고딕"/>
                        </a:rPr>
                        <a:t>시험</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규모</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평가 대상</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지표</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419100">
                <a:tc>
                  <a:txBody>
                    <a:bodyPr/>
                    <a:lstStyle/>
                    <a:p>
                      <a:pPr marL="0" indent="0" algn="ctr">
                        <a:buNone/>
                      </a:pPr>
                      <a:r>
                        <a:rPr lang="ko-KR" altLang="en-US" sz="1388" b="1" dirty="0">
                          <a:solidFill>
                            <a:srgbClr val="202727"/>
                          </a:solidFill>
                          <a:latin typeface="맑은 고딕"/>
                          <a:ea typeface="맑은 고딕"/>
                          <a:cs typeface="맑은 고딕"/>
                        </a:rPr>
                        <a:t>랜덤 이미지 </a:t>
                      </a:r>
                      <a:r>
                        <a:rPr sz="1388" b="1" dirty="0" err="1">
                          <a:solidFill>
                            <a:srgbClr val="202727"/>
                          </a:solidFill>
                          <a:latin typeface="맑은 고딕"/>
                          <a:ea typeface="맑은 고딕"/>
                          <a:cs typeface="맑은 고딕"/>
                        </a:rPr>
                        <a:t>탐지</a:t>
                      </a:r>
                      <a:endParaRPr sz="12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160장 / 433객체</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복잡한 장면의 객체 박스</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mAP, 정밀도·재현율</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419100">
                <a:tc>
                  <a:txBody>
                    <a:bodyPr/>
                    <a:lstStyle/>
                    <a:p>
                      <a:pPr marL="0" indent="0" algn="ctr">
                        <a:buNone/>
                      </a:pPr>
                      <a:r>
                        <a:rPr sz="1388" b="1">
                          <a:solidFill>
                            <a:srgbClr val="202727"/>
                          </a:solidFill>
                          <a:latin typeface="맑은 고딕"/>
                          <a:ea typeface="맑은 고딕"/>
                          <a:cs typeface="맑은 고딕"/>
                        </a:rPr>
                        <a:t>대표 클래스</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110장</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lang="ko-KR" altLang="en-US" sz="1388" b="0">
                          <a:solidFill>
                            <a:srgbClr val="202727"/>
                          </a:solidFill>
                          <a:latin typeface="맑은 고딕"/>
                          <a:ea typeface="맑은 고딕"/>
                          <a:cs typeface="맑은 고딕"/>
                        </a:rPr>
                        <a:t>쓰레기 </a:t>
                      </a:r>
                      <a:r>
                        <a:rPr sz="1388" b="0" dirty="0">
                          <a:solidFill>
                            <a:srgbClr val="202727"/>
                          </a:solidFill>
                          <a:latin typeface="맑은 고딕"/>
                          <a:ea typeface="맑은 고딕"/>
                          <a:cs typeface="맑은 고딕"/>
                        </a:rPr>
                        <a:t>80장 + </a:t>
                      </a:r>
                      <a:r>
                        <a:rPr sz="1388" b="0" dirty="0" err="1">
                          <a:solidFill>
                            <a:srgbClr val="202727"/>
                          </a:solidFill>
                          <a:latin typeface="맑은 고딕"/>
                          <a:ea typeface="맑은 고딕"/>
                          <a:cs typeface="맑은 고딕"/>
                        </a:rPr>
                        <a:t>배터리</a:t>
                      </a:r>
                      <a:r>
                        <a:rPr lang="ko-KR" altLang="en-US" sz="1388" b="0" dirty="0">
                          <a:solidFill>
                            <a:srgbClr val="202727"/>
                          </a:solidFill>
                          <a:latin typeface="맑은 고딕"/>
                          <a:ea typeface="맑은 고딕"/>
                          <a:cs typeface="맑은 고딕"/>
                        </a:rPr>
                        <a:t>만 따로</a:t>
                      </a:r>
                      <a:r>
                        <a:rPr sz="1388" b="0" dirty="0">
                          <a:solidFill>
                            <a:srgbClr val="202727"/>
                          </a:solidFill>
                          <a:latin typeface="맑은 고딕"/>
                          <a:ea typeface="맑은 고딕"/>
                          <a:cs typeface="맑은 고딕"/>
                        </a:rPr>
                        <a:t> 30장</a:t>
                      </a:r>
                      <a:endParaRPr sz="12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이미지별 정답률</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419100">
                <a:tc>
                  <a:txBody>
                    <a:bodyPr/>
                    <a:lstStyle/>
                    <a:p>
                      <a:pPr marL="0" indent="0" algn="ctr">
                        <a:buNone/>
                      </a:pPr>
                      <a:r>
                        <a:rPr sz="1388" b="1">
                          <a:solidFill>
                            <a:srgbClr val="202727"/>
                          </a:solidFill>
                          <a:latin typeface="맑은 고딕"/>
                          <a:ea typeface="맑은 고딕"/>
                          <a:cs typeface="맑은 고딕"/>
                        </a:rPr>
                        <a:t>배경 오탐</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24개</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lang="ko-KR" altLang="en-US" sz="1388" b="0" dirty="0">
                          <a:solidFill>
                            <a:srgbClr val="202727"/>
                          </a:solidFill>
                          <a:latin typeface="맑은 고딕"/>
                          <a:ea typeface="맑은 고딕"/>
                          <a:cs typeface="맑은 고딕"/>
                        </a:rPr>
                        <a:t>쓰레기</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없는</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배경</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영역</a:t>
                      </a:r>
                      <a:r>
                        <a:rPr lang="ko-KR" altLang="en-US" sz="1388" b="0" dirty="0">
                          <a:solidFill>
                            <a:srgbClr val="202727"/>
                          </a:solidFill>
                          <a:latin typeface="맑은 고딕"/>
                          <a:ea typeface="맑은 고딕"/>
                          <a:cs typeface="맑은 고딕"/>
                        </a:rPr>
                        <a:t>만</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잘라</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확인</a:t>
                      </a:r>
                      <a:endParaRPr sz="12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오탐 발생 이미지 수</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r h="419100">
                <a:tc>
                  <a:txBody>
                    <a:bodyPr/>
                    <a:lstStyle/>
                    <a:p>
                      <a:pPr marL="0" indent="0" algn="ctr">
                        <a:buNone/>
                      </a:pPr>
                      <a:r>
                        <a:rPr sz="1388" b="1">
                          <a:solidFill>
                            <a:srgbClr val="202727"/>
                          </a:solidFill>
                          <a:latin typeface="맑은 고딕"/>
                          <a:ea typeface="맑은 고딕"/>
                          <a:cs typeface="맑은 고딕"/>
                        </a:rPr>
                        <a:t>환경 변화</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0">
                          <a:solidFill>
                            <a:srgbClr val="202727"/>
                          </a:solidFill>
                          <a:latin typeface="맑은 고딕"/>
                          <a:ea typeface="맑은 고딕"/>
                          <a:cs typeface="맑은 고딕"/>
                        </a:rPr>
                        <a:t>60개</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0" dirty="0" err="1">
                          <a:solidFill>
                            <a:srgbClr val="202727"/>
                          </a:solidFill>
                          <a:latin typeface="맑은 고딕"/>
                          <a:ea typeface="맑은 고딕"/>
                          <a:cs typeface="맑은 고딕"/>
                        </a:rPr>
                        <a:t>같은</a:t>
                      </a:r>
                      <a:r>
                        <a:rPr sz="1388" b="0" dirty="0">
                          <a:solidFill>
                            <a:srgbClr val="202727"/>
                          </a:solidFill>
                          <a:latin typeface="맑은 고딕"/>
                          <a:ea typeface="맑은 고딕"/>
                          <a:cs typeface="맑은 고딕"/>
                        </a:rPr>
                        <a:t> </a:t>
                      </a:r>
                      <a:r>
                        <a:rPr lang="ko-KR" altLang="en-US" sz="1388" b="0" dirty="0">
                          <a:solidFill>
                            <a:srgbClr val="202727"/>
                          </a:solidFill>
                          <a:latin typeface="맑은 고딕"/>
                          <a:ea typeface="맑은 고딕"/>
                          <a:cs typeface="맑은 고딕"/>
                        </a:rPr>
                        <a:t>이미지 </a:t>
                      </a:r>
                      <a:r>
                        <a:rPr sz="1388" b="0" dirty="0">
                          <a:solidFill>
                            <a:srgbClr val="202727"/>
                          </a:solidFill>
                          <a:latin typeface="맑은 고딕"/>
                          <a:ea typeface="맑은 고딕"/>
                          <a:cs typeface="맑은 고딕"/>
                        </a:rPr>
                        <a:t>20장: </a:t>
                      </a:r>
                      <a:r>
                        <a:rPr sz="1388" b="0" dirty="0" err="1">
                          <a:solidFill>
                            <a:srgbClr val="202727"/>
                          </a:solidFill>
                          <a:latin typeface="맑은 고딕"/>
                          <a:ea typeface="맑은 고딕"/>
                          <a:cs typeface="맑은 고딕"/>
                        </a:rPr>
                        <a:t>대조·어둡게·흐림</a:t>
                      </a:r>
                      <a:endParaRPr sz="12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0" dirty="0" err="1">
                          <a:solidFill>
                            <a:srgbClr val="202727"/>
                          </a:solidFill>
                          <a:latin typeface="맑은 고딕"/>
                          <a:ea typeface="맑은 고딕"/>
                          <a:cs typeface="맑은 고딕"/>
                        </a:rPr>
                        <a:t>변형별</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박스</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mAP</a:t>
                      </a:r>
                      <a:endParaRPr sz="12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4"/>
                  </a:ext>
                </a:extLst>
              </a:tr>
            </a:tbl>
          </a:graphicData>
        </a:graphic>
      </p:graphicFrame>
      <p:sp>
        <p:nvSpPr>
          <p:cNvPr id="10" name="Text 7">
            <a:extLst>
              <a:ext uri="{FF2B5EF4-FFF2-40B4-BE49-F238E27FC236}">
                <a16:creationId xmlns:a16="http://schemas.microsoft.com/office/drawing/2014/main" id="{69B358FF-47BE-4FF7-8E1C-79C3219C04A8}"/>
              </a:ext>
            </a:extLst>
          </p:cNvPr>
          <p:cNvSpPr>
            <a:spLocks noGrp="1"/>
          </p:cNvSpPr>
          <p:nvPr/>
        </p:nvSpPr>
        <p:spPr>
          <a:xfrm>
            <a:off x="548640" y="37947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동일 비교 조건 및 해석 범위</a:t>
            </a:r>
            <a:endParaRPr sz="1500"/>
          </a:p>
        </p:txBody>
      </p:sp>
      <p:sp>
        <p:nvSpPr>
          <p:cNvPr id="11" name="Shape 8">
            <a:extLst>
              <a:ext uri="{FF2B5EF4-FFF2-40B4-BE49-F238E27FC236}">
                <a16:creationId xmlns:a16="http://schemas.microsoft.com/office/drawing/2014/main" id="{F9BF7EA8-820D-408E-BCD1-FD16CB9FC3B1}"/>
              </a:ext>
            </a:extLst>
          </p:cNvPr>
          <p:cNvSpPr>
            <a:spLocks noGrp="1"/>
          </p:cNvSpPr>
          <p:nvPr/>
        </p:nvSpPr>
        <p:spPr>
          <a:xfrm>
            <a:off x="548640" y="4178808"/>
            <a:ext cx="1005840" cy="41148"/>
          </a:xfrm>
          <a:prstGeom prst="rect">
            <a:avLst/>
          </a:prstGeom>
          <a:solidFill>
            <a:srgbClr val="1F5C4D"/>
          </a:solidFill>
        </p:spPr>
        <p:txBody>
          <a:bodyPr/>
          <a:lstStyle/>
          <a:p>
            <a:endParaRPr lang="ko-KR" altLang="en-US"/>
          </a:p>
        </p:txBody>
      </p:sp>
      <p:graphicFrame>
        <p:nvGraphicFramePr>
          <p:cNvPr id="24" name="Table 1"/>
          <p:cNvGraphicFramePr/>
          <p:nvPr/>
        </p:nvGraphicFramePr>
        <p:xfrm>
          <a:off x="548640" y="4315968"/>
          <a:ext cx="11087100" cy="2095500"/>
        </p:xfrm>
        <a:graphic>
          <a:graphicData uri="http://schemas.openxmlformats.org/drawingml/2006/table">
            <a:tbl>
              <a:tblPr/>
              <a:tblGrid>
                <a:gridCol w="2095500">
                  <a:extLst>
                    <a:ext uri="{9D8B030D-6E8A-4147-A177-3AD203B41FA5}">
                      <a16:colId xmlns:a16="http://schemas.microsoft.com/office/drawing/2014/main" val="20000"/>
                    </a:ext>
                  </a:extLst>
                </a:gridCol>
                <a:gridCol w="8991600">
                  <a:extLst>
                    <a:ext uri="{9D8B030D-6E8A-4147-A177-3AD203B41FA5}">
                      <a16:colId xmlns:a16="http://schemas.microsoft.com/office/drawing/2014/main" val="20001"/>
                    </a:ext>
                  </a:extLst>
                </a:gridCol>
              </a:tblGrid>
              <a:tr h="419100">
                <a:tc>
                  <a:txBody>
                    <a:bodyPr/>
                    <a:lstStyle/>
                    <a:p>
                      <a:pPr marL="0" indent="0" algn="ctr">
                        <a:buNone/>
                      </a:pPr>
                      <a:r>
                        <a:rPr sz="1388" b="1">
                          <a:solidFill>
                            <a:srgbClr val="173F35"/>
                          </a:solidFill>
                          <a:latin typeface="맑은 고딕"/>
                          <a:ea typeface="맑은 고딕"/>
                          <a:cs typeface="맑은 고딕"/>
                        </a:rPr>
                        <a:t>항목</a:t>
                      </a:r>
                      <a:endParaRPr sz="11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설정 / 주의점</a:t>
                      </a:r>
                      <a:endParaRPr sz="11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419100">
                <a:tc>
                  <a:txBody>
                    <a:bodyPr/>
                    <a:lstStyle/>
                    <a:p>
                      <a:pPr marL="0" indent="0" algn="ctr">
                        <a:buNone/>
                      </a:pPr>
                      <a:r>
                        <a:rPr sz="1388" b="1">
                          <a:solidFill>
                            <a:srgbClr val="202727"/>
                          </a:solidFill>
                          <a:latin typeface="맑은 고딕"/>
                          <a:ea typeface="맑은 고딕"/>
                          <a:cs typeface="맑은 고딕"/>
                        </a:rPr>
                        <a:t>입력 및 실행</a:t>
                      </a:r>
                      <a:endParaRPr sz="11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dirty="0">
                          <a:solidFill>
                            <a:srgbClr val="202727"/>
                          </a:solidFill>
                          <a:latin typeface="맑은 고딕"/>
                          <a:ea typeface="맑은 고딕"/>
                          <a:cs typeface="맑은 고딕"/>
                        </a:rPr>
                        <a:t>best.pt, 640×640 </a:t>
                      </a:r>
                      <a:r>
                        <a:rPr sz="1388" b="0" dirty="0" err="1">
                          <a:solidFill>
                            <a:srgbClr val="202727"/>
                          </a:solidFill>
                          <a:latin typeface="맑은 고딕"/>
                          <a:ea typeface="맑은 고딕"/>
                          <a:cs typeface="맑은 고딕"/>
                        </a:rPr>
                        <a:t>패딩</a:t>
                      </a:r>
                      <a:r>
                        <a:rPr sz="1388" b="0" dirty="0">
                          <a:solidFill>
                            <a:srgbClr val="202727"/>
                          </a:solidFill>
                          <a:latin typeface="맑은 고딕"/>
                          <a:ea typeface="맑은 고딕"/>
                          <a:cs typeface="맑은 고딕"/>
                        </a:rPr>
                        <a:t>, batch 1, CPU FP32</a:t>
                      </a:r>
                      <a:endParaRPr sz="115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419100">
                <a:tc>
                  <a:txBody>
                    <a:bodyPr/>
                    <a:lstStyle/>
                    <a:p>
                      <a:pPr marL="0" indent="0" algn="ctr">
                        <a:buNone/>
                      </a:pPr>
                      <a:r>
                        <a:rPr sz="1388" b="1">
                          <a:solidFill>
                            <a:srgbClr val="202727"/>
                          </a:solidFill>
                          <a:latin typeface="맑은 고딕"/>
                          <a:ea typeface="맑은 고딕"/>
                          <a:cs typeface="맑은 고딕"/>
                        </a:rPr>
                        <a:t>후처리</a:t>
                      </a:r>
                      <a:endParaRPr sz="11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dirty="0" err="1">
                          <a:solidFill>
                            <a:srgbClr val="202727"/>
                          </a:solidFill>
                          <a:latin typeface="맑은 고딕"/>
                          <a:ea typeface="맑은 고딕"/>
                          <a:cs typeface="맑은 고딕"/>
                        </a:rPr>
                        <a:t>클래스별</a:t>
                      </a:r>
                      <a:r>
                        <a:rPr sz="1388" b="0" dirty="0">
                          <a:solidFill>
                            <a:srgbClr val="202727"/>
                          </a:solidFill>
                          <a:latin typeface="맑은 고딕"/>
                          <a:ea typeface="맑은 고딕"/>
                          <a:cs typeface="맑은 고딕"/>
                        </a:rPr>
                        <a:t> NMS </a:t>
                      </a:r>
                      <a:r>
                        <a:rPr sz="1388" b="0" dirty="0" err="1">
                          <a:solidFill>
                            <a:srgbClr val="202727"/>
                          </a:solidFill>
                          <a:latin typeface="맑은 고딕"/>
                          <a:ea typeface="맑은 고딕"/>
                          <a:cs typeface="맑은 고딕"/>
                        </a:rPr>
                        <a:t>IoU</a:t>
                      </a:r>
                      <a:r>
                        <a:rPr sz="1388" b="0" dirty="0">
                          <a:solidFill>
                            <a:srgbClr val="202727"/>
                          </a:solidFill>
                          <a:latin typeface="맑은 고딕"/>
                          <a:ea typeface="맑은 고딕"/>
                          <a:cs typeface="맑은 고딕"/>
                        </a:rPr>
                        <a:t> 0.7, </a:t>
                      </a:r>
                      <a:r>
                        <a:rPr sz="1388" b="0" dirty="0" err="1">
                          <a:solidFill>
                            <a:srgbClr val="202727"/>
                          </a:solidFill>
                          <a:latin typeface="맑은 고딕"/>
                          <a:ea typeface="맑은 고딕"/>
                          <a:cs typeface="맑은 고딕"/>
                        </a:rPr>
                        <a:t>최대</a:t>
                      </a:r>
                      <a:r>
                        <a:rPr sz="1388" b="0" dirty="0">
                          <a:solidFill>
                            <a:srgbClr val="202727"/>
                          </a:solidFill>
                          <a:latin typeface="맑은 고딕"/>
                          <a:ea typeface="맑은 고딕"/>
                          <a:cs typeface="맑은 고딕"/>
                        </a:rPr>
                        <a:t> 300개, end2end=False</a:t>
                      </a:r>
                      <a:endParaRPr sz="115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419100">
                <a:tc>
                  <a:txBody>
                    <a:bodyPr/>
                    <a:lstStyle/>
                    <a:p>
                      <a:pPr marL="0" indent="0" algn="ctr">
                        <a:buNone/>
                      </a:pPr>
                      <a:r>
                        <a:rPr sz="1388" b="1">
                          <a:solidFill>
                            <a:srgbClr val="202727"/>
                          </a:solidFill>
                          <a:latin typeface="맑은 고딕"/>
                          <a:ea typeface="맑은 고딕"/>
                          <a:cs typeface="맑은 고딕"/>
                        </a:rPr>
                        <a:t>평가 기준</a:t>
                      </a:r>
                      <a:endParaRPr sz="11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dirty="0" err="1">
                          <a:solidFill>
                            <a:srgbClr val="202727"/>
                          </a:solidFill>
                          <a:latin typeface="맑은 고딕"/>
                          <a:ea typeface="맑은 고딕"/>
                          <a:cs typeface="맑은 고딕"/>
                        </a:rPr>
                        <a:t>mAP</a:t>
                      </a:r>
                      <a:r>
                        <a:rPr sz="1388" b="0" dirty="0">
                          <a:solidFill>
                            <a:srgbClr val="202727"/>
                          </a:solidFill>
                          <a:latin typeface="맑은 고딕"/>
                          <a:ea typeface="맑은 고딕"/>
                          <a:cs typeface="맑은 고딕"/>
                        </a:rPr>
                        <a:t>: conf ≥ 0.001 / </a:t>
                      </a:r>
                      <a:r>
                        <a:rPr sz="1388" b="0" dirty="0" err="1">
                          <a:solidFill>
                            <a:srgbClr val="202727"/>
                          </a:solidFill>
                          <a:latin typeface="맑은 고딕"/>
                          <a:ea typeface="맑은 고딕"/>
                          <a:cs typeface="맑은 고딕"/>
                        </a:rPr>
                        <a:t>정밀도·재현율</a:t>
                      </a:r>
                      <a:r>
                        <a:rPr sz="1388" b="0" dirty="0">
                          <a:solidFill>
                            <a:srgbClr val="202727"/>
                          </a:solidFill>
                          <a:latin typeface="맑은 고딕"/>
                          <a:ea typeface="맑은 고딕"/>
                          <a:cs typeface="맑은 고딕"/>
                        </a:rPr>
                        <a:t>: conf ≥ 0.25, </a:t>
                      </a:r>
                      <a:r>
                        <a:rPr sz="1388" b="0" dirty="0" err="1">
                          <a:solidFill>
                            <a:srgbClr val="202727"/>
                          </a:solidFill>
                          <a:latin typeface="맑은 고딕"/>
                          <a:ea typeface="맑은 고딕"/>
                          <a:cs typeface="맑은 고딕"/>
                        </a:rPr>
                        <a:t>IoU</a:t>
                      </a:r>
                      <a:r>
                        <a:rPr sz="1388" b="0" dirty="0">
                          <a:solidFill>
                            <a:srgbClr val="202727"/>
                          </a:solidFill>
                          <a:latin typeface="맑은 고딕"/>
                          <a:ea typeface="맑은 고딕"/>
                          <a:cs typeface="맑은 고딕"/>
                        </a:rPr>
                        <a:t> ≥ 0.50</a:t>
                      </a:r>
                      <a:endParaRPr sz="115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r h="419100">
                <a:tc>
                  <a:txBody>
                    <a:bodyPr/>
                    <a:lstStyle/>
                    <a:p>
                      <a:pPr marL="0" indent="0" algn="ctr">
                        <a:buNone/>
                      </a:pPr>
                      <a:r>
                        <a:rPr sz="1388" b="1">
                          <a:solidFill>
                            <a:srgbClr val="202727"/>
                          </a:solidFill>
                          <a:latin typeface="맑은 고딕"/>
                          <a:ea typeface="맑은 고딕"/>
                          <a:cs typeface="맑은 고딕"/>
                        </a:rPr>
                        <a:t>표본과 범위</a:t>
                      </a:r>
                      <a:endParaRPr sz="11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dirty="0" err="1">
                          <a:solidFill>
                            <a:srgbClr val="202727"/>
                          </a:solidFill>
                          <a:latin typeface="맑은 고딕"/>
                          <a:ea typeface="맑은 고딕"/>
                          <a:cs typeface="맑은 고딕"/>
                        </a:rPr>
                        <a:t>원본</a:t>
                      </a:r>
                      <a:r>
                        <a:rPr sz="1388" b="0" dirty="0">
                          <a:solidFill>
                            <a:srgbClr val="202727"/>
                          </a:solidFill>
                          <a:latin typeface="맑은 고딕"/>
                          <a:ea typeface="맑은 고딕"/>
                          <a:cs typeface="맑은 고딕"/>
                        </a:rPr>
                        <a:t> 중 </a:t>
                      </a:r>
                      <a:r>
                        <a:rPr sz="1388" b="0" dirty="0" err="1">
                          <a:solidFill>
                            <a:srgbClr val="202727"/>
                          </a:solidFill>
                          <a:latin typeface="맑은 고딕"/>
                          <a:ea typeface="맑은 고딕"/>
                          <a:cs typeface="맑은 고딕"/>
                        </a:rPr>
                        <a:t>신규</a:t>
                      </a:r>
                      <a:r>
                        <a:rPr sz="1388" b="0" dirty="0">
                          <a:solidFill>
                            <a:srgbClr val="202727"/>
                          </a:solidFill>
                          <a:latin typeface="맑은 고딕"/>
                          <a:ea typeface="맑은 고딕"/>
                          <a:cs typeface="맑은 고딕"/>
                        </a:rPr>
                        <a:t> 239장·기존 31장. </a:t>
                      </a:r>
                      <a:r>
                        <a:rPr sz="1388" b="0" dirty="0" err="1">
                          <a:solidFill>
                            <a:srgbClr val="202727"/>
                          </a:solidFill>
                          <a:latin typeface="맑은 고딕"/>
                          <a:ea typeface="맑은 고딕"/>
                          <a:cs typeface="맑은 고딕"/>
                        </a:rPr>
                        <a:t>SEG는</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마스크가</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아닌</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박스만</a:t>
                      </a:r>
                      <a:r>
                        <a:rPr sz="1388" b="0" dirty="0">
                          <a:solidFill>
                            <a:srgbClr val="202727"/>
                          </a:solidFill>
                          <a:latin typeface="맑은 고딕"/>
                          <a:ea typeface="맑은 고딕"/>
                          <a:cs typeface="맑은 고딕"/>
                        </a:rPr>
                        <a:t> </a:t>
                      </a:r>
                      <a:r>
                        <a:rPr sz="1388" b="0" dirty="0" err="1">
                          <a:solidFill>
                            <a:srgbClr val="202727"/>
                          </a:solidFill>
                          <a:latin typeface="맑은 고딕"/>
                          <a:ea typeface="맑은 고딕"/>
                          <a:cs typeface="맑은 고딕"/>
                        </a:rPr>
                        <a:t>평가</a:t>
                      </a:r>
                      <a:endParaRPr sz="115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03789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33677CB-2720-457E-ABAF-EEC34464305D}"/>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BC6C692C-7772-44C7-BACC-4F8C4E1A2453}"/>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04</a:t>
            </a:r>
            <a:endParaRPr sz="2600"/>
          </a:p>
        </p:txBody>
      </p:sp>
      <p:sp>
        <p:nvSpPr>
          <p:cNvPr id="4" name="Text 2">
            <a:extLst>
              <a:ext uri="{FF2B5EF4-FFF2-40B4-BE49-F238E27FC236}">
                <a16:creationId xmlns:a16="http://schemas.microsoft.com/office/drawing/2014/main" id="{A364BB70-858F-44F4-AE27-30CA39DCF5F8}"/>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프로젝트 수행 경과</a:t>
            </a:r>
            <a:endParaRPr sz="1500"/>
          </a:p>
        </p:txBody>
      </p:sp>
      <p:sp>
        <p:nvSpPr>
          <p:cNvPr id="5" name="Text 3">
            <a:extLst>
              <a:ext uri="{FF2B5EF4-FFF2-40B4-BE49-F238E27FC236}">
                <a16:creationId xmlns:a16="http://schemas.microsoft.com/office/drawing/2014/main" id="{ADEE25E6-F047-4059-8212-B4C85332AA56}"/>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동일 조건의 객체 탐지 성능</a:t>
            </a:r>
            <a:endParaRPr sz="1900"/>
          </a:p>
        </p:txBody>
      </p:sp>
      <p:sp>
        <p:nvSpPr>
          <p:cNvPr id="6" name="Text 4">
            <a:extLst>
              <a:ext uri="{FF2B5EF4-FFF2-40B4-BE49-F238E27FC236}">
                <a16:creationId xmlns:a16="http://schemas.microsoft.com/office/drawing/2014/main" id="{0611D425-C754-408A-B35E-0D1CA6C83AE3}"/>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8</a:t>
            </a:r>
            <a:endParaRPr sz="1000"/>
          </a:p>
        </p:txBody>
      </p:sp>
      <p:sp>
        <p:nvSpPr>
          <p:cNvPr id="7" name="Text 5">
            <a:extLst>
              <a:ext uri="{FF2B5EF4-FFF2-40B4-BE49-F238E27FC236}">
                <a16:creationId xmlns:a16="http://schemas.microsoft.com/office/drawing/2014/main" id="{01790E4B-F848-4D79-B579-4A2ABDA29BD8}"/>
              </a:ext>
            </a:extLst>
          </p:cNvPr>
          <p:cNvSpPr>
            <a:spLocks noGrp="1"/>
          </p:cNvSpPr>
          <p:nvPr/>
        </p:nvSpPr>
        <p:spPr>
          <a:xfrm>
            <a:off x="548640" y="1051560"/>
            <a:ext cx="11064240" cy="365760"/>
          </a:xfrm>
          <a:prstGeom prst="rect">
            <a:avLst/>
          </a:prstGeom>
          <a:noFill/>
        </p:spPr>
        <p:txBody>
          <a:bodyPr wrap="square" anchor="ctr"/>
          <a:lstStyle/>
          <a:p>
            <a:pPr marL="0" indent="0">
              <a:buNone/>
            </a:pPr>
            <a:r>
              <a:rPr lang="ko-KR" altLang="en-US" sz="1500" b="1" dirty="0" err="1">
                <a:solidFill>
                  <a:srgbClr val="143C32"/>
                </a:solidFill>
                <a:latin typeface="맑은 고딕"/>
                <a:ea typeface="맑은 고딕"/>
                <a:cs typeface="맑은 고딕"/>
              </a:rPr>
              <a:t>쓰레기이미지</a:t>
            </a:r>
            <a:r>
              <a:rPr sz="1500" b="1" dirty="0">
                <a:solidFill>
                  <a:srgbClr val="143C32"/>
                </a:solidFill>
                <a:latin typeface="맑은 고딕"/>
                <a:ea typeface="맑은 고딕"/>
                <a:cs typeface="맑은 고딕"/>
              </a:rPr>
              <a:t> 160장 / 433객체, </a:t>
            </a:r>
            <a:r>
              <a:rPr sz="1500" b="1" dirty="0" err="1">
                <a:solidFill>
                  <a:srgbClr val="143C32"/>
                </a:solidFill>
                <a:latin typeface="맑은 고딕"/>
                <a:ea typeface="맑은 고딕"/>
                <a:cs typeface="맑은 고딕"/>
              </a:rPr>
              <a:t>공통</a:t>
            </a:r>
            <a:r>
              <a:rPr sz="1500" b="1" dirty="0">
                <a:solidFill>
                  <a:srgbClr val="143C32"/>
                </a:solidFill>
                <a:latin typeface="맑은 고딕"/>
                <a:ea typeface="맑은 고딕"/>
                <a:cs typeface="맑은 고딕"/>
              </a:rPr>
              <a:t> 7클래스</a:t>
            </a:r>
            <a:endParaRPr sz="1500" dirty="0"/>
          </a:p>
        </p:txBody>
      </p:sp>
      <p:sp>
        <p:nvSpPr>
          <p:cNvPr id="8" name="Shape 6">
            <a:extLst>
              <a:ext uri="{FF2B5EF4-FFF2-40B4-BE49-F238E27FC236}">
                <a16:creationId xmlns:a16="http://schemas.microsoft.com/office/drawing/2014/main" id="{AD66FA7B-A98C-48AF-98A4-45EA513D96FF}"/>
              </a:ext>
            </a:extLst>
          </p:cNvPr>
          <p:cNvSpPr>
            <a:spLocks noGrp="1"/>
          </p:cNvSpPr>
          <p:nvPr/>
        </p:nvSpPr>
        <p:spPr>
          <a:xfrm>
            <a:off x="548640" y="1435608"/>
            <a:ext cx="1005840" cy="41148"/>
          </a:xfrm>
          <a:prstGeom prst="rect">
            <a:avLst/>
          </a:prstGeom>
          <a:solidFill>
            <a:srgbClr val="1F5C4D"/>
          </a:solidFill>
        </p:spPr>
        <p:txBody>
          <a:bodyPr/>
          <a:lstStyle/>
          <a:p>
            <a:endParaRPr lang="ko-KR" altLang="en-US"/>
          </a:p>
        </p:txBody>
      </p:sp>
      <p:graphicFrame>
        <p:nvGraphicFramePr>
          <p:cNvPr id="24" name="Table 0"/>
          <p:cNvGraphicFramePr/>
          <p:nvPr>
            <p:extLst>
              <p:ext uri="{D42A27DB-BD31-4B8C-83A1-F6EECF244321}">
                <p14:modId xmlns:p14="http://schemas.microsoft.com/office/powerpoint/2010/main" val="1136830047"/>
              </p:ext>
            </p:extLst>
          </p:nvPr>
        </p:nvGraphicFramePr>
        <p:xfrm>
          <a:off x="548640" y="1645920"/>
          <a:ext cx="11087100" cy="1952625"/>
        </p:xfrm>
        <a:graphic>
          <a:graphicData uri="http://schemas.openxmlformats.org/drawingml/2006/table">
            <a:tbl>
              <a:tblPr/>
              <a:tblGrid>
                <a:gridCol w="3810000">
                  <a:extLst>
                    <a:ext uri="{9D8B030D-6E8A-4147-A177-3AD203B41FA5}">
                      <a16:colId xmlns:a16="http://schemas.microsoft.com/office/drawing/2014/main" val="20000"/>
                    </a:ext>
                  </a:extLst>
                </a:gridCol>
                <a:gridCol w="3638550">
                  <a:extLst>
                    <a:ext uri="{9D8B030D-6E8A-4147-A177-3AD203B41FA5}">
                      <a16:colId xmlns:a16="http://schemas.microsoft.com/office/drawing/2014/main" val="20001"/>
                    </a:ext>
                  </a:extLst>
                </a:gridCol>
                <a:gridCol w="3638550">
                  <a:extLst>
                    <a:ext uri="{9D8B030D-6E8A-4147-A177-3AD203B41FA5}">
                      <a16:colId xmlns:a16="http://schemas.microsoft.com/office/drawing/2014/main" val="20002"/>
                    </a:ext>
                  </a:extLst>
                </a:gridCol>
              </a:tblGrid>
              <a:tr h="390525">
                <a:tc>
                  <a:txBody>
                    <a:bodyPr/>
                    <a:lstStyle/>
                    <a:p>
                      <a:pPr marL="0" indent="0" algn="ctr">
                        <a:buNone/>
                      </a:pPr>
                      <a:r>
                        <a:rPr sz="1388" b="1">
                          <a:solidFill>
                            <a:srgbClr val="173F35"/>
                          </a:solidFill>
                          <a:latin typeface="맑은 고딕"/>
                          <a:ea typeface="맑은 고딕"/>
                          <a:cs typeface="맑은 고딕"/>
                        </a:rPr>
                        <a:t>모델</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mAP50</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mAP50–95</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390525">
                <a:tc>
                  <a:txBody>
                    <a:bodyPr/>
                    <a:lstStyle/>
                    <a:p>
                      <a:pPr marL="0" indent="0" algn="ctr">
                        <a:buNone/>
                      </a:pPr>
                      <a:r>
                        <a:rPr sz="1388" b="1">
                          <a:solidFill>
                            <a:srgbClr val="202727"/>
                          </a:solidFill>
                          <a:latin typeface="맑은 고딕"/>
                          <a:ea typeface="맑은 고딕"/>
                          <a:cs typeface="맑은 고딕"/>
                        </a:rPr>
                        <a:t>AI 11n</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54.15%</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47.06%</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390525">
                <a:tc>
                  <a:txBody>
                    <a:bodyPr/>
                    <a:lstStyle/>
                    <a:p>
                      <a:pPr marL="0" indent="0" algn="ctr">
                        <a:buNone/>
                      </a:pPr>
                      <a:r>
                        <a:rPr sz="1388" b="1">
                          <a:solidFill>
                            <a:srgbClr val="202727"/>
                          </a:solidFill>
                          <a:latin typeface="맑은 고딕"/>
                          <a:ea typeface="맑은 고딕"/>
                          <a:cs typeface="맑은 고딕"/>
                        </a:rPr>
                        <a:t>DY 11n</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51.24%</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44.17%</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390525">
                <a:tc>
                  <a:txBody>
                    <a:bodyPr/>
                    <a:lstStyle/>
                    <a:p>
                      <a:pPr marL="0" indent="0" algn="ctr">
                        <a:buNone/>
                      </a:pPr>
                      <a:r>
                        <a:rPr sz="1388" b="1">
                          <a:solidFill>
                            <a:srgbClr val="202727"/>
                          </a:solidFill>
                          <a:latin typeface="맑은 고딕"/>
                          <a:ea typeface="맑은 고딕"/>
                          <a:cs typeface="맑은 고딕"/>
                        </a:rPr>
                        <a:t>DY SEG 11n</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34.02%</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26.68%</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r h="390525">
                <a:tc>
                  <a:txBody>
                    <a:bodyPr/>
                    <a:lstStyle/>
                    <a:p>
                      <a:pPr marL="0" indent="0" algn="ctr">
                        <a:buNone/>
                      </a:pPr>
                      <a:r>
                        <a:rPr sz="1388" b="1" dirty="0">
                          <a:solidFill>
                            <a:srgbClr val="202727"/>
                          </a:solidFill>
                          <a:latin typeface="맑은 고딕"/>
                          <a:ea typeface="맑은 고딕"/>
                          <a:cs typeface="맑은 고딕"/>
                        </a:rPr>
                        <a:t>DY 26s</a:t>
                      </a:r>
                      <a:endParaRPr sz="12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57.41%</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dirty="0">
                          <a:solidFill>
                            <a:srgbClr val="202727"/>
                          </a:solidFill>
                          <a:latin typeface="맑은 고딕"/>
                          <a:ea typeface="맑은 고딕"/>
                          <a:cs typeface="맑은 고딕"/>
                        </a:rPr>
                        <a:t>50.25%</a:t>
                      </a:r>
                      <a:endParaRPr sz="12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4"/>
                  </a:ext>
                </a:extLst>
              </a:tr>
            </a:tbl>
          </a:graphicData>
        </a:graphic>
      </p:graphicFrame>
      <p:sp>
        <p:nvSpPr>
          <p:cNvPr id="10" name="Text 7">
            <a:extLst>
              <a:ext uri="{FF2B5EF4-FFF2-40B4-BE49-F238E27FC236}">
                <a16:creationId xmlns:a16="http://schemas.microsoft.com/office/drawing/2014/main" id="{994B3EA6-2C9E-4DDF-9533-0067A93A24DF}"/>
              </a:ext>
            </a:extLst>
          </p:cNvPr>
          <p:cNvSpPr>
            <a:spLocks noGrp="1"/>
          </p:cNvSpPr>
          <p:nvPr/>
        </p:nvSpPr>
        <p:spPr>
          <a:xfrm>
            <a:off x="548640" y="365760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성능 우선 후보와 경량 비교 기준</a:t>
            </a:r>
            <a:endParaRPr sz="1500"/>
          </a:p>
        </p:txBody>
      </p:sp>
      <p:sp>
        <p:nvSpPr>
          <p:cNvPr id="11" name="Shape 8">
            <a:extLst>
              <a:ext uri="{FF2B5EF4-FFF2-40B4-BE49-F238E27FC236}">
                <a16:creationId xmlns:a16="http://schemas.microsoft.com/office/drawing/2014/main" id="{9C10B35A-530D-40A1-9AB3-2574EC8D0A73}"/>
              </a:ext>
            </a:extLst>
          </p:cNvPr>
          <p:cNvSpPr>
            <a:spLocks noGrp="1"/>
          </p:cNvSpPr>
          <p:nvPr/>
        </p:nvSpPr>
        <p:spPr>
          <a:xfrm>
            <a:off x="548640" y="4041648"/>
            <a:ext cx="1005840" cy="41148"/>
          </a:xfrm>
          <a:prstGeom prst="rect">
            <a:avLst/>
          </a:prstGeom>
          <a:solidFill>
            <a:srgbClr val="1F5C4D"/>
          </a:solidFill>
        </p:spPr>
        <p:txBody>
          <a:bodyPr/>
          <a:lstStyle/>
          <a:p>
            <a:endParaRPr lang="ko-KR" altLang="en-US"/>
          </a:p>
        </p:txBody>
      </p:sp>
      <p:graphicFrame>
        <p:nvGraphicFramePr>
          <p:cNvPr id="27" name="Table 1"/>
          <p:cNvGraphicFramePr/>
          <p:nvPr>
            <p:extLst>
              <p:ext uri="{D42A27DB-BD31-4B8C-83A1-F6EECF244321}">
                <p14:modId xmlns:p14="http://schemas.microsoft.com/office/powerpoint/2010/main" val="940397461"/>
              </p:ext>
            </p:extLst>
          </p:nvPr>
        </p:nvGraphicFramePr>
        <p:xfrm>
          <a:off x="548640" y="4160520"/>
          <a:ext cx="11087100" cy="1752600"/>
        </p:xfrm>
        <a:graphic>
          <a:graphicData uri="http://schemas.openxmlformats.org/drawingml/2006/table">
            <a:tbl>
              <a:tblPr/>
              <a:tblGrid>
                <a:gridCol w="2724150">
                  <a:extLst>
                    <a:ext uri="{9D8B030D-6E8A-4147-A177-3AD203B41FA5}">
                      <a16:colId xmlns:a16="http://schemas.microsoft.com/office/drawing/2014/main" val="20000"/>
                    </a:ext>
                  </a:extLst>
                </a:gridCol>
                <a:gridCol w="2790825">
                  <a:extLst>
                    <a:ext uri="{9D8B030D-6E8A-4147-A177-3AD203B41FA5}">
                      <a16:colId xmlns:a16="http://schemas.microsoft.com/office/drawing/2014/main" val="20001"/>
                    </a:ext>
                  </a:extLst>
                </a:gridCol>
                <a:gridCol w="2790825">
                  <a:extLst>
                    <a:ext uri="{9D8B030D-6E8A-4147-A177-3AD203B41FA5}">
                      <a16:colId xmlns:a16="http://schemas.microsoft.com/office/drawing/2014/main" val="20002"/>
                    </a:ext>
                  </a:extLst>
                </a:gridCol>
                <a:gridCol w="2781300">
                  <a:extLst>
                    <a:ext uri="{9D8B030D-6E8A-4147-A177-3AD203B41FA5}">
                      <a16:colId xmlns:a16="http://schemas.microsoft.com/office/drawing/2014/main" val="20003"/>
                    </a:ext>
                  </a:extLst>
                </a:gridCol>
              </a:tblGrid>
              <a:tr h="438150">
                <a:tc>
                  <a:txBody>
                    <a:bodyPr/>
                    <a:lstStyle/>
                    <a:p>
                      <a:pPr marL="0" indent="0" algn="ctr">
                        <a:buNone/>
                      </a:pPr>
                      <a:r>
                        <a:rPr sz="1388" b="1">
                          <a:solidFill>
                            <a:srgbClr val="173F35"/>
                          </a:solidFill>
                          <a:latin typeface="맑은 고딕"/>
                          <a:ea typeface="맑은 고딕"/>
                          <a:cs typeface="맑은 고딕"/>
                        </a:rPr>
                        <a:t>지표</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AI 11n</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dirty="0">
                          <a:solidFill>
                            <a:srgbClr val="173F35"/>
                          </a:solidFill>
                          <a:latin typeface="맑은 고딕"/>
                          <a:ea typeface="맑은 고딕"/>
                          <a:cs typeface="맑은 고딕"/>
                        </a:rPr>
                        <a:t>DY 26s</a:t>
                      </a:r>
                      <a:endParaRPr sz="12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차이</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438150">
                <a:tc>
                  <a:txBody>
                    <a:bodyPr/>
                    <a:lstStyle/>
                    <a:p>
                      <a:pPr marL="0" indent="0" algn="ctr">
                        <a:buNone/>
                      </a:pPr>
                      <a:r>
                        <a:rPr sz="1388" b="1">
                          <a:solidFill>
                            <a:srgbClr val="202727"/>
                          </a:solidFill>
                          <a:latin typeface="맑은 고딕"/>
                          <a:ea typeface="맑은 고딕"/>
                          <a:cs typeface="맑은 고딕"/>
                        </a:rPr>
                        <a:t>정밀도</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64.47%</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69.30%</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+4.83%p</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438150">
                <a:tc>
                  <a:txBody>
                    <a:bodyPr/>
                    <a:lstStyle/>
                    <a:p>
                      <a:pPr marL="0" indent="0" algn="ctr">
                        <a:buNone/>
                      </a:pPr>
                      <a:r>
                        <a:rPr sz="1388" b="1">
                          <a:solidFill>
                            <a:srgbClr val="202727"/>
                          </a:solidFill>
                          <a:latin typeface="맑은 고딕"/>
                          <a:ea typeface="맑은 고딕"/>
                          <a:cs typeface="맑은 고딕"/>
                        </a:rPr>
                        <a:t>재현율</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33.95%</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36.49%</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+2.54%p</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438150">
                <a:tc>
                  <a:txBody>
                    <a:bodyPr/>
                    <a:lstStyle/>
                    <a:p>
                      <a:pPr marL="0" indent="0" algn="ctr">
                        <a:buNone/>
                      </a:pPr>
                      <a:r>
                        <a:rPr sz="1388" b="1">
                          <a:solidFill>
                            <a:srgbClr val="202727"/>
                          </a:solidFill>
                          <a:latin typeface="맑은 고딕"/>
                          <a:ea typeface="맑은 고딕"/>
                          <a:cs typeface="맑은 고딕"/>
                        </a:rPr>
                        <a:t>F1</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F1F5F3"/>
                    </a:solidFill>
                  </a:tcPr>
                </a:tc>
                <a:tc>
                  <a:txBody>
                    <a:bodyPr/>
                    <a:lstStyle/>
                    <a:p>
                      <a:pPr marL="0" indent="0" algn="l">
                        <a:buNone/>
                      </a:pPr>
                      <a:r>
                        <a:rPr sz="1388" b="0">
                          <a:solidFill>
                            <a:srgbClr val="202727"/>
                          </a:solidFill>
                          <a:latin typeface="맑은 고딕"/>
                          <a:ea typeface="맑은 고딕"/>
                          <a:cs typeface="맑은 고딕"/>
                        </a:rPr>
                        <a:t>44.48%</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47.81%</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dirty="0">
                          <a:solidFill>
                            <a:srgbClr val="202727"/>
                          </a:solidFill>
                          <a:latin typeface="맑은 고딕"/>
                          <a:ea typeface="맑은 고딕"/>
                          <a:cs typeface="맑은 고딕"/>
                        </a:rPr>
                        <a:t>+3.33%p</a:t>
                      </a:r>
                      <a:endParaRPr sz="1200" dirty="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bl>
          </a:graphicData>
        </a:graphic>
      </p:graphicFrame>
      <p:sp>
        <p:nvSpPr>
          <p:cNvPr id="13" name="Shape 9">
            <a:extLst>
              <a:ext uri="{FF2B5EF4-FFF2-40B4-BE49-F238E27FC236}">
                <a16:creationId xmlns:a16="http://schemas.microsoft.com/office/drawing/2014/main" id="{A3437392-5D24-4544-AA2F-4FFF22A894B2}"/>
              </a:ext>
            </a:extLst>
          </p:cNvPr>
          <p:cNvSpPr>
            <a:spLocks noGrp="1"/>
          </p:cNvSpPr>
          <p:nvPr/>
        </p:nvSpPr>
        <p:spPr>
          <a:xfrm>
            <a:off x="566928" y="6080760"/>
            <a:ext cx="11064240" cy="384048"/>
          </a:xfrm>
          <a:prstGeom prst="rect">
            <a:avLst/>
          </a:prstGeom>
          <a:solidFill>
            <a:srgbClr val="FBF3E4"/>
          </a:solidFill>
        </p:spPr>
        <p:txBody>
          <a:bodyPr/>
          <a:lstStyle/>
          <a:p>
            <a:endParaRPr lang="ko-KR" altLang="en-US"/>
          </a:p>
        </p:txBody>
      </p:sp>
      <p:sp>
        <p:nvSpPr>
          <p:cNvPr id="14" name="Text 10">
            <a:extLst>
              <a:ext uri="{FF2B5EF4-FFF2-40B4-BE49-F238E27FC236}">
                <a16:creationId xmlns:a16="http://schemas.microsoft.com/office/drawing/2014/main" id="{12FCC61F-6894-4F0C-9FC4-E1B42E364456}"/>
              </a:ext>
            </a:extLst>
          </p:cNvPr>
          <p:cNvSpPr>
            <a:spLocks noGrp="1"/>
          </p:cNvSpPr>
          <p:nvPr/>
        </p:nvSpPr>
        <p:spPr>
          <a:xfrm>
            <a:off x="566928" y="6080760"/>
            <a:ext cx="11064240" cy="384048"/>
          </a:xfrm>
          <a:prstGeom prst="rect">
            <a:avLst/>
          </a:prstGeom>
          <a:noFill/>
        </p:spPr>
        <p:txBody>
          <a:bodyPr wrap="square" anchor="ctr"/>
          <a:lstStyle/>
          <a:p>
            <a:pPr marL="0" indent="0" algn="ctr">
              <a:buNone/>
            </a:pPr>
            <a:r>
              <a:rPr sz="1150">
                <a:solidFill>
                  <a:srgbClr val="7A6A2E"/>
                </a:solidFill>
                <a:latin typeface="맑은 고딕"/>
                <a:ea typeface="맑은 고딕"/>
                <a:cs typeface="맑은 고딕"/>
              </a:rPr>
              <a:t>DY 26s noBG의 mAP50–95는 AI 11n보다 3.19%p 높지만, 433개 중 275개 객체를 놓쳤다.</a:t>
            </a:r>
            <a:endParaRPr sz="1150"/>
          </a:p>
        </p:txBody>
      </p:sp>
    </p:spTree>
    <p:extLst>
      <p:ext uri="{BB962C8B-B14F-4D97-AF65-F5344CB8AC3E}">
        <p14:creationId xmlns:p14="http://schemas.microsoft.com/office/powerpoint/2010/main" val="807760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51548B4-A83B-467E-A37F-693B6E577338}"/>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C2949D2E-B958-4622-8DDF-5D1B7B99A97B}"/>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04</a:t>
            </a:r>
            <a:endParaRPr sz="2600"/>
          </a:p>
        </p:txBody>
      </p:sp>
      <p:sp>
        <p:nvSpPr>
          <p:cNvPr id="4" name="Text 2">
            <a:extLst>
              <a:ext uri="{FF2B5EF4-FFF2-40B4-BE49-F238E27FC236}">
                <a16:creationId xmlns:a16="http://schemas.microsoft.com/office/drawing/2014/main" id="{22195A24-FE81-49A4-8573-83501A2D5C23}"/>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프로젝트 수행 경과</a:t>
            </a:r>
            <a:endParaRPr sz="1500"/>
          </a:p>
        </p:txBody>
      </p:sp>
      <p:sp>
        <p:nvSpPr>
          <p:cNvPr id="5" name="Text 3">
            <a:extLst>
              <a:ext uri="{FF2B5EF4-FFF2-40B4-BE49-F238E27FC236}">
                <a16:creationId xmlns:a16="http://schemas.microsoft.com/office/drawing/2014/main" id="{8653CE1C-B3BD-4ECA-82C7-AECD7F806DEA}"/>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속도와 추가 시험 결과</a:t>
            </a:r>
            <a:endParaRPr sz="1900"/>
          </a:p>
        </p:txBody>
      </p:sp>
      <p:sp>
        <p:nvSpPr>
          <p:cNvPr id="6" name="Text 4">
            <a:extLst>
              <a:ext uri="{FF2B5EF4-FFF2-40B4-BE49-F238E27FC236}">
                <a16:creationId xmlns:a16="http://schemas.microsoft.com/office/drawing/2014/main" id="{6E03E778-3F7A-49FD-8EE8-0AC0A8499232}"/>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9</a:t>
            </a:r>
            <a:endParaRPr sz="1000"/>
          </a:p>
        </p:txBody>
      </p:sp>
      <p:sp>
        <p:nvSpPr>
          <p:cNvPr id="7" name="Text 5">
            <a:extLst>
              <a:ext uri="{FF2B5EF4-FFF2-40B4-BE49-F238E27FC236}">
                <a16:creationId xmlns:a16="http://schemas.microsoft.com/office/drawing/2014/main" id="{59B30ADB-F606-4DA1-A0F3-7807488AF31D}"/>
              </a:ext>
            </a:extLst>
          </p:cNvPr>
          <p:cNvSpPr>
            <a:spLocks noGrp="1"/>
          </p:cNvSpPr>
          <p:nvPr/>
        </p:nvSpPr>
        <p:spPr>
          <a:xfrm>
            <a:off x="548640" y="10515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같은 PC에서 측정한 CPU 추론 시간과 모델 크기</a:t>
            </a:r>
            <a:endParaRPr sz="1500"/>
          </a:p>
        </p:txBody>
      </p:sp>
      <p:sp>
        <p:nvSpPr>
          <p:cNvPr id="8" name="Shape 6">
            <a:extLst>
              <a:ext uri="{FF2B5EF4-FFF2-40B4-BE49-F238E27FC236}">
                <a16:creationId xmlns:a16="http://schemas.microsoft.com/office/drawing/2014/main" id="{06F275C6-D6EF-49C8-A651-9F6FED256DFC}"/>
              </a:ext>
            </a:extLst>
          </p:cNvPr>
          <p:cNvSpPr>
            <a:spLocks noGrp="1"/>
          </p:cNvSpPr>
          <p:nvPr/>
        </p:nvSpPr>
        <p:spPr>
          <a:xfrm>
            <a:off x="548640" y="1435608"/>
            <a:ext cx="1005840" cy="41148"/>
          </a:xfrm>
          <a:prstGeom prst="rect">
            <a:avLst/>
          </a:prstGeom>
          <a:solidFill>
            <a:srgbClr val="1F5C4D"/>
          </a:solidFill>
        </p:spPr>
        <p:txBody>
          <a:bodyPr/>
          <a:lstStyle/>
          <a:p>
            <a:endParaRPr lang="ko-KR" altLang="en-US"/>
          </a:p>
        </p:txBody>
      </p:sp>
      <p:graphicFrame>
        <p:nvGraphicFramePr>
          <p:cNvPr id="26" name="Table 0"/>
          <p:cNvGraphicFramePr/>
          <p:nvPr/>
        </p:nvGraphicFramePr>
        <p:xfrm>
          <a:off x="548640" y="1645920"/>
          <a:ext cx="11087100" cy="1600200"/>
        </p:xfrm>
        <a:graphic>
          <a:graphicData uri="http://schemas.openxmlformats.org/drawingml/2006/table">
            <a:tbl>
              <a:tblPr/>
              <a:tblGrid>
                <a:gridCol w="2190750">
                  <a:extLst>
                    <a:ext uri="{9D8B030D-6E8A-4147-A177-3AD203B41FA5}">
                      <a16:colId xmlns:a16="http://schemas.microsoft.com/office/drawing/2014/main" val="20000"/>
                    </a:ext>
                  </a:extLst>
                </a:gridCol>
                <a:gridCol w="2219325">
                  <a:extLst>
                    <a:ext uri="{9D8B030D-6E8A-4147-A177-3AD203B41FA5}">
                      <a16:colId xmlns:a16="http://schemas.microsoft.com/office/drawing/2014/main" val="20001"/>
                    </a:ext>
                  </a:extLst>
                </a:gridCol>
                <a:gridCol w="2219325">
                  <a:extLst>
                    <a:ext uri="{9D8B030D-6E8A-4147-A177-3AD203B41FA5}">
                      <a16:colId xmlns:a16="http://schemas.microsoft.com/office/drawing/2014/main" val="20002"/>
                    </a:ext>
                  </a:extLst>
                </a:gridCol>
                <a:gridCol w="2228850">
                  <a:extLst>
                    <a:ext uri="{9D8B030D-6E8A-4147-A177-3AD203B41FA5}">
                      <a16:colId xmlns:a16="http://schemas.microsoft.com/office/drawing/2014/main" val="20003"/>
                    </a:ext>
                  </a:extLst>
                </a:gridCol>
                <a:gridCol w="2228850">
                  <a:extLst>
                    <a:ext uri="{9D8B030D-6E8A-4147-A177-3AD203B41FA5}">
                      <a16:colId xmlns:a16="http://schemas.microsoft.com/office/drawing/2014/main" val="20004"/>
                    </a:ext>
                  </a:extLst>
                </a:gridCol>
              </a:tblGrid>
              <a:tr h="400050">
                <a:tc>
                  <a:txBody>
                    <a:bodyPr/>
                    <a:lstStyle/>
                    <a:p>
                      <a:pPr marL="0" indent="0" algn="ctr">
                        <a:buNone/>
                      </a:pPr>
                      <a:r>
                        <a:rPr sz="1388" b="1">
                          <a:solidFill>
                            <a:srgbClr val="173F35"/>
                          </a:solidFill>
                          <a:latin typeface="맑은 고딕"/>
                          <a:ea typeface="맑은 고딕"/>
                          <a:cs typeface="맑은 고딕"/>
                        </a:rPr>
                        <a:t>항목</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AI 11n</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DY 11n</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DY SEG 11n</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DY 26s noBG</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400050">
                <a:tc>
                  <a:txBody>
                    <a:bodyPr/>
                    <a:lstStyle/>
                    <a:p>
                      <a:pPr marL="0" indent="0" algn="ctr">
                        <a:buNone/>
                      </a:pPr>
                      <a:r>
                        <a:rPr sz="1388" b="1">
                          <a:solidFill>
                            <a:srgbClr val="202727"/>
                          </a:solidFill>
                          <a:latin typeface="맑은 고딕"/>
                          <a:ea typeface="맑은 고딕"/>
                          <a:cs typeface="맑은 고딕"/>
                        </a:rPr>
                        <a:t>추론 중앙값</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102.8 ms</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108.3 ms</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167.6 ms</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298.0 ms</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400050">
                <a:tc>
                  <a:txBody>
                    <a:bodyPr/>
                    <a:lstStyle/>
                    <a:p>
                      <a:pPr marL="0" indent="0" algn="ctr">
                        <a:buNone/>
                      </a:pPr>
                      <a:r>
                        <a:rPr sz="1388" b="1">
                          <a:solidFill>
                            <a:srgbClr val="202727"/>
                          </a:solidFill>
                          <a:latin typeface="맑은 고딕"/>
                          <a:ea typeface="맑은 고딕"/>
                          <a:cs typeface="맑은 고딕"/>
                        </a:rPr>
                        <a:t>모델 파일</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5.49 MB</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5.49 MB</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6.02 MB</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20.33 MB</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400050">
                <a:tc>
                  <a:txBody>
                    <a:bodyPr/>
                    <a:lstStyle/>
                    <a:p>
                      <a:pPr marL="0" indent="0" algn="ctr">
                        <a:buNone/>
                      </a:pPr>
                      <a:r>
                        <a:rPr sz="1388" b="1">
                          <a:solidFill>
                            <a:srgbClr val="202727"/>
                          </a:solidFill>
                          <a:latin typeface="맑은 고딕"/>
                          <a:ea typeface="맑은 고딕"/>
                          <a:cs typeface="맑은 고딕"/>
                        </a:rPr>
                        <a:t>배경 오탐</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3 / 24장</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0 / 24장</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0 / 24장</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1 / 24장</a:t>
                      </a:r>
                      <a:endParaRPr sz="12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bl>
          </a:graphicData>
        </a:graphic>
      </p:graphicFrame>
      <p:sp>
        <p:nvSpPr>
          <p:cNvPr id="10" name="Text 7">
            <a:extLst>
              <a:ext uri="{FF2B5EF4-FFF2-40B4-BE49-F238E27FC236}">
                <a16:creationId xmlns:a16="http://schemas.microsoft.com/office/drawing/2014/main" id="{87A3CE5B-2207-4188-B572-F1D2A0260AE5}"/>
              </a:ext>
            </a:extLst>
          </p:cNvPr>
          <p:cNvSpPr>
            <a:spLocks noGrp="1"/>
          </p:cNvSpPr>
          <p:nvPr/>
        </p:nvSpPr>
        <p:spPr>
          <a:xfrm>
            <a:off x="548640" y="33375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DY 26s noBG의 추가 시험</a:t>
            </a:r>
            <a:endParaRPr sz="1500"/>
          </a:p>
        </p:txBody>
      </p:sp>
      <p:sp>
        <p:nvSpPr>
          <p:cNvPr id="11" name="Shape 8">
            <a:extLst>
              <a:ext uri="{FF2B5EF4-FFF2-40B4-BE49-F238E27FC236}">
                <a16:creationId xmlns:a16="http://schemas.microsoft.com/office/drawing/2014/main" id="{EAEC6009-800B-49F1-BFA9-3E5B6A9355C9}"/>
              </a:ext>
            </a:extLst>
          </p:cNvPr>
          <p:cNvSpPr>
            <a:spLocks noGrp="1"/>
          </p:cNvSpPr>
          <p:nvPr/>
        </p:nvSpPr>
        <p:spPr>
          <a:xfrm>
            <a:off x="548640" y="3721608"/>
            <a:ext cx="1005840" cy="41148"/>
          </a:xfrm>
          <a:prstGeom prst="rect">
            <a:avLst/>
          </a:prstGeom>
          <a:solidFill>
            <a:srgbClr val="1F5C4D"/>
          </a:solidFill>
        </p:spPr>
        <p:txBody>
          <a:bodyPr/>
          <a:lstStyle/>
          <a:p>
            <a:endParaRPr lang="ko-KR" altLang="en-US"/>
          </a:p>
        </p:txBody>
      </p:sp>
      <p:sp>
        <p:nvSpPr>
          <p:cNvPr id="12" name="Shape 9">
            <a:extLst>
              <a:ext uri="{FF2B5EF4-FFF2-40B4-BE49-F238E27FC236}">
                <a16:creationId xmlns:a16="http://schemas.microsoft.com/office/drawing/2014/main" id="{DE41E417-440A-470C-932E-7BEB48B2BCD2}"/>
              </a:ext>
            </a:extLst>
          </p:cNvPr>
          <p:cNvSpPr>
            <a:spLocks noGrp="1"/>
          </p:cNvSpPr>
          <p:nvPr/>
        </p:nvSpPr>
        <p:spPr>
          <a:xfrm>
            <a:off x="566928" y="3840480"/>
            <a:ext cx="5440680" cy="2194560"/>
          </a:xfrm>
          <a:prstGeom prst="rect">
            <a:avLst/>
          </a:prstGeom>
          <a:solidFill>
            <a:srgbClr val="F1F5F3"/>
          </a:solidFill>
          <a:ln w="6350">
            <a:solidFill>
              <a:srgbClr val="A8BAB3"/>
            </a:solidFill>
            <a:prstDash val="solid"/>
          </a:ln>
        </p:spPr>
        <p:txBody>
          <a:bodyPr/>
          <a:lstStyle/>
          <a:p>
            <a:endParaRPr lang="ko-KR" altLang="en-US"/>
          </a:p>
        </p:txBody>
      </p:sp>
      <p:sp>
        <p:nvSpPr>
          <p:cNvPr id="13" name="Text 10">
            <a:extLst>
              <a:ext uri="{FF2B5EF4-FFF2-40B4-BE49-F238E27FC236}">
                <a16:creationId xmlns:a16="http://schemas.microsoft.com/office/drawing/2014/main" id="{DB2C91BE-00C6-4439-9991-71A9B7F81441}"/>
              </a:ext>
            </a:extLst>
          </p:cNvPr>
          <p:cNvSpPr>
            <a:spLocks noGrp="1"/>
          </p:cNvSpPr>
          <p:nvPr/>
        </p:nvSpPr>
        <p:spPr>
          <a:xfrm>
            <a:off x="777240" y="3931920"/>
            <a:ext cx="5029200" cy="274320"/>
          </a:xfrm>
          <a:prstGeom prst="rect">
            <a:avLst/>
          </a:prstGeom>
          <a:noFill/>
        </p:spPr>
        <p:txBody>
          <a:bodyPr wrap="square" anchor="ctr"/>
          <a:lstStyle/>
          <a:p>
            <a:pPr marL="0" indent="0">
              <a:buNone/>
            </a:pPr>
            <a:r>
              <a:rPr sz="1300" b="1">
                <a:solidFill>
                  <a:srgbClr val="1F5C4D"/>
                </a:solidFill>
                <a:latin typeface="맑은 고딕"/>
                <a:ea typeface="맑은 고딕"/>
                <a:cs typeface="맑은 고딕"/>
              </a:rPr>
              <a:t>대표 클래스 분류</a:t>
            </a:r>
            <a:endParaRPr sz="1300"/>
          </a:p>
        </p:txBody>
      </p:sp>
      <p:sp>
        <p:nvSpPr>
          <p:cNvPr id="14" name="Text 11">
            <a:extLst>
              <a:ext uri="{FF2B5EF4-FFF2-40B4-BE49-F238E27FC236}">
                <a16:creationId xmlns:a16="http://schemas.microsoft.com/office/drawing/2014/main" id="{C9FF4D31-4D7C-4AF9-909E-8D4277A44C5D}"/>
              </a:ext>
            </a:extLst>
          </p:cNvPr>
          <p:cNvSpPr>
            <a:spLocks noGrp="1"/>
          </p:cNvSpPr>
          <p:nvPr/>
        </p:nvSpPr>
        <p:spPr>
          <a:xfrm>
            <a:off x="822960" y="4251960"/>
            <a:ext cx="5029200" cy="1737360"/>
          </a:xfrm>
          <a:prstGeom prst="rect">
            <a:avLst/>
          </a:prstGeom>
          <a:noFill/>
        </p:spPr>
        <p:txBody>
          <a:bodyPr anchor="t">
            <a:noAutofit/>
          </a:bodyPr>
          <a:lstStyle/>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110장 중 66장 정답 (60.00%)</a:t>
            </a:r>
            <a:endParaRPr sz="1150"/>
          </a:p>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배터리 30장 중 30장 정답</a:t>
            </a:r>
            <a:endParaRPr sz="1150"/>
          </a:p>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플라스틱 16장 중 1장 정답</a:t>
            </a:r>
            <a:endParaRPr sz="1150"/>
          </a:p>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제품 사진 위주 배터리 결과의 일반화 제한</a:t>
            </a:r>
            <a:endParaRPr sz="1150"/>
          </a:p>
        </p:txBody>
      </p:sp>
      <p:sp>
        <p:nvSpPr>
          <p:cNvPr id="15" name="Shape 12">
            <a:extLst>
              <a:ext uri="{FF2B5EF4-FFF2-40B4-BE49-F238E27FC236}">
                <a16:creationId xmlns:a16="http://schemas.microsoft.com/office/drawing/2014/main" id="{F0BEE32E-46EA-4EE5-80DD-E06A73EAE84E}"/>
              </a:ext>
            </a:extLst>
          </p:cNvPr>
          <p:cNvSpPr>
            <a:spLocks noGrp="1"/>
          </p:cNvSpPr>
          <p:nvPr/>
        </p:nvSpPr>
        <p:spPr>
          <a:xfrm>
            <a:off x="6199632" y="3840480"/>
            <a:ext cx="5440680" cy="2194560"/>
          </a:xfrm>
          <a:prstGeom prst="rect">
            <a:avLst/>
          </a:prstGeom>
          <a:solidFill>
            <a:srgbClr val="DCE7E2"/>
          </a:solidFill>
          <a:ln w="6350">
            <a:solidFill>
              <a:srgbClr val="A8BAB3"/>
            </a:solidFill>
            <a:prstDash val="solid"/>
          </a:ln>
        </p:spPr>
        <p:txBody>
          <a:bodyPr/>
          <a:lstStyle/>
          <a:p>
            <a:endParaRPr lang="ko-KR" altLang="en-US"/>
          </a:p>
        </p:txBody>
      </p:sp>
      <p:sp>
        <p:nvSpPr>
          <p:cNvPr id="16" name="Text 13">
            <a:extLst>
              <a:ext uri="{FF2B5EF4-FFF2-40B4-BE49-F238E27FC236}">
                <a16:creationId xmlns:a16="http://schemas.microsoft.com/office/drawing/2014/main" id="{87BD4FDB-F625-43A9-88EB-001CE0103ADC}"/>
              </a:ext>
            </a:extLst>
          </p:cNvPr>
          <p:cNvSpPr>
            <a:spLocks noGrp="1"/>
          </p:cNvSpPr>
          <p:nvPr/>
        </p:nvSpPr>
        <p:spPr>
          <a:xfrm>
            <a:off x="6400800" y="3931920"/>
            <a:ext cx="5029200" cy="274320"/>
          </a:xfrm>
          <a:prstGeom prst="rect">
            <a:avLst/>
          </a:prstGeom>
          <a:noFill/>
        </p:spPr>
        <p:txBody>
          <a:bodyPr wrap="square" anchor="ctr"/>
          <a:lstStyle/>
          <a:p>
            <a:pPr marL="0" indent="0">
              <a:buNone/>
            </a:pPr>
            <a:r>
              <a:rPr sz="1300" b="1">
                <a:solidFill>
                  <a:srgbClr val="1F5C4D"/>
                </a:solidFill>
                <a:latin typeface="맑은 고딕"/>
                <a:ea typeface="맑은 고딕"/>
                <a:cs typeface="맑은 고딕"/>
              </a:rPr>
              <a:t>밝기와 흐림의 영향</a:t>
            </a:r>
            <a:endParaRPr sz="1300"/>
          </a:p>
        </p:txBody>
      </p:sp>
      <p:sp>
        <p:nvSpPr>
          <p:cNvPr id="17" name="Text 14">
            <a:extLst>
              <a:ext uri="{FF2B5EF4-FFF2-40B4-BE49-F238E27FC236}">
                <a16:creationId xmlns:a16="http://schemas.microsoft.com/office/drawing/2014/main" id="{D45A390D-C888-4B04-AAFF-F44F0E365E61}"/>
              </a:ext>
            </a:extLst>
          </p:cNvPr>
          <p:cNvSpPr>
            <a:spLocks noGrp="1"/>
          </p:cNvSpPr>
          <p:nvPr/>
        </p:nvSpPr>
        <p:spPr>
          <a:xfrm>
            <a:off x="6446520" y="4251960"/>
            <a:ext cx="5029200" cy="1737360"/>
          </a:xfrm>
          <a:prstGeom prst="rect">
            <a:avLst/>
          </a:prstGeom>
          <a:noFill/>
        </p:spPr>
        <p:txBody>
          <a:bodyPr anchor="t">
            <a:noAutofit/>
          </a:bodyPr>
          <a:lstStyle/>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같은 20장, 59객체로 비교</a:t>
            </a:r>
            <a:endParaRPr sz="1150"/>
          </a:p>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대조 mAP50–95 47.82%</a:t>
            </a:r>
            <a:endParaRPr sz="1150"/>
          </a:p>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밝기 40%: 44.98% / 흐림: 16.53%</a:t>
            </a:r>
            <a:endParaRPr sz="1150"/>
          </a:p>
          <a:p>
            <a:pPr marL="342900" indent="-342900" algn="l">
              <a:spcAft>
                <a:spcPts val="600"/>
              </a:spcAft>
              <a:buSzPct val="100000"/>
              <a:buChar char="▪"/>
              <a:defRPr sz="1500">
                <a:solidFill>
                  <a:srgbClr val="173F35"/>
                </a:solidFill>
                <a:latin typeface="맑은 고딕"/>
                <a:ea typeface="맑은 고딕"/>
                <a:cs typeface="맑은 고딕"/>
              </a:defRPr>
            </a:pPr>
            <a:r>
              <a:rPr sz="1500">
                <a:solidFill>
                  <a:srgbClr val="173F35"/>
                </a:solidFill>
                <a:latin typeface="맑은 고딕"/>
                <a:ea typeface="맑은 고딕"/>
                <a:cs typeface="맑은 고딕"/>
              </a:rPr>
              <a:t>흐림에서 31.29%p 하락</a:t>
            </a:r>
            <a:endParaRPr sz="1150"/>
          </a:p>
        </p:txBody>
      </p:sp>
    </p:spTree>
    <p:extLst>
      <p:ext uri="{BB962C8B-B14F-4D97-AF65-F5344CB8AC3E}">
        <p14:creationId xmlns:p14="http://schemas.microsoft.com/office/powerpoint/2010/main" val="1792199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7886299-9891-4138-8310-A12ACE9E0F60}"/>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FAFC5622-7CFE-4C0D-B50D-8099C6B65F83}"/>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04</a:t>
            </a:r>
            <a:endParaRPr sz="2600"/>
          </a:p>
        </p:txBody>
      </p:sp>
      <p:sp>
        <p:nvSpPr>
          <p:cNvPr id="4" name="Text 2">
            <a:extLst>
              <a:ext uri="{FF2B5EF4-FFF2-40B4-BE49-F238E27FC236}">
                <a16:creationId xmlns:a16="http://schemas.microsoft.com/office/drawing/2014/main" id="{6B51A2DF-BA55-41CB-A97C-28FC9EE1E435}"/>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프로젝트 수행 경과</a:t>
            </a:r>
            <a:endParaRPr sz="1500"/>
          </a:p>
        </p:txBody>
      </p:sp>
      <p:sp>
        <p:nvSpPr>
          <p:cNvPr id="5" name="Text 3">
            <a:extLst>
              <a:ext uri="{FF2B5EF4-FFF2-40B4-BE49-F238E27FC236}">
                <a16:creationId xmlns:a16="http://schemas.microsoft.com/office/drawing/2014/main" id="{A1A1B9E1-548E-44B0-A579-4B58BEB91B3F}"/>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잠정 결론과 해석의 한계</a:t>
            </a:r>
            <a:endParaRPr sz="1900"/>
          </a:p>
        </p:txBody>
      </p:sp>
      <p:sp>
        <p:nvSpPr>
          <p:cNvPr id="6" name="Text 4">
            <a:extLst>
              <a:ext uri="{FF2B5EF4-FFF2-40B4-BE49-F238E27FC236}">
                <a16:creationId xmlns:a16="http://schemas.microsoft.com/office/drawing/2014/main" id="{FE513BE4-DF64-41AD-8E7F-829003584A07}"/>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10</a:t>
            </a:r>
            <a:endParaRPr sz="1000"/>
          </a:p>
        </p:txBody>
      </p:sp>
      <p:sp>
        <p:nvSpPr>
          <p:cNvPr id="7" name="Text 5">
            <a:extLst>
              <a:ext uri="{FF2B5EF4-FFF2-40B4-BE49-F238E27FC236}">
                <a16:creationId xmlns:a16="http://schemas.microsoft.com/office/drawing/2014/main" id="{9CAC9757-28F9-4D00-875D-D865C2F73426}"/>
              </a:ext>
            </a:extLst>
          </p:cNvPr>
          <p:cNvSpPr>
            <a:spLocks noGrp="1"/>
          </p:cNvSpPr>
          <p:nvPr/>
        </p:nvSpPr>
        <p:spPr>
          <a:xfrm>
            <a:off x="548640" y="1051560"/>
            <a:ext cx="11064240" cy="365760"/>
          </a:xfrm>
          <a:prstGeom prst="rect">
            <a:avLst/>
          </a:prstGeom>
          <a:noFill/>
        </p:spPr>
        <p:txBody>
          <a:bodyPr wrap="square" anchor="ctr"/>
          <a:lstStyle/>
          <a:p>
            <a:pPr marL="0" indent="0">
              <a:buNone/>
            </a:pPr>
            <a:r>
              <a:rPr sz="1500" b="1" dirty="0">
                <a:solidFill>
                  <a:srgbClr val="143C32"/>
                </a:solidFill>
                <a:latin typeface="맑은 고딕"/>
                <a:ea typeface="맑은 고딕"/>
                <a:cs typeface="맑은 고딕"/>
              </a:rPr>
              <a:t>DY 26s는 </a:t>
            </a:r>
            <a:r>
              <a:rPr sz="1500" b="1" dirty="0" err="1">
                <a:solidFill>
                  <a:srgbClr val="143C32"/>
                </a:solidFill>
                <a:latin typeface="맑은 고딕"/>
                <a:ea typeface="맑은 고딕"/>
                <a:cs typeface="맑은 고딕"/>
              </a:rPr>
              <a:t>성능</a:t>
            </a:r>
            <a:r>
              <a:rPr sz="1500" b="1" dirty="0">
                <a:solidFill>
                  <a:srgbClr val="143C32"/>
                </a:solidFill>
                <a:latin typeface="맑은 고딕"/>
                <a:ea typeface="맑은 고딕"/>
                <a:cs typeface="맑은 고딕"/>
              </a:rPr>
              <a:t> </a:t>
            </a:r>
            <a:r>
              <a:rPr sz="1500" b="1" dirty="0" err="1">
                <a:solidFill>
                  <a:srgbClr val="143C32"/>
                </a:solidFill>
                <a:latin typeface="맑은 고딕"/>
                <a:ea typeface="맑은 고딕"/>
                <a:cs typeface="맑은 고딕"/>
              </a:rPr>
              <a:t>우선</a:t>
            </a:r>
            <a:r>
              <a:rPr sz="1500" b="1" dirty="0">
                <a:solidFill>
                  <a:srgbClr val="143C32"/>
                </a:solidFill>
                <a:latin typeface="맑은 고딕"/>
                <a:ea typeface="맑은 고딕"/>
                <a:cs typeface="맑은 고딕"/>
              </a:rPr>
              <a:t> </a:t>
            </a:r>
            <a:r>
              <a:rPr sz="1500" b="1" dirty="0" err="1">
                <a:solidFill>
                  <a:srgbClr val="143C32"/>
                </a:solidFill>
                <a:latin typeface="맑은 고딕"/>
                <a:ea typeface="맑은 고딕"/>
                <a:cs typeface="맑은 고딕"/>
              </a:rPr>
              <a:t>후보</a:t>
            </a:r>
            <a:r>
              <a:rPr sz="1500" b="1" dirty="0">
                <a:solidFill>
                  <a:srgbClr val="143C32"/>
                </a:solidFill>
                <a:latin typeface="맑은 고딕"/>
                <a:ea typeface="맑은 고딕"/>
                <a:cs typeface="맑은 고딕"/>
              </a:rPr>
              <a:t>, </a:t>
            </a:r>
            <a:r>
              <a:rPr sz="1500" b="1" dirty="0" err="1">
                <a:solidFill>
                  <a:srgbClr val="143C32"/>
                </a:solidFill>
                <a:latin typeface="맑은 고딕"/>
                <a:ea typeface="맑은 고딕"/>
                <a:cs typeface="맑은 고딕"/>
              </a:rPr>
              <a:t>최종</a:t>
            </a:r>
            <a:r>
              <a:rPr sz="1500" b="1" dirty="0">
                <a:solidFill>
                  <a:srgbClr val="143C32"/>
                </a:solidFill>
                <a:latin typeface="맑은 고딕"/>
                <a:ea typeface="맑은 고딕"/>
                <a:cs typeface="맑은 고딕"/>
              </a:rPr>
              <a:t> </a:t>
            </a:r>
            <a:r>
              <a:rPr sz="1500" b="1" dirty="0" err="1">
                <a:solidFill>
                  <a:srgbClr val="143C32"/>
                </a:solidFill>
                <a:latin typeface="맑은 고딕"/>
                <a:ea typeface="맑은 고딕"/>
                <a:cs typeface="맑은 고딕"/>
              </a:rPr>
              <a:t>선정은</a:t>
            </a:r>
            <a:r>
              <a:rPr sz="1500" b="1" dirty="0">
                <a:solidFill>
                  <a:srgbClr val="143C32"/>
                </a:solidFill>
                <a:latin typeface="맑은 고딕"/>
                <a:ea typeface="맑은 고딕"/>
                <a:cs typeface="맑은 고딕"/>
              </a:rPr>
              <a:t> </a:t>
            </a:r>
            <a:r>
              <a:rPr sz="1500" b="1" dirty="0" err="1">
                <a:solidFill>
                  <a:srgbClr val="143C32"/>
                </a:solidFill>
                <a:latin typeface="맑은 고딕"/>
                <a:ea typeface="맑은 고딕"/>
                <a:cs typeface="맑은 고딕"/>
              </a:rPr>
              <a:t>보류</a:t>
            </a:r>
            <a:endParaRPr sz="1500" dirty="0"/>
          </a:p>
        </p:txBody>
      </p:sp>
      <p:sp>
        <p:nvSpPr>
          <p:cNvPr id="8" name="Shape 6">
            <a:extLst>
              <a:ext uri="{FF2B5EF4-FFF2-40B4-BE49-F238E27FC236}">
                <a16:creationId xmlns:a16="http://schemas.microsoft.com/office/drawing/2014/main" id="{33E0AE9F-F443-4F8A-BFD8-4E7DF0213897}"/>
              </a:ext>
            </a:extLst>
          </p:cNvPr>
          <p:cNvSpPr>
            <a:spLocks noGrp="1"/>
          </p:cNvSpPr>
          <p:nvPr/>
        </p:nvSpPr>
        <p:spPr>
          <a:xfrm>
            <a:off x="548640" y="1435608"/>
            <a:ext cx="1005840" cy="41148"/>
          </a:xfrm>
          <a:prstGeom prst="rect">
            <a:avLst/>
          </a:prstGeom>
          <a:solidFill>
            <a:srgbClr val="1F5C4D"/>
          </a:solidFill>
        </p:spPr>
        <p:txBody>
          <a:bodyPr/>
          <a:lstStyle/>
          <a:p>
            <a:endParaRPr lang="ko-KR" altLang="en-US"/>
          </a:p>
        </p:txBody>
      </p:sp>
      <p:sp>
        <p:nvSpPr>
          <p:cNvPr id="9" name="Shape 7">
            <a:extLst>
              <a:ext uri="{FF2B5EF4-FFF2-40B4-BE49-F238E27FC236}">
                <a16:creationId xmlns:a16="http://schemas.microsoft.com/office/drawing/2014/main" id="{6D7AECE7-4DE8-4421-B60E-472C7A813F2A}"/>
              </a:ext>
            </a:extLst>
          </p:cNvPr>
          <p:cNvSpPr>
            <a:spLocks noGrp="1"/>
          </p:cNvSpPr>
          <p:nvPr/>
        </p:nvSpPr>
        <p:spPr>
          <a:xfrm>
            <a:off x="566928" y="1645920"/>
            <a:ext cx="2606040" cy="1298448"/>
          </a:xfrm>
          <a:prstGeom prst="rect">
            <a:avLst/>
          </a:prstGeom>
          <a:solidFill>
            <a:srgbClr val="F1F5F3"/>
          </a:solidFill>
          <a:ln w="6350">
            <a:solidFill>
              <a:srgbClr val="A8BAB3"/>
            </a:solidFill>
            <a:prstDash val="solid"/>
          </a:ln>
        </p:spPr>
        <p:txBody>
          <a:bodyPr/>
          <a:lstStyle/>
          <a:p>
            <a:endParaRPr lang="ko-KR" altLang="en-US"/>
          </a:p>
        </p:txBody>
      </p:sp>
      <p:sp>
        <p:nvSpPr>
          <p:cNvPr id="10" name="Shape 8">
            <a:extLst>
              <a:ext uri="{FF2B5EF4-FFF2-40B4-BE49-F238E27FC236}">
                <a16:creationId xmlns:a16="http://schemas.microsoft.com/office/drawing/2014/main" id="{6A96A208-C83A-40DC-A060-4398B255A63A}"/>
              </a:ext>
            </a:extLst>
          </p:cNvPr>
          <p:cNvSpPr>
            <a:spLocks noGrp="1"/>
          </p:cNvSpPr>
          <p:nvPr/>
        </p:nvSpPr>
        <p:spPr>
          <a:xfrm>
            <a:off x="566928" y="1645920"/>
            <a:ext cx="2606040" cy="64008"/>
          </a:xfrm>
          <a:prstGeom prst="rect">
            <a:avLst/>
          </a:prstGeom>
          <a:solidFill>
            <a:srgbClr val="1F5C4D"/>
          </a:solidFill>
        </p:spPr>
        <p:txBody>
          <a:bodyPr/>
          <a:lstStyle/>
          <a:p>
            <a:endParaRPr lang="ko-KR" altLang="en-US"/>
          </a:p>
        </p:txBody>
      </p:sp>
      <p:sp>
        <p:nvSpPr>
          <p:cNvPr id="11" name="Text 9">
            <a:extLst>
              <a:ext uri="{FF2B5EF4-FFF2-40B4-BE49-F238E27FC236}">
                <a16:creationId xmlns:a16="http://schemas.microsoft.com/office/drawing/2014/main" id="{37F8D6E5-05D0-4860-AFF8-136987529033}"/>
              </a:ext>
            </a:extLst>
          </p:cNvPr>
          <p:cNvSpPr>
            <a:spLocks noGrp="1"/>
          </p:cNvSpPr>
          <p:nvPr/>
        </p:nvSpPr>
        <p:spPr>
          <a:xfrm>
            <a:off x="566928" y="1773936"/>
            <a:ext cx="2606040" cy="274320"/>
          </a:xfrm>
          <a:prstGeom prst="rect">
            <a:avLst/>
          </a:prstGeom>
          <a:noFill/>
        </p:spPr>
        <p:txBody>
          <a:bodyPr wrap="square" anchor="ctr"/>
          <a:lstStyle/>
          <a:p>
            <a:pPr marL="0" indent="0" algn="ctr">
              <a:buNone/>
            </a:pPr>
            <a:r>
              <a:rPr sz="1150">
                <a:solidFill>
                  <a:srgbClr val="5A6B64"/>
                </a:solidFill>
                <a:latin typeface="맑은 고딕"/>
                <a:ea typeface="맑은 고딕"/>
                <a:cs typeface="맑은 고딕"/>
              </a:rPr>
              <a:t>박스 mAP50–95</a:t>
            </a:r>
            <a:endParaRPr sz="1150"/>
          </a:p>
        </p:txBody>
      </p:sp>
      <p:sp>
        <p:nvSpPr>
          <p:cNvPr id="12" name="Text 10">
            <a:extLst>
              <a:ext uri="{FF2B5EF4-FFF2-40B4-BE49-F238E27FC236}">
                <a16:creationId xmlns:a16="http://schemas.microsoft.com/office/drawing/2014/main" id="{9921E289-7261-40ED-B405-CA73C146A569}"/>
              </a:ext>
            </a:extLst>
          </p:cNvPr>
          <p:cNvSpPr>
            <a:spLocks noGrp="1"/>
          </p:cNvSpPr>
          <p:nvPr/>
        </p:nvSpPr>
        <p:spPr>
          <a:xfrm>
            <a:off x="566928" y="2029968"/>
            <a:ext cx="2606040" cy="548640"/>
          </a:xfrm>
          <a:prstGeom prst="rect">
            <a:avLst/>
          </a:prstGeom>
          <a:noFill/>
        </p:spPr>
        <p:txBody>
          <a:bodyPr wrap="square" anchor="ctr"/>
          <a:lstStyle/>
          <a:p>
            <a:pPr marL="0" indent="0" algn="ctr">
              <a:buNone/>
            </a:pPr>
            <a:r>
              <a:rPr sz="2400" b="1">
                <a:solidFill>
                  <a:srgbClr val="1F5C4D"/>
                </a:solidFill>
                <a:latin typeface="맑은 고딕"/>
                <a:ea typeface="맑은 고딕"/>
                <a:cs typeface="맑은 고딕"/>
              </a:rPr>
              <a:t>50.25%</a:t>
            </a:r>
            <a:endParaRPr sz="2400"/>
          </a:p>
        </p:txBody>
      </p:sp>
      <p:sp>
        <p:nvSpPr>
          <p:cNvPr id="13" name="Text 11">
            <a:extLst>
              <a:ext uri="{FF2B5EF4-FFF2-40B4-BE49-F238E27FC236}">
                <a16:creationId xmlns:a16="http://schemas.microsoft.com/office/drawing/2014/main" id="{9B729A2B-8756-461D-9E34-69FA29658174}"/>
              </a:ext>
            </a:extLst>
          </p:cNvPr>
          <p:cNvSpPr>
            <a:spLocks noGrp="1"/>
          </p:cNvSpPr>
          <p:nvPr/>
        </p:nvSpPr>
        <p:spPr>
          <a:xfrm>
            <a:off x="566928" y="2596896"/>
            <a:ext cx="2606040" cy="274320"/>
          </a:xfrm>
          <a:prstGeom prst="rect">
            <a:avLst/>
          </a:prstGeom>
          <a:noFill/>
        </p:spPr>
        <p:txBody>
          <a:bodyPr wrap="square" anchor="ctr"/>
          <a:lstStyle/>
          <a:p>
            <a:pPr marL="0" indent="0" algn="ctr">
              <a:buNone/>
            </a:pPr>
            <a:r>
              <a:rPr sz="1050">
                <a:solidFill>
                  <a:srgbClr val="5A6B64"/>
                </a:solidFill>
                <a:latin typeface="맑은 고딕"/>
                <a:ea typeface="맑은 고딕"/>
                <a:cs typeface="맑은 고딕"/>
              </a:rPr>
              <a:t>이번 4종 비교 최고</a:t>
            </a:r>
            <a:endParaRPr sz="1050"/>
          </a:p>
        </p:txBody>
      </p:sp>
      <p:sp>
        <p:nvSpPr>
          <p:cNvPr id="14" name="Shape 12">
            <a:extLst>
              <a:ext uri="{FF2B5EF4-FFF2-40B4-BE49-F238E27FC236}">
                <a16:creationId xmlns:a16="http://schemas.microsoft.com/office/drawing/2014/main" id="{D7E216D4-03B9-4EF3-B36D-F0144180480C}"/>
              </a:ext>
            </a:extLst>
          </p:cNvPr>
          <p:cNvSpPr>
            <a:spLocks noGrp="1"/>
          </p:cNvSpPr>
          <p:nvPr/>
        </p:nvSpPr>
        <p:spPr>
          <a:xfrm>
            <a:off x="3364992" y="1645920"/>
            <a:ext cx="2606040" cy="1298448"/>
          </a:xfrm>
          <a:prstGeom prst="rect">
            <a:avLst/>
          </a:prstGeom>
          <a:solidFill>
            <a:srgbClr val="F1F5F3"/>
          </a:solidFill>
          <a:ln w="6350">
            <a:solidFill>
              <a:srgbClr val="A8BAB3"/>
            </a:solidFill>
            <a:prstDash val="solid"/>
          </a:ln>
        </p:spPr>
        <p:txBody>
          <a:bodyPr/>
          <a:lstStyle/>
          <a:p>
            <a:endParaRPr lang="ko-KR" altLang="en-US"/>
          </a:p>
        </p:txBody>
      </p:sp>
      <p:sp>
        <p:nvSpPr>
          <p:cNvPr id="15" name="Shape 13">
            <a:extLst>
              <a:ext uri="{FF2B5EF4-FFF2-40B4-BE49-F238E27FC236}">
                <a16:creationId xmlns:a16="http://schemas.microsoft.com/office/drawing/2014/main" id="{2FA6C735-B690-40D6-949D-195AA84C33DA}"/>
              </a:ext>
            </a:extLst>
          </p:cNvPr>
          <p:cNvSpPr>
            <a:spLocks noGrp="1"/>
          </p:cNvSpPr>
          <p:nvPr/>
        </p:nvSpPr>
        <p:spPr>
          <a:xfrm>
            <a:off x="3364992" y="1645920"/>
            <a:ext cx="2606040" cy="64008"/>
          </a:xfrm>
          <a:prstGeom prst="rect">
            <a:avLst/>
          </a:prstGeom>
          <a:solidFill>
            <a:srgbClr val="1F5C4D"/>
          </a:solidFill>
        </p:spPr>
        <p:txBody>
          <a:bodyPr/>
          <a:lstStyle/>
          <a:p>
            <a:endParaRPr lang="ko-KR" altLang="en-US"/>
          </a:p>
        </p:txBody>
      </p:sp>
      <p:sp>
        <p:nvSpPr>
          <p:cNvPr id="16" name="Text 14">
            <a:extLst>
              <a:ext uri="{FF2B5EF4-FFF2-40B4-BE49-F238E27FC236}">
                <a16:creationId xmlns:a16="http://schemas.microsoft.com/office/drawing/2014/main" id="{958F720D-706A-4130-A4B2-248AE953CEE9}"/>
              </a:ext>
            </a:extLst>
          </p:cNvPr>
          <p:cNvSpPr>
            <a:spLocks noGrp="1"/>
          </p:cNvSpPr>
          <p:nvPr/>
        </p:nvSpPr>
        <p:spPr>
          <a:xfrm>
            <a:off x="3364992" y="1773936"/>
            <a:ext cx="2606040" cy="274320"/>
          </a:xfrm>
          <a:prstGeom prst="rect">
            <a:avLst/>
          </a:prstGeom>
          <a:noFill/>
        </p:spPr>
        <p:txBody>
          <a:bodyPr wrap="square" anchor="ctr"/>
          <a:lstStyle/>
          <a:p>
            <a:pPr marL="0" indent="0" algn="ctr">
              <a:buNone/>
            </a:pPr>
            <a:r>
              <a:rPr sz="1150">
                <a:solidFill>
                  <a:srgbClr val="5A6B64"/>
                </a:solidFill>
                <a:latin typeface="맑은 고딕"/>
                <a:ea typeface="맑은 고딕"/>
                <a:cs typeface="맑은 고딕"/>
              </a:rPr>
              <a:t>재현율</a:t>
            </a:r>
            <a:endParaRPr sz="1150"/>
          </a:p>
        </p:txBody>
      </p:sp>
      <p:sp>
        <p:nvSpPr>
          <p:cNvPr id="17" name="Text 15">
            <a:extLst>
              <a:ext uri="{FF2B5EF4-FFF2-40B4-BE49-F238E27FC236}">
                <a16:creationId xmlns:a16="http://schemas.microsoft.com/office/drawing/2014/main" id="{75E871B4-A3B9-41EF-99FF-22AC2A4C27A1}"/>
              </a:ext>
            </a:extLst>
          </p:cNvPr>
          <p:cNvSpPr>
            <a:spLocks noGrp="1"/>
          </p:cNvSpPr>
          <p:nvPr/>
        </p:nvSpPr>
        <p:spPr>
          <a:xfrm>
            <a:off x="3364992" y="2029968"/>
            <a:ext cx="2606040" cy="548640"/>
          </a:xfrm>
          <a:prstGeom prst="rect">
            <a:avLst/>
          </a:prstGeom>
          <a:noFill/>
        </p:spPr>
        <p:txBody>
          <a:bodyPr wrap="square" anchor="ctr"/>
          <a:lstStyle/>
          <a:p>
            <a:pPr marL="0" indent="0" algn="ctr">
              <a:buNone/>
            </a:pPr>
            <a:r>
              <a:rPr sz="2400" b="1">
                <a:solidFill>
                  <a:srgbClr val="1F5C4D"/>
                </a:solidFill>
                <a:latin typeface="맑은 고딕"/>
                <a:ea typeface="맑은 고딕"/>
                <a:cs typeface="맑은 고딕"/>
              </a:rPr>
              <a:t>36.49%</a:t>
            </a:r>
            <a:endParaRPr sz="2400"/>
          </a:p>
        </p:txBody>
      </p:sp>
      <p:sp>
        <p:nvSpPr>
          <p:cNvPr id="18" name="Text 16">
            <a:extLst>
              <a:ext uri="{FF2B5EF4-FFF2-40B4-BE49-F238E27FC236}">
                <a16:creationId xmlns:a16="http://schemas.microsoft.com/office/drawing/2014/main" id="{7B0ACCCB-9B0A-49C5-906C-CC1E01A56CEC}"/>
              </a:ext>
            </a:extLst>
          </p:cNvPr>
          <p:cNvSpPr>
            <a:spLocks noGrp="1"/>
          </p:cNvSpPr>
          <p:nvPr/>
        </p:nvSpPr>
        <p:spPr>
          <a:xfrm>
            <a:off x="3364992" y="2596896"/>
            <a:ext cx="2606040" cy="274320"/>
          </a:xfrm>
          <a:prstGeom prst="rect">
            <a:avLst/>
          </a:prstGeom>
          <a:noFill/>
        </p:spPr>
        <p:txBody>
          <a:bodyPr wrap="square" anchor="ctr"/>
          <a:lstStyle/>
          <a:p>
            <a:pPr marL="0" indent="0" algn="ctr">
              <a:buNone/>
            </a:pPr>
            <a:r>
              <a:rPr sz="1050">
                <a:solidFill>
                  <a:srgbClr val="5A6B64"/>
                </a:solidFill>
                <a:latin typeface="맑은 고딕"/>
                <a:ea typeface="맑은 고딕"/>
                <a:cs typeface="맑은 고딕"/>
              </a:rPr>
              <a:t>정답 탐지 158 / 433객체</a:t>
            </a:r>
            <a:endParaRPr sz="1050"/>
          </a:p>
        </p:txBody>
      </p:sp>
      <p:sp>
        <p:nvSpPr>
          <p:cNvPr id="19" name="Shape 17">
            <a:extLst>
              <a:ext uri="{FF2B5EF4-FFF2-40B4-BE49-F238E27FC236}">
                <a16:creationId xmlns:a16="http://schemas.microsoft.com/office/drawing/2014/main" id="{2C382642-A213-43B6-920E-9DF05B0289A6}"/>
              </a:ext>
            </a:extLst>
          </p:cNvPr>
          <p:cNvSpPr>
            <a:spLocks noGrp="1"/>
          </p:cNvSpPr>
          <p:nvPr/>
        </p:nvSpPr>
        <p:spPr>
          <a:xfrm>
            <a:off x="6163056" y="1645920"/>
            <a:ext cx="2606040" cy="1298448"/>
          </a:xfrm>
          <a:prstGeom prst="rect">
            <a:avLst/>
          </a:prstGeom>
          <a:solidFill>
            <a:srgbClr val="F1F5F3"/>
          </a:solidFill>
          <a:ln w="6350">
            <a:solidFill>
              <a:srgbClr val="A8BAB3"/>
            </a:solidFill>
            <a:prstDash val="solid"/>
          </a:ln>
        </p:spPr>
        <p:txBody>
          <a:bodyPr/>
          <a:lstStyle/>
          <a:p>
            <a:endParaRPr lang="ko-KR" altLang="en-US"/>
          </a:p>
        </p:txBody>
      </p:sp>
      <p:sp>
        <p:nvSpPr>
          <p:cNvPr id="20" name="Shape 18">
            <a:extLst>
              <a:ext uri="{FF2B5EF4-FFF2-40B4-BE49-F238E27FC236}">
                <a16:creationId xmlns:a16="http://schemas.microsoft.com/office/drawing/2014/main" id="{4EDF9CFA-AEE6-4E69-B87E-4379C88A3A1E}"/>
              </a:ext>
            </a:extLst>
          </p:cNvPr>
          <p:cNvSpPr>
            <a:spLocks noGrp="1"/>
          </p:cNvSpPr>
          <p:nvPr/>
        </p:nvSpPr>
        <p:spPr>
          <a:xfrm>
            <a:off x="6163056" y="1645920"/>
            <a:ext cx="2606040" cy="64008"/>
          </a:xfrm>
          <a:prstGeom prst="rect">
            <a:avLst/>
          </a:prstGeom>
          <a:solidFill>
            <a:srgbClr val="1F5C4D"/>
          </a:solidFill>
        </p:spPr>
        <p:txBody>
          <a:bodyPr/>
          <a:lstStyle/>
          <a:p>
            <a:endParaRPr lang="ko-KR" altLang="en-US"/>
          </a:p>
        </p:txBody>
      </p:sp>
      <p:sp>
        <p:nvSpPr>
          <p:cNvPr id="21" name="Text 19">
            <a:extLst>
              <a:ext uri="{FF2B5EF4-FFF2-40B4-BE49-F238E27FC236}">
                <a16:creationId xmlns:a16="http://schemas.microsoft.com/office/drawing/2014/main" id="{471828F7-01AA-4D6B-A34F-810B50CAD3AD}"/>
              </a:ext>
            </a:extLst>
          </p:cNvPr>
          <p:cNvSpPr>
            <a:spLocks noGrp="1"/>
          </p:cNvSpPr>
          <p:nvPr/>
        </p:nvSpPr>
        <p:spPr>
          <a:xfrm>
            <a:off x="6163056" y="1773936"/>
            <a:ext cx="2606040" cy="274320"/>
          </a:xfrm>
          <a:prstGeom prst="rect">
            <a:avLst/>
          </a:prstGeom>
          <a:noFill/>
        </p:spPr>
        <p:txBody>
          <a:bodyPr wrap="square" anchor="ctr"/>
          <a:lstStyle/>
          <a:p>
            <a:pPr marL="0" indent="0" algn="ctr">
              <a:buNone/>
            </a:pPr>
            <a:r>
              <a:rPr sz="1150">
                <a:solidFill>
                  <a:srgbClr val="5A6B64"/>
                </a:solidFill>
                <a:latin typeface="맑은 고딕"/>
                <a:ea typeface="맑은 고딕"/>
                <a:cs typeface="맑은 고딕"/>
              </a:rPr>
              <a:t>미탐지 객체</a:t>
            </a:r>
            <a:endParaRPr sz="1150"/>
          </a:p>
        </p:txBody>
      </p:sp>
      <p:sp>
        <p:nvSpPr>
          <p:cNvPr id="22" name="Text 20">
            <a:extLst>
              <a:ext uri="{FF2B5EF4-FFF2-40B4-BE49-F238E27FC236}">
                <a16:creationId xmlns:a16="http://schemas.microsoft.com/office/drawing/2014/main" id="{AD9ACD60-36F3-4243-8315-440B9CCDCF89}"/>
              </a:ext>
            </a:extLst>
          </p:cNvPr>
          <p:cNvSpPr>
            <a:spLocks noGrp="1"/>
          </p:cNvSpPr>
          <p:nvPr/>
        </p:nvSpPr>
        <p:spPr>
          <a:xfrm>
            <a:off x="6163056" y="2029968"/>
            <a:ext cx="2606040" cy="548640"/>
          </a:xfrm>
          <a:prstGeom prst="rect">
            <a:avLst/>
          </a:prstGeom>
          <a:noFill/>
        </p:spPr>
        <p:txBody>
          <a:bodyPr wrap="square" anchor="ctr"/>
          <a:lstStyle/>
          <a:p>
            <a:pPr marL="0" indent="0" algn="ctr">
              <a:buNone/>
            </a:pPr>
            <a:r>
              <a:rPr sz="2400" b="1">
                <a:solidFill>
                  <a:srgbClr val="1F5C4D"/>
                </a:solidFill>
                <a:latin typeface="맑은 고딕"/>
                <a:ea typeface="맑은 고딕"/>
                <a:cs typeface="맑은 고딕"/>
              </a:rPr>
              <a:t>275개</a:t>
            </a:r>
            <a:endParaRPr sz="2400"/>
          </a:p>
        </p:txBody>
      </p:sp>
      <p:sp>
        <p:nvSpPr>
          <p:cNvPr id="23" name="Text 21">
            <a:extLst>
              <a:ext uri="{FF2B5EF4-FFF2-40B4-BE49-F238E27FC236}">
                <a16:creationId xmlns:a16="http://schemas.microsoft.com/office/drawing/2014/main" id="{BF8C5896-71C4-491A-A744-65175C3D9ECB}"/>
              </a:ext>
            </a:extLst>
          </p:cNvPr>
          <p:cNvSpPr>
            <a:spLocks noGrp="1"/>
          </p:cNvSpPr>
          <p:nvPr/>
        </p:nvSpPr>
        <p:spPr>
          <a:xfrm>
            <a:off x="6163056" y="2596896"/>
            <a:ext cx="2606040" cy="274320"/>
          </a:xfrm>
          <a:prstGeom prst="rect">
            <a:avLst/>
          </a:prstGeom>
          <a:noFill/>
        </p:spPr>
        <p:txBody>
          <a:bodyPr wrap="square" anchor="ctr"/>
          <a:lstStyle/>
          <a:p>
            <a:pPr marL="0" indent="0" algn="ctr">
              <a:buNone/>
            </a:pPr>
            <a:r>
              <a:rPr sz="1050">
                <a:solidFill>
                  <a:srgbClr val="5A6B64"/>
                </a:solidFill>
                <a:latin typeface="맑은 고딕"/>
                <a:ea typeface="맑은 고딕"/>
                <a:cs typeface="맑은 고딕"/>
              </a:rPr>
              <a:t>433객체 중 놓친 수</a:t>
            </a:r>
            <a:endParaRPr sz="1050"/>
          </a:p>
        </p:txBody>
      </p:sp>
      <p:sp>
        <p:nvSpPr>
          <p:cNvPr id="24" name="Shape 22">
            <a:extLst>
              <a:ext uri="{FF2B5EF4-FFF2-40B4-BE49-F238E27FC236}">
                <a16:creationId xmlns:a16="http://schemas.microsoft.com/office/drawing/2014/main" id="{8C7C39CD-75E8-4B50-9D7C-DAAB4D54ADF5}"/>
              </a:ext>
            </a:extLst>
          </p:cNvPr>
          <p:cNvSpPr>
            <a:spLocks noGrp="1"/>
          </p:cNvSpPr>
          <p:nvPr/>
        </p:nvSpPr>
        <p:spPr>
          <a:xfrm>
            <a:off x="8961120" y="1645920"/>
            <a:ext cx="2606040" cy="1298448"/>
          </a:xfrm>
          <a:prstGeom prst="rect">
            <a:avLst/>
          </a:prstGeom>
          <a:solidFill>
            <a:srgbClr val="F1F5F3"/>
          </a:solidFill>
          <a:ln w="6350">
            <a:solidFill>
              <a:srgbClr val="A8BAB3"/>
            </a:solidFill>
            <a:prstDash val="solid"/>
          </a:ln>
        </p:spPr>
        <p:txBody>
          <a:bodyPr/>
          <a:lstStyle/>
          <a:p>
            <a:endParaRPr lang="ko-KR" altLang="en-US"/>
          </a:p>
        </p:txBody>
      </p:sp>
      <p:sp>
        <p:nvSpPr>
          <p:cNvPr id="25" name="Shape 23">
            <a:extLst>
              <a:ext uri="{FF2B5EF4-FFF2-40B4-BE49-F238E27FC236}">
                <a16:creationId xmlns:a16="http://schemas.microsoft.com/office/drawing/2014/main" id="{ED60651D-6FCA-4B02-B6F3-F064DBF9A63C}"/>
              </a:ext>
            </a:extLst>
          </p:cNvPr>
          <p:cNvSpPr>
            <a:spLocks noGrp="1"/>
          </p:cNvSpPr>
          <p:nvPr/>
        </p:nvSpPr>
        <p:spPr>
          <a:xfrm>
            <a:off x="8961120" y="1645920"/>
            <a:ext cx="2606040" cy="64008"/>
          </a:xfrm>
          <a:prstGeom prst="rect">
            <a:avLst/>
          </a:prstGeom>
          <a:solidFill>
            <a:srgbClr val="1F5C4D"/>
          </a:solidFill>
        </p:spPr>
        <p:txBody>
          <a:bodyPr/>
          <a:lstStyle/>
          <a:p>
            <a:endParaRPr lang="ko-KR" altLang="en-US"/>
          </a:p>
        </p:txBody>
      </p:sp>
      <p:sp>
        <p:nvSpPr>
          <p:cNvPr id="26" name="Text 24">
            <a:extLst>
              <a:ext uri="{FF2B5EF4-FFF2-40B4-BE49-F238E27FC236}">
                <a16:creationId xmlns:a16="http://schemas.microsoft.com/office/drawing/2014/main" id="{2A72D495-CF37-44E9-A1FA-1D1728091D8E}"/>
              </a:ext>
            </a:extLst>
          </p:cNvPr>
          <p:cNvSpPr>
            <a:spLocks noGrp="1"/>
          </p:cNvSpPr>
          <p:nvPr/>
        </p:nvSpPr>
        <p:spPr>
          <a:xfrm>
            <a:off x="8961120" y="1773936"/>
            <a:ext cx="2606040" cy="274320"/>
          </a:xfrm>
          <a:prstGeom prst="rect">
            <a:avLst/>
          </a:prstGeom>
          <a:noFill/>
        </p:spPr>
        <p:txBody>
          <a:bodyPr wrap="square" anchor="ctr"/>
          <a:lstStyle/>
          <a:p>
            <a:pPr marL="0" indent="0" algn="ctr">
              <a:buNone/>
            </a:pPr>
            <a:r>
              <a:rPr sz="1150">
                <a:solidFill>
                  <a:srgbClr val="5A6B64"/>
                </a:solidFill>
                <a:latin typeface="맑은 고딕"/>
                <a:ea typeface="맑은 고딕"/>
                <a:cs typeface="맑은 고딕"/>
              </a:rPr>
              <a:t>CPU 추론 중앙값</a:t>
            </a:r>
            <a:endParaRPr sz="1150"/>
          </a:p>
        </p:txBody>
      </p:sp>
      <p:sp>
        <p:nvSpPr>
          <p:cNvPr id="27" name="Text 25">
            <a:extLst>
              <a:ext uri="{FF2B5EF4-FFF2-40B4-BE49-F238E27FC236}">
                <a16:creationId xmlns:a16="http://schemas.microsoft.com/office/drawing/2014/main" id="{BB3E2C11-FD77-4F81-84FF-7360EF6DD77B}"/>
              </a:ext>
            </a:extLst>
          </p:cNvPr>
          <p:cNvSpPr>
            <a:spLocks noGrp="1"/>
          </p:cNvSpPr>
          <p:nvPr/>
        </p:nvSpPr>
        <p:spPr>
          <a:xfrm>
            <a:off x="8961120" y="2029968"/>
            <a:ext cx="2606040" cy="548640"/>
          </a:xfrm>
          <a:prstGeom prst="rect">
            <a:avLst/>
          </a:prstGeom>
          <a:noFill/>
        </p:spPr>
        <p:txBody>
          <a:bodyPr wrap="square" anchor="ctr"/>
          <a:lstStyle/>
          <a:p>
            <a:pPr marL="0" indent="0" algn="ctr">
              <a:buNone/>
            </a:pPr>
            <a:r>
              <a:rPr sz="2400" b="1">
                <a:solidFill>
                  <a:srgbClr val="1F5C4D"/>
                </a:solidFill>
                <a:latin typeface="맑은 고딕"/>
                <a:ea typeface="맑은 고딕"/>
                <a:cs typeface="맑은 고딕"/>
              </a:rPr>
              <a:t>298 ms</a:t>
            </a:r>
            <a:endParaRPr sz="2400"/>
          </a:p>
        </p:txBody>
      </p:sp>
      <p:sp>
        <p:nvSpPr>
          <p:cNvPr id="28" name="Text 26">
            <a:extLst>
              <a:ext uri="{FF2B5EF4-FFF2-40B4-BE49-F238E27FC236}">
                <a16:creationId xmlns:a16="http://schemas.microsoft.com/office/drawing/2014/main" id="{69CB0B71-07D7-4E26-93DA-E4AE7E8FD64F}"/>
              </a:ext>
            </a:extLst>
          </p:cNvPr>
          <p:cNvSpPr>
            <a:spLocks noGrp="1"/>
          </p:cNvSpPr>
          <p:nvPr/>
        </p:nvSpPr>
        <p:spPr>
          <a:xfrm>
            <a:off x="8961120" y="2596896"/>
            <a:ext cx="2606040" cy="274320"/>
          </a:xfrm>
          <a:prstGeom prst="rect">
            <a:avLst/>
          </a:prstGeom>
          <a:noFill/>
        </p:spPr>
        <p:txBody>
          <a:bodyPr wrap="square" anchor="ctr"/>
          <a:lstStyle/>
          <a:p>
            <a:pPr marL="0" indent="0" algn="ctr">
              <a:buNone/>
            </a:pPr>
            <a:r>
              <a:rPr sz="1050">
                <a:solidFill>
                  <a:srgbClr val="5A6B64"/>
                </a:solidFill>
                <a:latin typeface="맑은 고딕"/>
                <a:ea typeface="맑은 고딕"/>
                <a:cs typeface="맑은 고딕"/>
              </a:rPr>
              <a:t>AI 11n의 약 2.90배</a:t>
            </a:r>
            <a:endParaRPr sz="1050"/>
          </a:p>
        </p:txBody>
      </p:sp>
      <p:sp>
        <p:nvSpPr>
          <p:cNvPr id="29" name="Text 27">
            <a:extLst>
              <a:ext uri="{FF2B5EF4-FFF2-40B4-BE49-F238E27FC236}">
                <a16:creationId xmlns:a16="http://schemas.microsoft.com/office/drawing/2014/main" id="{BA19D7B3-1331-4AA9-83AB-06B5D804F1E3}"/>
              </a:ext>
            </a:extLst>
          </p:cNvPr>
          <p:cNvSpPr>
            <a:spLocks noGrp="1"/>
          </p:cNvSpPr>
          <p:nvPr/>
        </p:nvSpPr>
        <p:spPr>
          <a:xfrm>
            <a:off x="548640" y="31089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최종 판단 전에 확인할 항목</a:t>
            </a:r>
            <a:endParaRPr sz="1500"/>
          </a:p>
        </p:txBody>
      </p:sp>
      <p:sp>
        <p:nvSpPr>
          <p:cNvPr id="30" name="Shape 28">
            <a:extLst>
              <a:ext uri="{FF2B5EF4-FFF2-40B4-BE49-F238E27FC236}">
                <a16:creationId xmlns:a16="http://schemas.microsoft.com/office/drawing/2014/main" id="{3A58FD55-71AC-4099-BB44-BB0DFB65979B}"/>
              </a:ext>
            </a:extLst>
          </p:cNvPr>
          <p:cNvSpPr>
            <a:spLocks noGrp="1"/>
          </p:cNvSpPr>
          <p:nvPr/>
        </p:nvSpPr>
        <p:spPr>
          <a:xfrm>
            <a:off x="548640" y="3493008"/>
            <a:ext cx="1005840" cy="41148"/>
          </a:xfrm>
          <a:prstGeom prst="rect">
            <a:avLst/>
          </a:prstGeom>
          <a:solidFill>
            <a:srgbClr val="1F5C4D"/>
          </a:solidFill>
        </p:spPr>
        <p:txBody>
          <a:bodyPr/>
          <a:lstStyle/>
          <a:p>
            <a:endParaRPr lang="ko-KR" altLang="en-US"/>
          </a:p>
        </p:txBody>
      </p:sp>
      <p:graphicFrame>
        <p:nvGraphicFramePr>
          <p:cNvPr id="65" name="Table 0"/>
          <p:cNvGraphicFramePr/>
          <p:nvPr/>
        </p:nvGraphicFramePr>
        <p:xfrm>
          <a:off x="548640" y="3566160"/>
          <a:ext cx="11087100" cy="1952625"/>
        </p:xfrm>
        <a:graphic>
          <a:graphicData uri="http://schemas.openxmlformats.org/drawingml/2006/table">
            <a:tbl>
              <a:tblPr/>
              <a:tblGrid>
                <a:gridCol w="1666875">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000375">
                  <a:extLst>
                    <a:ext uri="{9D8B030D-6E8A-4147-A177-3AD203B41FA5}">
                      <a16:colId xmlns:a16="http://schemas.microsoft.com/office/drawing/2014/main" val="20002"/>
                    </a:ext>
                  </a:extLst>
                </a:gridCol>
                <a:gridCol w="2990850">
                  <a:extLst>
                    <a:ext uri="{9D8B030D-6E8A-4147-A177-3AD203B41FA5}">
                      <a16:colId xmlns:a16="http://schemas.microsoft.com/office/drawing/2014/main" val="20003"/>
                    </a:ext>
                  </a:extLst>
                </a:gridCol>
              </a:tblGrid>
              <a:tr h="390525">
                <a:tc>
                  <a:txBody>
                    <a:bodyPr/>
                    <a:lstStyle/>
                    <a:p>
                      <a:pPr marL="0" indent="0" algn="ctr">
                        <a:buNone/>
                      </a:pPr>
                      <a:r>
                        <a:rPr sz="1388" b="1">
                          <a:solidFill>
                            <a:srgbClr val="173F35"/>
                          </a:solidFill>
                          <a:latin typeface="맑은 고딕"/>
                          <a:ea typeface="맑은 고딕"/>
                          <a:cs typeface="맑은 고딕"/>
                        </a:rPr>
                        <a:t>항목</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관찰 결과</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해석</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다음 확인</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390525">
                <a:tc>
                  <a:txBody>
                    <a:bodyPr/>
                    <a:lstStyle/>
                    <a:p>
                      <a:pPr marL="0" indent="0" algn="ctr">
                        <a:buNone/>
                      </a:pPr>
                      <a:r>
                        <a:rPr sz="1388" b="1">
                          <a:solidFill>
                            <a:srgbClr val="202727"/>
                          </a:solidFill>
                          <a:latin typeface="맑은 고딕"/>
                          <a:ea typeface="맑은 고딕"/>
                          <a:cs typeface="맑은 고딕"/>
                        </a:rPr>
                        <a:t>general</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138개 중 8개 정답 탐지</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일반쓰레기 인식 취약</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라벨 정의 및 사례 보강</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390525">
                <a:tc>
                  <a:txBody>
                    <a:bodyPr/>
                    <a:lstStyle/>
                    <a:p>
                      <a:pPr marL="0" indent="0" algn="ctr">
                        <a:buNone/>
                      </a:pPr>
                      <a:r>
                        <a:rPr sz="1388" b="1">
                          <a:solidFill>
                            <a:srgbClr val="202727"/>
                          </a:solidFill>
                          <a:latin typeface="맑은 고딕"/>
                          <a:ea typeface="맑은 고딕"/>
                          <a:cs typeface="맑은 고딕"/>
                        </a:rPr>
                        <a:t>배경 제거</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24장 중 1장 오탐</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noBG도 오탐 발생</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임계값과 배경 검증</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390525">
                <a:tc>
                  <a:txBody>
                    <a:bodyPr/>
                    <a:lstStyle/>
                    <a:p>
                      <a:pPr marL="0" indent="0" algn="ctr">
                        <a:buNone/>
                      </a:pPr>
                      <a:r>
                        <a:rPr sz="1388" b="1">
                          <a:solidFill>
                            <a:srgbClr val="202727"/>
                          </a:solidFill>
                          <a:latin typeface="맑은 고딕"/>
                          <a:ea typeface="맑은 고딕"/>
                          <a:cs typeface="맑은 고딕"/>
                        </a:rPr>
                        <a:t>평가 독립성</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원 학습 이미지 미확보</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데이터 중복 여부 미확인</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독립 테스트셋 확보</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r h="390525">
                <a:tc>
                  <a:txBody>
                    <a:bodyPr/>
                    <a:lstStyle/>
                    <a:p>
                      <a:pPr marL="0" indent="0" algn="ctr">
                        <a:buNone/>
                      </a:pPr>
                      <a:r>
                        <a:rPr sz="1388" b="1">
                          <a:solidFill>
                            <a:srgbClr val="202727"/>
                          </a:solidFill>
                          <a:latin typeface="맑은 고딕"/>
                          <a:ea typeface="맑은 고딕"/>
                          <a:cs typeface="맑은 고딕"/>
                        </a:rPr>
                        <a:t>기기 성능</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PC CPU 측정 완료</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앱 목표 달성 판단 보류</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실제 기기 지연 시간</a:t>
                      </a:r>
                      <a:endParaRPr sz="110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4"/>
                  </a:ext>
                </a:extLst>
              </a:tr>
            </a:tbl>
          </a:graphicData>
        </a:graphic>
      </p:graphicFrame>
      <p:sp>
        <p:nvSpPr>
          <p:cNvPr id="32" name="Text 29">
            <a:extLst>
              <a:ext uri="{FF2B5EF4-FFF2-40B4-BE49-F238E27FC236}">
                <a16:creationId xmlns:a16="http://schemas.microsoft.com/office/drawing/2014/main" id="{AD0F40C9-ACDF-40DF-B4FD-89AE5B04FEFC}"/>
              </a:ext>
            </a:extLst>
          </p:cNvPr>
          <p:cNvSpPr>
            <a:spLocks noGrp="1"/>
          </p:cNvSpPr>
          <p:nvPr/>
        </p:nvSpPr>
        <p:spPr>
          <a:xfrm>
            <a:off x="548640" y="56235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모델 선정 기준</a:t>
            </a:r>
            <a:endParaRPr sz="1500"/>
          </a:p>
        </p:txBody>
      </p:sp>
      <p:sp>
        <p:nvSpPr>
          <p:cNvPr id="33" name="Shape 30">
            <a:extLst>
              <a:ext uri="{FF2B5EF4-FFF2-40B4-BE49-F238E27FC236}">
                <a16:creationId xmlns:a16="http://schemas.microsoft.com/office/drawing/2014/main" id="{2906C705-983C-4B2C-AAF0-144EEC7DF1A6}"/>
              </a:ext>
            </a:extLst>
          </p:cNvPr>
          <p:cNvSpPr>
            <a:spLocks noGrp="1"/>
          </p:cNvSpPr>
          <p:nvPr/>
        </p:nvSpPr>
        <p:spPr>
          <a:xfrm>
            <a:off x="548640" y="6007608"/>
            <a:ext cx="1005840" cy="41148"/>
          </a:xfrm>
          <a:prstGeom prst="rect">
            <a:avLst/>
          </a:prstGeom>
          <a:solidFill>
            <a:srgbClr val="1F5C4D"/>
          </a:solidFill>
        </p:spPr>
        <p:txBody>
          <a:bodyPr/>
          <a:lstStyle/>
          <a:p>
            <a:endParaRPr lang="ko-KR" altLang="en-US"/>
          </a:p>
        </p:txBody>
      </p:sp>
      <p:sp>
        <p:nvSpPr>
          <p:cNvPr id="34" name="Text 31">
            <a:extLst>
              <a:ext uri="{FF2B5EF4-FFF2-40B4-BE49-F238E27FC236}">
                <a16:creationId xmlns:a16="http://schemas.microsoft.com/office/drawing/2014/main" id="{86B6DAF4-1698-45FD-A514-D1000018D80C}"/>
              </a:ext>
            </a:extLst>
          </p:cNvPr>
          <p:cNvSpPr>
            <a:spLocks noGrp="1"/>
          </p:cNvSpPr>
          <p:nvPr/>
        </p:nvSpPr>
        <p:spPr>
          <a:xfrm>
            <a:off x="685800" y="6053328"/>
            <a:ext cx="10817352" cy="640080"/>
          </a:xfrm>
          <a:prstGeom prst="rect">
            <a:avLst/>
          </a:prstGeom>
          <a:noFill/>
        </p:spPr>
        <p:txBody>
          <a:bodyPr anchor="t">
            <a:noAutofit/>
          </a:bodyPr>
          <a:lstStyle/>
          <a:p>
            <a:pPr marL="342900" indent="-342900" algn="l">
              <a:spcAft>
                <a:spcPts val="600"/>
              </a:spcAft>
              <a:buSzPct val="100000"/>
              <a:buChar char="▪"/>
              <a:defRPr sz="1388">
                <a:solidFill>
                  <a:srgbClr val="173F35"/>
                </a:solidFill>
                <a:latin typeface="맑은 고딕"/>
                <a:ea typeface="맑은 고딕"/>
                <a:cs typeface="맑은 고딕"/>
              </a:defRPr>
            </a:pPr>
            <a:r>
              <a:rPr sz="1388" dirty="0" err="1">
                <a:solidFill>
                  <a:srgbClr val="173F35"/>
                </a:solidFill>
                <a:latin typeface="맑은 고딕"/>
                <a:ea typeface="맑은 고딕"/>
                <a:cs typeface="맑은 고딕"/>
              </a:rPr>
              <a:t>성능을</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우선하면</a:t>
            </a:r>
            <a:r>
              <a:rPr sz="1388" dirty="0">
                <a:solidFill>
                  <a:srgbClr val="173F35"/>
                </a:solidFill>
                <a:latin typeface="맑은 고딕"/>
                <a:ea typeface="맑은 고딕"/>
                <a:cs typeface="맑은 고딕"/>
              </a:rPr>
              <a:t> </a:t>
            </a:r>
            <a:r>
              <a:rPr sz="1388">
                <a:solidFill>
                  <a:srgbClr val="173F35"/>
                </a:solidFill>
                <a:latin typeface="맑은 고딕"/>
                <a:ea typeface="맑은 고딕"/>
                <a:cs typeface="맑은 고딕"/>
              </a:rPr>
              <a:t>DY 26s, </a:t>
            </a:r>
            <a:r>
              <a:rPr sz="1388" dirty="0" err="1">
                <a:solidFill>
                  <a:srgbClr val="173F35"/>
                </a:solidFill>
                <a:latin typeface="맑은 고딕"/>
                <a:ea typeface="맑은 고딕"/>
                <a:cs typeface="맑은 고딕"/>
              </a:rPr>
              <a:t>경량</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실행</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비교에는</a:t>
            </a:r>
            <a:r>
              <a:rPr sz="1388" dirty="0">
                <a:solidFill>
                  <a:srgbClr val="173F35"/>
                </a:solidFill>
                <a:latin typeface="맑은 고딕"/>
                <a:ea typeface="맑은 고딕"/>
                <a:cs typeface="맑은 고딕"/>
              </a:rPr>
              <a:t> AI 11n을 </a:t>
            </a:r>
            <a:r>
              <a:rPr sz="1388" dirty="0" err="1">
                <a:solidFill>
                  <a:srgbClr val="173F35"/>
                </a:solidFill>
                <a:latin typeface="맑은 고딕"/>
                <a:ea typeface="맑은 고딕"/>
                <a:cs typeface="맑은 고딕"/>
              </a:rPr>
              <a:t>활용한다</a:t>
            </a:r>
            <a:r>
              <a:rPr sz="1388" dirty="0">
                <a:solidFill>
                  <a:srgbClr val="173F35"/>
                </a:solidFill>
                <a:latin typeface="맑은 고딕"/>
                <a:ea typeface="맑은 고딕"/>
                <a:cs typeface="맑은 고딕"/>
              </a:rPr>
              <a:t>.</a:t>
            </a:r>
            <a:endParaRPr sz="1150" dirty="0"/>
          </a:p>
          <a:p>
            <a:pPr marL="342900" indent="-342900" algn="l">
              <a:spcAft>
                <a:spcPts val="600"/>
              </a:spcAft>
              <a:buSzPct val="100000"/>
              <a:buChar char="▪"/>
              <a:defRPr sz="1388">
                <a:solidFill>
                  <a:srgbClr val="173F35"/>
                </a:solidFill>
                <a:latin typeface="맑은 고딕"/>
                <a:ea typeface="맑은 고딕"/>
                <a:cs typeface="맑은 고딕"/>
              </a:defRPr>
            </a:pPr>
            <a:r>
              <a:rPr sz="1388" dirty="0" err="1">
                <a:solidFill>
                  <a:srgbClr val="173F35"/>
                </a:solidFill>
                <a:latin typeface="맑은 고딕"/>
                <a:ea typeface="맑은 고딕"/>
                <a:cs typeface="맑은 고딕"/>
              </a:rPr>
              <a:t>안드로이드</a:t>
            </a:r>
            <a:r>
              <a:rPr sz="1388" dirty="0">
                <a:solidFill>
                  <a:srgbClr val="173F35"/>
                </a:solidFill>
                <a:latin typeface="맑은 고딕"/>
                <a:ea typeface="맑은 고딕"/>
                <a:cs typeface="맑은 고딕"/>
              </a:rPr>
              <a:t> / </a:t>
            </a:r>
            <a:r>
              <a:rPr sz="1388" dirty="0" err="1">
                <a:solidFill>
                  <a:srgbClr val="173F35"/>
                </a:solidFill>
                <a:latin typeface="맑은 고딕"/>
                <a:ea typeface="맑은 고딕"/>
                <a:cs typeface="맑은 고딕"/>
              </a:rPr>
              <a:t>젯슨</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성능과</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사진</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입력</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사용성을</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확인한</a:t>
            </a:r>
            <a:r>
              <a:rPr sz="1388" dirty="0">
                <a:solidFill>
                  <a:srgbClr val="173F35"/>
                </a:solidFill>
                <a:latin typeface="맑은 고딕"/>
                <a:ea typeface="맑은 고딕"/>
                <a:cs typeface="맑은 고딕"/>
              </a:rPr>
              <a:t> 후 </a:t>
            </a:r>
            <a:r>
              <a:rPr sz="1388" dirty="0" err="1">
                <a:solidFill>
                  <a:srgbClr val="173F35"/>
                </a:solidFill>
                <a:latin typeface="맑은 고딕"/>
                <a:ea typeface="맑은 고딕"/>
                <a:cs typeface="맑은 고딕"/>
              </a:rPr>
              <a:t>최종</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모델을</a:t>
            </a:r>
            <a:r>
              <a:rPr sz="1388" dirty="0">
                <a:solidFill>
                  <a:srgbClr val="173F35"/>
                </a:solidFill>
                <a:latin typeface="맑은 고딕"/>
                <a:ea typeface="맑은 고딕"/>
                <a:cs typeface="맑은 고딕"/>
              </a:rPr>
              <a:t> </a:t>
            </a:r>
            <a:r>
              <a:rPr sz="1388" dirty="0" err="1">
                <a:solidFill>
                  <a:srgbClr val="173F35"/>
                </a:solidFill>
                <a:latin typeface="맑은 고딕"/>
                <a:ea typeface="맑은 고딕"/>
                <a:cs typeface="맑은 고딕"/>
              </a:rPr>
              <a:t>정한다</a:t>
            </a:r>
            <a:r>
              <a:rPr sz="1388" dirty="0">
                <a:solidFill>
                  <a:srgbClr val="173F35"/>
                </a:solidFill>
                <a:latin typeface="맑은 고딕"/>
                <a:ea typeface="맑은 고딕"/>
                <a:cs typeface="맑은 고딕"/>
              </a:rPr>
              <a:t>.</a:t>
            </a:r>
            <a:endParaRPr sz="1150" dirty="0"/>
          </a:p>
        </p:txBody>
      </p:sp>
    </p:spTree>
    <p:extLst>
      <p:ext uri="{BB962C8B-B14F-4D97-AF65-F5344CB8AC3E}">
        <p14:creationId xmlns:p14="http://schemas.microsoft.com/office/powerpoint/2010/main" val="539695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1E7BD12-D5E7-4824-A52E-7221FC8BD9AA}"/>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5F6D2CAF-B138-40F7-A305-B3C206402D7E}"/>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05</a:t>
            </a:r>
            <a:endParaRPr sz="2600"/>
          </a:p>
        </p:txBody>
      </p:sp>
      <p:sp>
        <p:nvSpPr>
          <p:cNvPr id="4" name="Text 2">
            <a:extLst>
              <a:ext uri="{FF2B5EF4-FFF2-40B4-BE49-F238E27FC236}">
                <a16:creationId xmlns:a16="http://schemas.microsoft.com/office/drawing/2014/main" id="{3ED7CDAE-1366-42F4-B3F6-38ECB5905EDE}"/>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한계와 후속 계획</a:t>
            </a:r>
            <a:endParaRPr sz="1500"/>
          </a:p>
        </p:txBody>
      </p:sp>
      <p:sp>
        <p:nvSpPr>
          <p:cNvPr id="5" name="Text 3">
            <a:extLst>
              <a:ext uri="{FF2B5EF4-FFF2-40B4-BE49-F238E27FC236}">
                <a16:creationId xmlns:a16="http://schemas.microsoft.com/office/drawing/2014/main" id="{F8EF9AF9-7EAF-4ECF-B197-C8D3AEE0BD41}"/>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실제 장면에서의 탐지 사례</a:t>
            </a:r>
            <a:endParaRPr sz="1900"/>
          </a:p>
        </p:txBody>
      </p:sp>
      <p:sp>
        <p:nvSpPr>
          <p:cNvPr id="6" name="Text 4">
            <a:extLst>
              <a:ext uri="{FF2B5EF4-FFF2-40B4-BE49-F238E27FC236}">
                <a16:creationId xmlns:a16="http://schemas.microsoft.com/office/drawing/2014/main" id="{6240EE85-9D18-4706-9943-4863DE4411EF}"/>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11</a:t>
            </a:r>
            <a:endParaRPr sz="1000"/>
          </a:p>
        </p:txBody>
      </p:sp>
      <p:sp>
        <p:nvSpPr>
          <p:cNvPr id="7" name="직사각형 6">
            <a:extLst>
              <a:ext uri="{FF2B5EF4-FFF2-40B4-BE49-F238E27FC236}">
                <a16:creationId xmlns:a16="http://schemas.microsoft.com/office/drawing/2014/main" id="{FBF89C6B-B257-4BEC-8347-D89936FF7EC5}"/>
              </a:ext>
            </a:extLst>
          </p:cNvPr>
          <p:cNvSpPr>
            <a:spLocks noGrp="1"/>
          </p:cNvSpPr>
          <p:nvPr/>
        </p:nvSpPr>
        <p:spPr>
          <a:xfrm>
            <a:off x="552450" y="1095375"/>
            <a:ext cx="5305425" cy="342900"/>
          </a:xfrm>
          <a:prstGeom prst="rect">
            <a:avLst/>
          </a:prstGeom>
          <a:noFill/>
          <a:ln w="0">
            <a:noFill/>
          </a:ln>
        </p:spPr>
        <p:txBody>
          <a:bodyPr>
            <a:noAutofit/>
          </a:bodyPr>
          <a:lstStyle/>
          <a:p>
            <a:pPr>
              <a:defRPr sz="1725" b="1">
                <a:solidFill>
                  <a:srgbClr val="173F35"/>
                </a:solidFill>
                <a:latin typeface="맑은 고딕"/>
                <a:ea typeface="맑은 고딕"/>
                <a:cs typeface="맑은 고딕"/>
              </a:defRPr>
            </a:pPr>
            <a:r>
              <a:rPr sz="1725" b="1">
                <a:solidFill>
                  <a:srgbClr val="173F35"/>
                </a:solidFill>
                <a:latin typeface="맑은 고딕"/>
                <a:ea typeface="맑은 고딕"/>
                <a:cs typeface="맑은 고딕"/>
              </a:rPr>
              <a:t>가림이 있는 플라스틱 병 7개</a:t>
            </a:r>
          </a:p>
        </p:txBody>
      </p:sp>
      <p:sp>
        <p:nvSpPr>
          <p:cNvPr id="8" name="직사각형 7">
            <a:extLst>
              <a:ext uri="{FF2B5EF4-FFF2-40B4-BE49-F238E27FC236}">
                <a16:creationId xmlns:a16="http://schemas.microsoft.com/office/drawing/2014/main" id="{0ECDDC70-1000-43C1-8DD1-F8B08C10B887}"/>
              </a:ext>
            </a:extLst>
          </p:cNvPr>
          <p:cNvSpPr>
            <a:spLocks noGrp="1"/>
          </p:cNvSpPr>
          <p:nvPr/>
        </p:nvSpPr>
        <p:spPr>
          <a:xfrm>
            <a:off x="6324600" y="1095375"/>
            <a:ext cx="5305425" cy="342900"/>
          </a:xfrm>
          <a:prstGeom prst="rect">
            <a:avLst/>
          </a:prstGeom>
          <a:noFill/>
          <a:ln w="0">
            <a:noFill/>
          </a:ln>
        </p:spPr>
        <p:txBody>
          <a:bodyPr>
            <a:noAutofit/>
          </a:bodyPr>
          <a:lstStyle/>
          <a:p>
            <a:pPr>
              <a:defRPr sz="1725" b="1">
                <a:solidFill>
                  <a:srgbClr val="173F35"/>
                </a:solidFill>
                <a:latin typeface="맑은 고딕"/>
                <a:ea typeface="맑은 고딕"/>
                <a:cs typeface="맑은 고딕"/>
              </a:defRPr>
            </a:pPr>
            <a:r>
              <a:rPr sz="1725" b="1">
                <a:solidFill>
                  <a:srgbClr val="173F35"/>
                </a:solidFill>
                <a:latin typeface="맑은 고딕"/>
                <a:ea typeface="맑은 고딕"/>
                <a:cs typeface="맑은 고딕"/>
              </a:rPr>
              <a:t>혼합 쓰레기 6개</a:t>
            </a:r>
          </a:p>
        </p:txBody>
      </p:sp>
      <p:pic>
        <p:nvPicPr>
          <p:cNvPr id="20" name="그림 19"/>
          <p:cNvPicPr>
            <a:picLocks noChangeAspect="1"/>
          </p:cNvPicPr>
          <p:nvPr/>
        </p:nvPicPr>
        <p:blipFill>
          <a:blip r:embed="rId3"/>
          <a:stretch/>
        </p:blipFill>
        <p:spPr>
          <a:xfrm>
            <a:off x="552450" y="1552575"/>
            <a:ext cx="5286375" cy="4088130"/>
          </a:xfrm>
          <a:prstGeom prst="rect">
            <a:avLst/>
          </a:prstGeom>
        </p:spPr>
      </p:pic>
      <p:pic>
        <p:nvPicPr>
          <p:cNvPr id="21" name="그림 20"/>
          <p:cNvPicPr>
            <a:picLocks noChangeAspect="1"/>
          </p:cNvPicPr>
          <p:nvPr/>
        </p:nvPicPr>
        <p:blipFill>
          <a:blip r:embed="rId4"/>
          <a:stretch/>
        </p:blipFill>
        <p:spPr>
          <a:xfrm>
            <a:off x="6324600" y="1552575"/>
            <a:ext cx="5286375" cy="4088130"/>
          </a:xfrm>
          <a:prstGeom prst="rect">
            <a:avLst/>
          </a:prstGeom>
        </p:spPr>
      </p:pic>
      <p:sp>
        <p:nvSpPr>
          <p:cNvPr id="11" name="직사각형 10">
            <a:extLst>
              <a:ext uri="{FF2B5EF4-FFF2-40B4-BE49-F238E27FC236}">
                <a16:creationId xmlns:a16="http://schemas.microsoft.com/office/drawing/2014/main" id="{6B7754E1-77AC-42D6-8914-45BBC057AF63}"/>
              </a:ext>
            </a:extLst>
          </p:cNvPr>
          <p:cNvSpPr>
            <a:spLocks noGrp="1"/>
          </p:cNvSpPr>
          <p:nvPr/>
        </p:nvSpPr>
        <p:spPr>
          <a:xfrm>
            <a:off x="552450" y="5791200"/>
            <a:ext cx="5305425" cy="647700"/>
          </a:xfrm>
          <a:prstGeom prst="rect">
            <a:avLst/>
          </a:prstGeom>
          <a:noFill/>
          <a:ln w="0">
            <a:noFill/>
          </a:ln>
        </p:spPr>
        <p:txBody>
          <a:bodyPr>
            <a:noAutofit/>
          </a:bodyPr>
          <a:lstStyle/>
          <a:p>
            <a:pPr>
              <a:defRPr sz="1500" b="0">
                <a:solidFill>
                  <a:srgbClr val="173F35"/>
                </a:solidFill>
                <a:latin typeface="맑은 고딕"/>
                <a:ea typeface="맑은 고딕"/>
                <a:cs typeface="맑은 고딕"/>
              </a:defRPr>
            </a:pPr>
            <a:r>
              <a:rPr sz="1500" b="0">
                <a:solidFill>
                  <a:srgbClr val="173F35"/>
                </a:solidFill>
                <a:latin typeface="맑은 고딕"/>
                <a:ea typeface="맑은 고딕"/>
                <a:cs typeface="맑은 고딕"/>
              </a:rPr>
              <a:t>DY 26s: 6개 정답 탐지, 1개 미탐지</a:t>
            </a:r>
          </a:p>
          <a:p>
            <a:pPr>
              <a:defRPr sz="1500" b="0">
                <a:solidFill>
                  <a:srgbClr val="173F35"/>
                </a:solidFill>
                <a:latin typeface="맑은 고딕"/>
                <a:ea typeface="맑은 고딕"/>
                <a:cs typeface="맑은 고딕"/>
              </a:defRPr>
            </a:pPr>
            <a:r>
              <a:rPr sz="1500" b="0">
                <a:solidFill>
                  <a:srgbClr val="173F35"/>
                </a:solidFill>
                <a:latin typeface="맑은 고딕"/>
                <a:ea typeface="맑은 고딕"/>
                <a:cs typeface="맑은 고딕"/>
              </a:rPr>
              <a:t>AI 11n: 4개 정답 탐지, 오탐 1개</a:t>
            </a:r>
          </a:p>
        </p:txBody>
      </p:sp>
      <p:sp>
        <p:nvSpPr>
          <p:cNvPr id="12" name="직사각형 11">
            <a:extLst>
              <a:ext uri="{FF2B5EF4-FFF2-40B4-BE49-F238E27FC236}">
                <a16:creationId xmlns:a16="http://schemas.microsoft.com/office/drawing/2014/main" id="{BAC190B1-0453-4C44-A8EB-3381F4B4FF76}"/>
              </a:ext>
            </a:extLst>
          </p:cNvPr>
          <p:cNvSpPr>
            <a:spLocks noGrp="1"/>
          </p:cNvSpPr>
          <p:nvPr/>
        </p:nvSpPr>
        <p:spPr>
          <a:xfrm>
            <a:off x="6324600" y="5791200"/>
            <a:ext cx="5305425" cy="647700"/>
          </a:xfrm>
          <a:prstGeom prst="rect">
            <a:avLst/>
          </a:prstGeom>
          <a:noFill/>
          <a:ln w="0">
            <a:noFill/>
          </a:ln>
        </p:spPr>
        <p:txBody>
          <a:bodyPr>
            <a:noAutofit/>
          </a:bodyPr>
          <a:lstStyle/>
          <a:p>
            <a:pPr>
              <a:defRPr sz="1500" b="0">
                <a:solidFill>
                  <a:srgbClr val="8A5B16"/>
                </a:solidFill>
                <a:latin typeface="맑은 고딕"/>
                <a:ea typeface="맑은 고딕"/>
                <a:cs typeface="맑은 고딕"/>
              </a:defRPr>
            </a:pPr>
            <a:r>
              <a:rPr sz="1500" b="0">
                <a:solidFill>
                  <a:srgbClr val="8A5B16"/>
                </a:solidFill>
                <a:latin typeface="맑은 고딕"/>
                <a:ea typeface="맑은 고딕"/>
                <a:cs typeface="맑은 고딕"/>
              </a:rPr>
              <a:t>DY 26s: 정답 탐지 0개, 오탐 3개</a:t>
            </a:r>
          </a:p>
          <a:p>
            <a:pPr>
              <a:defRPr sz="1500" b="0">
                <a:solidFill>
                  <a:srgbClr val="8A5B16"/>
                </a:solidFill>
                <a:latin typeface="맑은 고딕"/>
                <a:ea typeface="맑은 고딕"/>
                <a:cs typeface="맑은 고딕"/>
              </a:defRPr>
            </a:pPr>
            <a:r>
              <a:rPr sz="1500" b="0">
                <a:solidFill>
                  <a:srgbClr val="8A5B16"/>
                </a:solidFill>
                <a:latin typeface="맑은 고딕"/>
                <a:ea typeface="맑은 고딕"/>
                <a:cs typeface="맑은 고딕"/>
              </a:rPr>
              <a:t>플라스틱·종이·비닐 사이의 클래스 혼동</a:t>
            </a:r>
          </a:p>
        </p:txBody>
      </p:sp>
    </p:spTree>
    <p:extLst>
      <p:ext uri="{BB962C8B-B14F-4D97-AF65-F5344CB8AC3E}">
        <p14:creationId xmlns:p14="http://schemas.microsoft.com/office/powerpoint/2010/main" val="139922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172204-2407-4750-B7D4-00C9285966CC}"/>
              </a:ext>
            </a:extLst>
          </p:cNvPr>
          <p:cNvSpPr>
            <a:spLocks noGrp="1"/>
          </p:cNvSpPr>
          <p:nvPr/>
        </p:nvSpPr>
        <p:spPr>
          <a:xfrm>
            <a:off x="0" y="0"/>
            <a:ext cx="12188952" cy="868680"/>
          </a:xfrm>
          <a:prstGeom prst="rect">
            <a:avLst/>
          </a:prstGeom>
          <a:solidFill>
            <a:srgbClr val="1F5C4D"/>
          </a:solidFill>
        </p:spPr>
        <p:txBody>
          <a:bodyPr/>
          <a:lstStyle/>
          <a:p>
            <a:endParaRPr lang="ko-KR" altLang="en-US"/>
          </a:p>
        </p:txBody>
      </p:sp>
      <p:sp>
        <p:nvSpPr>
          <p:cNvPr id="3" name="Text 1">
            <a:extLst>
              <a:ext uri="{FF2B5EF4-FFF2-40B4-BE49-F238E27FC236}">
                <a16:creationId xmlns:a16="http://schemas.microsoft.com/office/drawing/2014/main" id="{DF7D650A-1A41-476D-B5D3-F540539E1C95}"/>
              </a:ext>
            </a:extLst>
          </p:cNvPr>
          <p:cNvSpPr>
            <a:spLocks noGrp="1"/>
          </p:cNvSpPr>
          <p:nvPr/>
        </p:nvSpPr>
        <p:spPr>
          <a:xfrm>
            <a:off x="411480" y="128016"/>
            <a:ext cx="685800" cy="603504"/>
          </a:xfrm>
          <a:prstGeom prst="rect">
            <a:avLst/>
          </a:prstGeom>
          <a:noFill/>
        </p:spPr>
        <p:txBody>
          <a:bodyPr wrap="square" anchor="ctr"/>
          <a:lstStyle/>
          <a:p>
            <a:pPr marL="0" indent="0" algn="ctr">
              <a:buNone/>
            </a:pPr>
            <a:r>
              <a:rPr sz="2600" b="1">
                <a:solidFill>
                  <a:srgbClr val="BFD8CE"/>
                </a:solidFill>
                <a:latin typeface="맑은 고딕"/>
                <a:ea typeface="맑은 고딕"/>
                <a:cs typeface="맑은 고딕"/>
              </a:rPr>
              <a:t>05</a:t>
            </a:r>
            <a:endParaRPr sz="2600"/>
          </a:p>
        </p:txBody>
      </p:sp>
      <p:sp>
        <p:nvSpPr>
          <p:cNvPr id="4" name="Text 2">
            <a:extLst>
              <a:ext uri="{FF2B5EF4-FFF2-40B4-BE49-F238E27FC236}">
                <a16:creationId xmlns:a16="http://schemas.microsoft.com/office/drawing/2014/main" id="{17A4EA2B-DC1D-4BF5-A476-217D4FA16330}"/>
              </a:ext>
            </a:extLst>
          </p:cNvPr>
          <p:cNvSpPr>
            <a:spLocks noGrp="1"/>
          </p:cNvSpPr>
          <p:nvPr/>
        </p:nvSpPr>
        <p:spPr>
          <a:xfrm>
            <a:off x="1097280" y="146304"/>
            <a:ext cx="4206240" cy="566928"/>
          </a:xfrm>
          <a:prstGeom prst="rect">
            <a:avLst/>
          </a:prstGeom>
          <a:noFill/>
        </p:spPr>
        <p:txBody>
          <a:bodyPr wrap="square" anchor="ctr"/>
          <a:lstStyle/>
          <a:p>
            <a:pPr marL="0" indent="0">
              <a:buNone/>
            </a:pPr>
            <a:r>
              <a:rPr sz="1500">
                <a:solidFill>
                  <a:srgbClr val="FFFFFF"/>
                </a:solidFill>
                <a:latin typeface="맑은 고딕"/>
                <a:ea typeface="맑은 고딕"/>
                <a:cs typeface="맑은 고딕"/>
              </a:rPr>
              <a:t>한계와 후속 계획</a:t>
            </a:r>
            <a:endParaRPr sz="1500"/>
          </a:p>
        </p:txBody>
      </p:sp>
      <p:sp>
        <p:nvSpPr>
          <p:cNvPr id="5" name="Text 3">
            <a:extLst>
              <a:ext uri="{FF2B5EF4-FFF2-40B4-BE49-F238E27FC236}">
                <a16:creationId xmlns:a16="http://schemas.microsoft.com/office/drawing/2014/main" id="{FBB1DC98-2BE2-43EE-91E4-8BE447E58291}"/>
              </a:ext>
            </a:extLst>
          </p:cNvPr>
          <p:cNvSpPr>
            <a:spLocks noGrp="1"/>
          </p:cNvSpPr>
          <p:nvPr/>
        </p:nvSpPr>
        <p:spPr>
          <a:xfrm>
            <a:off x="5394960" y="146304"/>
            <a:ext cx="6400800" cy="566928"/>
          </a:xfrm>
          <a:prstGeom prst="rect">
            <a:avLst/>
          </a:prstGeom>
          <a:noFill/>
        </p:spPr>
        <p:txBody>
          <a:bodyPr wrap="square" anchor="ctr"/>
          <a:lstStyle/>
          <a:p>
            <a:pPr marL="0" indent="0" algn="r">
              <a:buNone/>
            </a:pPr>
            <a:r>
              <a:rPr sz="1900" b="1">
                <a:solidFill>
                  <a:srgbClr val="FFFFFF"/>
                </a:solidFill>
                <a:latin typeface="맑은 고딕"/>
                <a:ea typeface="맑은 고딕"/>
                <a:cs typeface="맑은 고딕"/>
              </a:rPr>
              <a:t>최종 발표 전 보완 계획</a:t>
            </a:r>
            <a:endParaRPr sz="1900"/>
          </a:p>
        </p:txBody>
      </p:sp>
      <p:sp>
        <p:nvSpPr>
          <p:cNvPr id="6" name="Text 4">
            <a:extLst>
              <a:ext uri="{FF2B5EF4-FFF2-40B4-BE49-F238E27FC236}">
                <a16:creationId xmlns:a16="http://schemas.microsoft.com/office/drawing/2014/main" id="{1DF13FC9-9E69-4DDB-81C8-D1B816BC4E79}"/>
              </a:ext>
            </a:extLst>
          </p:cNvPr>
          <p:cNvSpPr>
            <a:spLocks noGrp="1"/>
          </p:cNvSpPr>
          <p:nvPr/>
        </p:nvSpPr>
        <p:spPr>
          <a:xfrm>
            <a:off x="11365992" y="6400800"/>
            <a:ext cx="457200" cy="274320"/>
          </a:xfrm>
          <a:prstGeom prst="rect">
            <a:avLst/>
          </a:prstGeom>
          <a:noFill/>
        </p:spPr>
        <p:txBody>
          <a:bodyPr wrap="square" anchor="ctr"/>
          <a:lstStyle/>
          <a:p>
            <a:pPr marL="0" indent="0" algn="r">
              <a:buNone/>
            </a:pPr>
            <a:r>
              <a:rPr sz="1000">
                <a:solidFill>
                  <a:srgbClr val="5A6B64"/>
                </a:solidFill>
                <a:latin typeface="맑은 고딕"/>
                <a:ea typeface="맑은 고딕"/>
                <a:cs typeface="맑은 고딕"/>
              </a:rPr>
              <a:t>12</a:t>
            </a:r>
            <a:endParaRPr sz="1000"/>
          </a:p>
        </p:txBody>
      </p:sp>
      <p:sp>
        <p:nvSpPr>
          <p:cNvPr id="7" name="Text 5">
            <a:extLst>
              <a:ext uri="{FF2B5EF4-FFF2-40B4-BE49-F238E27FC236}">
                <a16:creationId xmlns:a16="http://schemas.microsoft.com/office/drawing/2014/main" id="{3E9EC1E6-3B88-48F3-ADCB-205CC4C3AACE}"/>
              </a:ext>
            </a:extLst>
          </p:cNvPr>
          <p:cNvSpPr>
            <a:spLocks noGrp="1"/>
          </p:cNvSpPr>
          <p:nvPr/>
        </p:nvSpPr>
        <p:spPr>
          <a:xfrm>
            <a:off x="548640" y="1051560"/>
            <a:ext cx="11064240" cy="365760"/>
          </a:xfrm>
          <a:prstGeom prst="rect">
            <a:avLst/>
          </a:prstGeom>
          <a:noFill/>
        </p:spPr>
        <p:txBody>
          <a:bodyPr wrap="square" anchor="ctr"/>
          <a:lstStyle/>
          <a:p>
            <a:pPr marL="0" indent="0">
              <a:buNone/>
            </a:pPr>
            <a:r>
              <a:rPr sz="1500" b="1">
                <a:solidFill>
                  <a:srgbClr val="143C32"/>
                </a:solidFill>
                <a:latin typeface="맑은 고딕"/>
                <a:ea typeface="맑은 고딕"/>
                <a:cs typeface="맑은 고딕"/>
              </a:rPr>
              <a:t>후속 작업과 확인할 결과</a:t>
            </a:r>
            <a:endParaRPr sz="1500"/>
          </a:p>
        </p:txBody>
      </p:sp>
      <p:sp>
        <p:nvSpPr>
          <p:cNvPr id="8" name="Shape 6">
            <a:extLst>
              <a:ext uri="{FF2B5EF4-FFF2-40B4-BE49-F238E27FC236}">
                <a16:creationId xmlns:a16="http://schemas.microsoft.com/office/drawing/2014/main" id="{26B0D386-AD61-447D-AA3B-59C617E54DA7}"/>
              </a:ext>
            </a:extLst>
          </p:cNvPr>
          <p:cNvSpPr>
            <a:spLocks noGrp="1"/>
          </p:cNvSpPr>
          <p:nvPr/>
        </p:nvSpPr>
        <p:spPr>
          <a:xfrm>
            <a:off x="548640" y="1435608"/>
            <a:ext cx="1005840" cy="41148"/>
          </a:xfrm>
          <a:prstGeom prst="rect">
            <a:avLst/>
          </a:prstGeom>
          <a:solidFill>
            <a:srgbClr val="1F5C4D"/>
          </a:solidFill>
        </p:spPr>
        <p:txBody>
          <a:bodyPr/>
          <a:lstStyle/>
          <a:p>
            <a:endParaRPr lang="ko-KR" altLang="en-US"/>
          </a:p>
        </p:txBody>
      </p:sp>
      <p:graphicFrame>
        <p:nvGraphicFramePr>
          <p:cNvPr id="22" name="Table 0"/>
          <p:cNvGraphicFramePr/>
          <p:nvPr/>
        </p:nvGraphicFramePr>
        <p:xfrm>
          <a:off x="548640" y="1645920"/>
          <a:ext cx="11087100" cy="2476500"/>
        </p:xfrm>
        <a:graphic>
          <a:graphicData uri="http://schemas.openxmlformats.org/drawingml/2006/table">
            <a:tbl>
              <a:tblPr/>
              <a:tblGrid>
                <a:gridCol w="1809750">
                  <a:extLst>
                    <a:ext uri="{9D8B030D-6E8A-4147-A177-3AD203B41FA5}">
                      <a16:colId xmlns:a16="http://schemas.microsoft.com/office/drawing/2014/main" val="20000"/>
                    </a:ext>
                  </a:extLst>
                </a:gridCol>
                <a:gridCol w="9277350">
                  <a:extLst>
                    <a:ext uri="{9D8B030D-6E8A-4147-A177-3AD203B41FA5}">
                      <a16:colId xmlns:a16="http://schemas.microsoft.com/office/drawing/2014/main" val="20001"/>
                    </a:ext>
                  </a:extLst>
                </a:gridCol>
              </a:tblGrid>
              <a:tr h="495300">
                <a:tc>
                  <a:txBody>
                    <a:bodyPr/>
                    <a:lstStyle/>
                    <a:p>
                      <a:pPr marL="0" indent="0" algn="ctr">
                        <a:buNone/>
                      </a:pPr>
                      <a:r>
                        <a:rPr sz="1388" b="1">
                          <a:solidFill>
                            <a:srgbClr val="173F35"/>
                          </a:solidFill>
                          <a:latin typeface="맑은 고딕"/>
                          <a:ea typeface="맑은 고딕"/>
                          <a:cs typeface="맑은 고딕"/>
                        </a:rPr>
                        <a:t>항목</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tc>
                  <a:txBody>
                    <a:bodyPr/>
                    <a:lstStyle/>
                    <a:p>
                      <a:pPr marL="0" indent="0" algn="l">
                        <a:buNone/>
                      </a:pPr>
                      <a:r>
                        <a:rPr sz="1388" b="1">
                          <a:solidFill>
                            <a:srgbClr val="173F35"/>
                          </a:solidFill>
                          <a:latin typeface="맑은 고딕"/>
                          <a:ea typeface="맑은 고딕"/>
                          <a:cs typeface="맑은 고딕"/>
                        </a:rPr>
                        <a:t>보완 계획</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solidFill>
                      <a:srgbClr val="DCE7E2"/>
                    </a:solidFill>
                  </a:tcPr>
                </a:tc>
                <a:extLst>
                  <a:ext uri="{0D108BD9-81ED-4DB2-BD59-A6C34878D82A}">
                    <a16:rowId xmlns:a16="http://schemas.microsoft.com/office/drawing/2014/main" val="10000"/>
                  </a:ext>
                </a:extLst>
              </a:tr>
              <a:tr h="495300">
                <a:tc>
                  <a:txBody>
                    <a:bodyPr/>
                    <a:lstStyle/>
                    <a:p>
                      <a:pPr marL="0" indent="0" algn="ctr">
                        <a:buNone/>
                      </a:pPr>
                      <a:r>
                        <a:rPr sz="1388" b="1">
                          <a:solidFill>
                            <a:srgbClr val="202727"/>
                          </a:solidFill>
                          <a:latin typeface="맑은 고딕"/>
                          <a:ea typeface="맑은 고딕"/>
                          <a:cs typeface="맑은 고딕"/>
                        </a:rPr>
                        <a:t>데이터·라벨</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6종 목표와 7클래스 모델 대응 정리, 일반쓰레기·포장재 사례 검수</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1"/>
                  </a:ext>
                </a:extLst>
              </a:tr>
              <a:tr h="495300">
                <a:tc>
                  <a:txBody>
                    <a:bodyPr/>
                    <a:lstStyle/>
                    <a:p>
                      <a:pPr marL="0" indent="0" algn="ctr">
                        <a:buNone/>
                      </a:pPr>
                      <a:r>
                        <a:rPr sz="1388" b="1">
                          <a:solidFill>
                            <a:srgbClr val="202727"/>
                          </a:solidFill>
                          <a:latin typeface="맑은 고딕"/>
                          <a:ea typeface="맑은 고딕"/>
                          <a:cs typeface="맑은 고딕"/>
                        </a:rPr>
                        <a:t>모델 평가</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독립 검증·테스트셋 확보, 흐림과 배경 오탐 보완 후 재평가</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2"/>
                  </a:ext>
                </a:extLst>
              </a:tr>
              <a:tr h="495300">
                <a:tc>
                  <a:txBody>
                    <a:bodyPr/>
                    <a:lstStyle/>
                    <a:p>
                      <a:pPr marL="0" indent="0" algn="ctr">
                        <a:buNone/>
                      </a:pPr>
                      <a:r>
                        <a:rPr sz="1388" b="1">
                          <a:solidFill>
                            <a:srgbClr val="202727"/>
                          </a:solidFill>
                          <a:latin typeface="맑은 고딕"/>
                          <a:ea typeface="맑은 고딕"/>
                          <a:cs typeface="맑은 고딕"/>
                        </a:rPr>
                        <a:t>앱 연동</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사진 입력 흐름 구현 점검, 변환 모델의 출력 및 클래스 대응 확인</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3"/>
                  </a:ext>
                </a:extLst>
              </a:tr>
              <a:tr h="495300">
                <a:tc>
                  <a:txBody>
                    <a:bodyPr/>
                    <a:lstStyle/>
                    <a:p>
                      <a:pPr marL="0" indent="0" algn="ctr">
                        <a:buNone/>
                      </a:pPr>
                      <a:r>
                        <a:rPr sz="1388" b="1">
                          <a:solidFill>
                            <a:srgbClr val="202727"/>
                          </a:solidFill>
                          <a:latin typeface="맑은 고딕"/>
                          <a:ea typeface="맑은 고딕"/>
                          <a:cs typeface="맑은 고딕"/>
                        </a:rPr>
                        <a:t>실제 기기 검증</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tc>
                  <a:txBody>
                    <a:bodyPr/>
                    <a:lstStyle/>
                    <a:p>
                      <a:pPr marL="0" indent="0" algn="l">
                        <a:buNone/>
                      </a:pPr>
                      <a:r>
                        <a:rPr sz="1388" b="0">
                          <a:solidFill>
                            <a:srgbClr val="202727"/>
                          </a:solidFill>
                          <a:latin typeface="맑은 고딕"/>
                          <a:ea typeface="맑은 고딕"/>
                          <a:cs typeface="맑은 고딕"/>
                        </a:rPr>
                        <a:t>안드로이드·젯슨 지연 시간, 미탐지 재촬영 안내, 사용성 기록</a:t>
                      </a:r>
                      <a:endParaRPr sz="1250">
                        <a:latin typeface="맑은 고딕"/>
                        <a:ea typeface="맑은 고딕"/>
                        <a:cs typeface="맑은 고딕"/>
                      </a:endParaRPr>
                    </a:p>
                  </a:txBody>
                  <a:tcPr anchor="ctr">
                    <a:lnL w="6350" cmpd="sng">
                      <a:solidFill>
                        <a:srgbClr val="A8BAB3"/>
                      </a:solidFill>
                      <a:prstDash val="solid"/>
                    </a:lnL>
                    <a:lnR w="6350" cmpd="sng">
                      <a:solidFill>
                        <a:srgbClr val="A8BAB3"/>
                      </a:solidFill>
                      <a:prstDash val="solid"/>
                    </a:lnR>
                    <a:lnT w="6350" cmpd="sng">
                      <a:solidFill>
                        <a:srgbClr val="A8BAB3"/>
                      </a:solidFill>
                      <a:prstDash val="solid"/>
                    </a:lnT>
                    <a:lnB w="6350" cmpd="sng">
                      <a:solidFill>
                        <a:srgbClr val="A8BAB3"/>
                      </a:solidFill>
                      <a:prstDash val="solid"/>
                    </a:lnB>
                  </a:tcPr>
                </a:tc>
                <a:extLst>
                  <a:ext uri="{0D108BD9-81ED-4DB2-BD59-A6C34878D82A}">
                    <a16:rowId xmlns:a16="http://schemas.microsoft.com/office/drawing/2014/main" val="10004"/>
                  </a:ext>
                </a:extLst>
              </a:tr>
            </a:tbl>
          </a:graphicData>
        </a:graphic>
      </p:graphicFrame>
      <p:sp>
        <p:nvSpPr>
          <p:cNvPr id="10" name="Text 7">
            <a:extLst>
              <a:ext uri="{FF2B5EF4-FFF2-40B4-BE49-F238E27FC236}">
                <a16:creationId xmlns:a16="http://schemas.microsoft.com/office/drawing/2014/main" id="{8ADF3804-A614-40D2-8474-010BF12C700E}"/>
              </a:ext>
            </a:extLst>
          </p:cNvPr>
          <p:cNvSpPr>
            <a:spLocks noGrp="1"/>
          </p:cNvSpPr>
          <p:nvPr/>
        </p:nvSpPr>
        <p:spPr>
          <a:xfrm>
            <a:off x="566928" y="4206240"/>
            <a:ext cx="11064240" cy="274320"/>
          </a:xfrm>
          <a:prstGeom prst="rect">
            <a:avLst/>
          </a:prstGeom>
          <a:noFill/>
        </p:spPr>
        <p:txBody>
          <a:bodyPr wrap="square" anchor="ctr"/>
          <a:lstStyle/>
          <a:p>
            <a:pPr marL="0" indent="0" algn="ctr">
              <a:buNone/>
            </a:pPr>
            <a:r>
              <a:rPr sz="1100">
                <a:solidFill>
                  <a:srgbClr val="5A6B64"/>
                </a:solidFill>
                <a:latin typeface="맑은 고딕"/>
                <a:ea typeface="맑은 고딕"/>
                <a:cs typeface="맑은 고딕"/>
              </a:rPr>
              <a:t>앱 성능과 보완 학습 효과는 후속 검증 후 확정한다.</a:t>
            </a:r>
            <a:endParaRPr sz="1100"/>
          </a:p>
        </p:txBody>
      </p:sp>
      <p:sp>
        <p:nvSpPr>
          <p:cNvPr id="11" name="Shape 8">
            <a:extLst>
              <a:ext uri="{FF2B5EF4-FFF2-40B4-BE49-F238E27FC236}">
                <a16:creationId xmlns:a16="http://schemas.microsoft.com/office/drawing/2014/main" id="{9F03B63F-40A2-4C21-9C01-94AE47C93484}"/>
              </a:ext>
            </a:extLst>
          </p:cNvPr>
          <p:cNvSpPr>
            <a:spLocks noGrp="1"/>
          </p:cNvSpPr>
          <p:nvPr/>
        </p:nvSpPr>
        <p:spPr>
          <a:xfrm>
            <a:off x="566928" y="4572000"/>
            <a:ext cx="11064240" cy="1188720"/>
          </a:xfrm>
          <a:prstGeom prst="rect">
            <a:avLst/>
          </a:prstGeom>
          <a:solidFill>
            <a:srgbClr val="1F5C4D"/>
          </a:solidFill>
        </p:spPr>
        <p:txBody>
          <a:bodyPr/>
          <a:lstStyle/>
          <a:p>
            <a:endParaRPr lang="ko-KR" altLang="en-US"/>
          </a:p>
        </p:txBody>
      </p:sp>
      <p:sp>
        <p:nvSpPr>
          <p:cNvPr id="12" name="Text 9">
            <a:extLst>
              <a:ext uri="{FF2B5EF4-FFF2-40B4-BE49-F238E27FC236}">
                <a16:creationId xmlns:a16="http://schemas.microsoft.com/office/drawing/2014/main" id="{6112BCA3-2C13-4DE6-A2B9-F267DE3D5A63}"/>
              </a:ext>
            </a:extLst>
          </p:cNvPr>
          <p:cNvSpPr>
            <a:spLocks noGrp="1"/>
          </p:cNvSpPr>
          <p:nvPr/>
        </p:nvSpPr>
        <p:spPr>
          <a:xfrm>
            <a:off x="822960" y="4663440"/>
            <a:ext cx="10515600" cy="1005840"/>
          </a:xfrm>
          <a:prstGeom prst="rect">
            <a:avLst/>
          </a:prstGeom>
          <a:noFill/>
        </p:spPr>
        <p:txBody>
          <a:bodyPr anchor="ctr">
            <a:noAutofit/>
          </a:bodyPr>
          <a:lstStyle/>
          <a:p>
            <a:pPr marL="0" indent="0" algn="ctr">
              <a:lnSpc>
                <a:spcPct val="130000"/>
              </a:lnSpc>
              <a:buNone/>
              <a:defRPr sz="1800">
                <a:solidFill>
                  <a:srgbClr val="FFFFFF"/>
                </a:solidFill>
                <a:latin typeface="맑은 고딕"/>
                <a:ea typeface="맑은 고딕"/>
                <a:cs typeface="맑은 고딕"/>
              </a:defRPr>
            </a:pPr>
            <a:r>
              <a:rPr sz="1800">
                <a:solidFill>
                  <a:srgbClr val="FFFFFF"/>
                </a:solidFill>
                <a:latin typeface="맑은 고딕"/>
                <a:ea typeface="맑은 고딕"/>
                <a:cs typeface="맑은 고딕"/>
              </a:rPr>
              <a:t>4종 비교로 성능 우선 후보와 취약 조건을 확인했습니다.</a:t>
            </a:r>
            <a:endParaRPr sz="1450"/>
          </a:p>
          <a:p>
            <a:pPr marL="0" indent="0" algn="ctr">
              <a:lnSpc>
                <a:spcPct val="130000"/>
              </a:lnSpc>
              <a:buNone/>
              <a:defRPr sz="1800">
                <a:solidFill>
                  <a:srgbClr val="FFFFFF"/>
                </a:solidFill>
                <a:latin typeface="맑은 고딕"/>
                <a:ea typeface="맑은 고딕"/>
                <a:cs typeface="맑은 고딕"/>
              </a:defRPr>
            </a:pPr>
            <a:r>
              <a:rPr sz="1800">
                <a:solidFill>
                  <a:srgbClr val="FFFFFF"/>
                </a:solidFill>
                <a:latin typeface="맑은 고딕"/>
                <a:ea typeface="맑은 고딕"/>
                <a:cs typeface="맑은 고딕"/>
              </a:rPr>
              <a:t>실제 기기 검증을 거쳐 분리배출 안내 시제품을 완성하겠습니다.</a:t>
            </a:r>
            <a:endParaRPr sz="1450"/>
          </a:p>
        </p:txBody>
      </p:sp>
      <p:sp>
        <p:nvSpPr>
          <p:cNvPr id="13" name="Text 10">
            <a:extLst>
              <a:ext uri="{FF2B5EF4-FFF2-40B4-BE49-F238E27FC236}">
                <a16:creationId xmlns:a16="http://schemas.microsoft.com/office/drawing/2014/main" id="{923E3F8D-CA22-4050-B39B-C2CAFB2C194D}"/>
              </a:ext>
            </a:extLst>
          </p:cNvPr>
          <p:cNvSpPr>
            <a:spLocks noGrp="1"/>
          </p:cNvSpPr>
          <p:nvPr/>
        </p:nvSpPr>
        <p:spPr>
          <a:xfrm>
            <a:off x="566928" y="5806440"/>
            <a:ext cx="11064240" cy="365760"/>
          </a:xfrm>
          <a:prstGeom prst="rect">
            <a:avLst/>
          </a:prstGeom>
          <a:noFill/>
        </p:spPr>
        <p:txBody>
          <a:bodyPr wrap="square" anchor="ctr"/>
          <a:lstStyle/>
          <a:p>
            <a:pPr marL="0" indent="0" algn="ctr">
              <a:buNone/>
            </a:pPr>
            <a:r>
              <a:rPr sz="1200">
                <a:solidFill>
                  <a:srgbClr val="5A6B64"/>
                </a:solidFill>
                <a:latin typeface="맑은 고딕"/>
                <a:ea typeface="맑은 고딕"/>
                <a:cs typeface="맑은 고딕"/>
              </a:rPr>
              <a:t>임시 1차 발표 / 평가 자료: 분리수거 모델 4종 확장 비교보고서, 2026. 09. 13.</a:t>
            </a:r>
            <a:endParaRPr sz="1200"/>
          </a:p>
        </p:txBody>
      </p:sp>
    </p:spTree>
    <p:extLst>
      <p:ext uri="{BB962C8B-B14F-4D97-AF65-F5344CB8AC3E}">
        <p14:creationId xmlns:p14="http://schemas.microsoft.com/office/powerpoint/2010/main" val="12839013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2943</Words>
  <Application>Microsoft Office PowerPoint</Application>
  <DocSecurity>0</DocSecurity>
  <PresentationFormat>와이드스크린</PresentationFormat>
  <Paragraphs>385</Paragraphs>
  <Slides>12</Slides>
  <Notes>12</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12</vt:i4>
      </vt:variant>
    </vt:vector>
  </HeadingPairs>
  <TitlesOfParts>
    <vt:vector size="16"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USER</cp:lastModifiedBy>
  <cp:revision>7</cp:revision>
  <dcterms:created xsi:type="dcterms:W3CDTF">2026-09-14T04:37:32Z</dcterms:created>
  <dcterms:modified xsi:type="dcterms:W3CDTF">2026-09-14T04:51:30Z</dcterms:modified>
</cp:coreProperties>
</file>